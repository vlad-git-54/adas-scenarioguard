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074d3d992f45d5" /><Relationship Type="http://schemas.openxmlformats.org/officeDocument/2006/relationships/extended-properties" Target="/docProps/app.xml" Id="R67c99563027f4528" /><Relationship Type="http://schemas.openxmlformats.org/officeDocument/2006/relationships/officeDocument" Target="/ppt/presentation.xml" Id="Rd9fb604e201d4c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9aa169e9224b49"/>
  </p:sldMasterIdLst>
  <p:notesMasterIdLst>
    <p:notesMasterId xmlns:r="http://schemas.openxmlformats.org/officeDocument/2006/relationships" r:id="Rc162260624df4e70"/>
  </p:notesMasterIdLst>
  <p:sldIdLst>
    <p:sldId xmlns:r="http://schemas.openxmlformats.org/officeDocument/2006/relationships" id="256" r:id="R6c375529ef5c4ada"/>
    <p:sldId xmlns:r="http://schemas.openxmlformats.org/officeDocument/2006/relationships" id="257" r:id="R15c6c875896c4fee"/>
    <p:sldId xmlns:r="http://schemas.openxmlformats.org/officeDocument/2006/relationships" id="258" r:id="R9ef8ccef0657402c"/>
    <p:sldId xmlns:r="http://schemas.openxmlformats.org/officeDocument/2006/relationships" id="259" r:id="Rcefd678dd1ed49a2"/>
    <p:sldId xmlns:r="http://schemas.openxmlformats.org/officeDocument/2006/relationships" id="260" r:id="R929f5d1ec1b34b6d"/>
    <p:sldId xmlns:r="http://schemas.openxmlformats.org/officeDocument/2006/relationships" id="261" r:id="Rfeb12027230645b3"/>
    <p:sldId xmlns:r="http://schemas.openxmlformats.org/officeDocument/2006/relationships" id="262" r:id="R90b42a6f7ad54ff7"/>
    <p:sldId xmlns:r="http://schemas.openxmlformats.org/officeDocument/2006/relationships" id="263" r:id="Rc2a07dc50e29449f"/>
    <p:sldId xmlns:r="http://schemas.openxmlformats.org/officeDocument/2006/relationships" id="264" r:id="R4f5f693cdcec4268"/>
    <p:sldId xmlns:r="http://schemas.openxmlformats.org/officeDocument/2006/relationships" id="265" r:id="R32c50cdf8a314b6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03c7ed986a4e93" /><Relationship Type="http://schemas.openxmlformats.org/officeDocument/2006/relationships/slideMaster" Target="/ppt/slideMasters/slideMaster1.xml" Id="R519aa169e9224b49" /><Relationship Type="http://schemas.openxmlformats.org/officeDocument/2006/relationships/notesMaster" Target="/ppt/notesMasters/notesMaster1.xml" Id="Rc162260624df4e70" /><Relationship Type="http://schemas.openxmlformats.org/officeDocument/2006/relationships/presProps" Target="/ppt/presProps.xml" Id="R6a4f00c3f81b44f9" /><Relationship Type="http://schemas.openxmlformats.org/officeDocument/2006/relationships/tableStyles" Target="/ppt/tableStyles.xml" Id="R1c484dbedc2d434d" /><Relationship Type="http://schemas.openxmlformats.org/officeDocument/2006/relationships/slide" Target="/ppt/slides/slide1.xml" Id="R6c375529ef5c4ada" /><Relationship Type="http://schemas.openxmlformats.org/officeDocument/2006/relationships/slide" Target="/ppt/slides/slide2.xml" Id="R15c6c875896c4fee" /><Relationship Type="http://schemas.openxmlformats.org/officeDocument/2006/relationships/slide" Target="/ppt/slides/slide3.xml" Id="R9ef8ccef0657402c" /><Relationship Type="http://schemas.openxmlformats.org/officeDocument/2006/relationships/slide" Target="/ppt/slides/slide4.xml" Id="Rcefd678dd1ed49a2" /><Relationship Type="http://schemas.openxmlformats.org/officeDocument/2006/relationships/slide" Target="/ppt/slides/slide5.xml" Id="R929f5d1ec1b34b6d" /><Relationship Type="http://schemas.openxmlformats.org/officeDocument/2006/relationships/slide" Target="/ppt/slides/slide6.xml" Id="Rfeb12027230645b3" /><Relationship Type="http://schemas.openxmlformats.org/officeDocument/2006/relationships/slide" Target="/ppt/slides/slide7.xml" Id="R90b42a6f7ad54ff7" /><Relationship Type="http://schemas.openxmlformats.org/officeDocument/2006/relationships/slide" Target="/ppt/slides/slide8.xml" Id="Rc2a07dc50e29449f" /><Relationship Type="http://schemas.openxmlformats.org/officeDocument/2006/relationships/slide" Target="/ppt/slides/slide9.xml" Id="R4f5f693cdcec4268" /><Relationship Type="http://schemas.openxmlformats.org/officeDocument/2006/relationships/slide" Target="/ppt/slides/slide10.xml" Id="R32c50cdf8a314b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97c3356b9846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72ea7c67b6429d" /><Relationship Type="http://schemas.openxmlformats.org/officeDocument/2006/relationships/notesMaster" Target="/ppt/notesMasters/notesMaster1.xml" Id="R789a07bce6e342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497876ad1f40c6" /><Relationship Type="http://schemas.openxmlformats.org/officeDocument/2006/relationships/notesMaster" Target="/ppt/notesMasters/notesMaster1.xml" Id="Raffdcaac94e04a7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af912ecb1546e0" /><Relationship Type="http://schemas.openxmlformats.org/officeDocument/2006/relationships/notesMaster" Target="/ppt/notesMasters/notesMaster1.xml" Id="R0eabe1355d2843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0c1ac705f8405a" /><Relationship Type="http://schemas.openxmlformats.org/officeDocument/2006/relationships/notesMaster" Target="/ppt/notesMasters/notesMaster1.xml" Id="Rb56b135c926c49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e9583b95094a15" /><Relationship Type="http://schemas.openxmlformats.org/officeDocument/2006/relationships/notesMaster" Target="/ppt/notesMasters/notesMaster1.xml" Id="R075349a117d444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fd55659d9842d0" /><Relationship Type="http://schemas.openxmlformats.org/officeDocument/2006/relationships/notesMaster" Target="/ppt/notesMasters/notesMaster1.xml" Id="R0f5ba593197e45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4fda270ce34d5b" /><Relationship Type="http://schemas.openxmlformats.org/officeDocument/2006/relationships/notesMaster" Target="/ppt/notesMasters/notesMaster1.xml" Id="R69692f46a4434d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bb9919c48ee4254" /><Relationship Type="http://schemas.openxmlformats.org/officeDocument/2006/relationships/notesMaster" Target="/ppt/notesMasters/notesMaster1.xml" Id="R6cdb3e67e9ce44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1cd4d8be7c4b47" /><Relationship Type="http://schemas.openxmlformats.org/officeDocument/2006/relationships/notesMaster" Target="/ppt/notesMasters/notesMaster1.xml" Id="R7e6dc85ac06b42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dfa7e56a454265" /><Relationship Type="http://schemas.openxmlformats.org/officeDocument/2006/relationships/notesMaster" Target="/ppt/notesMasters/notesMaster1.xml" Id="R6b4d2cac518045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Начать с границы темы: работа не про полный автопилот, а про слой надежности восприятия ADAS.</a:t>
            </a:r>
          </a:p>
          <a:p xmlns:a="http://schemas.openxmlformats.org/drawingml/2006/main">
            <a:r>
              <a:t>Сказать, что итогом является воспроизводимый прототип, обученный на реальных KITTI-аннотациях.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 цену ошибки: false negative означает, что сцена опасна по разметке, но модель не выделила ее.</a:t>
            </a:r>
          </a:p>
          <a:p xmlns:a="http://schemas.openxmlformats.org/drawingml/2006/main">
            <a:r>
              <a:t>Подчеркнуть, что recall выбран важной метрикой не случайно.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работа осознанно не претендует на управление автомобилем.</a:t>
            </a:r>
          </a:p>
          <a:p xmlns:a="http://schemas.openxmlformats.org/drawingml/2006/main">
            <a:r>
              <a:t>Цель проверяется через код, данные и метрики, а не только через литературный обзор.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Указать источники: Heidecker по corner cases, Bijelic по погоде, Huang по sensor fusion, BEVFusion и Kumar как пример деградации.</a:t>
            </a:r>
          </a:p>
          <a:p xmlns:a="http://schemas.openxmlformats.org/drawingml/2006/main">
            <a:r>
              <a:t>Отделить чужие опубликованные числа от собственных метрик KITTI.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Пояснить, что признаки считаются из класса объекта, расстояния, lateral position, occlusion и truncation.</a:t>
            </a:r>
          </a:p>
          <a:p xmlns:a="http://schemas.openxmlformats.org/drawingml/2006/main">
            <a:r>
              <a:t>Порог выбирается на validation split, test split остается для финальной оценки.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Развести текущий воспроизводимый эксперимент и будущий более тяжелый raw sensor pipeline.</a:t>
            </a:r>
          </a:p>
          <a:p xmlns:a="http://schemas.openxmlformats.org/drawingml/2006/main">
            <a:r>
              <a:t>Показать, что результаты лежат в results, а рисунки в figures.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Честно проговорить, что целевая метка derived, потому что KITTI не размечает ADAS criticality.</a:t>
            </a:r>
          </a:p>
          <a:p xmlns:a="http://schemas.openxmlformats.org/drawingml/2006/main">
            <a:r>
              <a:t>Это реальная разметка дорожных сцен, а не синтетические вручную заданные числа.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Пройти по основным числам. Подчеркнуть, что proposed выше baseline по recall и F1 на test split.</a:t>
            </a:r>
          </a:p>
          <a:p xmlns:a="http://schemas.openxmlformats.org/drawingml/2006/main">
            <a:r>
              <a:t>Матрица ошибок показывает 509 TP и 34 FN.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Сказать, что ошибки не скрыты: они сохранены в results/error_cases.csv.</a:t>
            </a:r>
          </a:p>
          <a:p xmlns:a="http://schemas.openxmlformats.org/drawingml/2006/main">
            <a:r>
              <a:t>Ограничение radar важно, поэтому результат не называется промышленной мультимодальной валидацией.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Закрыть доклад по задачам: методика, реализация, реальные данные, метрики, ошибки, ограничения.</a:t>
            </a:r>
          </a:p>
          <a:p xmlns:a="http://schemas.openxmlformats.org/drawingml/2006/main">
            <a:r>
              <a:t>Финальная фраза: работа дает проверяемую основу для дальнейшей промышленной валидации, но не заменяет ее.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f4871fdcb45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c1535f4e654f68" /><Relationship Type="http://schemas.openxmlformats.org/officeDocument/2006/relationships/slideLayout" Target="/ppt/slideLayouts/slideLayout1.xml" Id="R0f5c432406ae4a0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5c432406ae4a0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9723964a6419f" /><Relationship Type="http://schemas.openxmlformats.org/officeDocument/2006/relationships/notesSlide" Target="/ppt/notesSlides/notesSlide1.xml" Id="Rc2b9e5286a554f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371f75ccf41c9" /><Relationship Type="http://schemas.openxmlformats.org/officeDocument/2006/relationships/notesSlide" Target="/ppt/notesSlides/notesSlide2.xml" Id="Racec87502e034b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529fb8b8f44f7" /><Relationship Type="http://schemas.openxmlformats.org/officeDocument/2006/relationships/notesSlide" Target="/ppt/notesSlides/notesSlide3.xml" Id="R13f76a9656f045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1f77c5ff741d0" /><Relationship Type="http://schemas.openxmlformats.org/officeDocument/2006/relationships/image" Target="/ppt/media/image.png" Id="R099cf43014834c3f" /><Relationship Type="http://schemas.openxmlformats.org/officeDocument/2006/relationships/notesSlide" Target="/ppt/notesSlides/notesSlide4.xml" Id="R4d6b60d746704aa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26083d7214e6c" /><Relationship Type="http://schemas.openxmlformats.org/officeDocument/2006/relationships/image" Target="/ppt/media/image2.png" Id="Ra37f084d62c94db2" /><Relationship Type="http://schemas.openxmlformats.org/officeDocument/2006/relationships/notesSlide" Target="/ppt/notesSlides/notesSlide5.xml" Id="R89948359608c4a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ca3eaa9f4487f" /><Relationship Type="http://schemas.openxmlformats.org/officeDocument/2006/relationships/image" Target="/ppt/media/image3.png" Id="Re1816ec0c4834255" /><Relationship Type="http://schemas.openxmlformats.org/officeDocument/2006/relationships/image" Target="/ppt/media/image4.png" Id="R3e35a38eb8bf40af" /><Relationship Type="http://schemas.openxmlformats.org/officeDocument/2006/relationships/notesSlide" Target="/ppt/notesSlides/notesSlide6.xml" Id="Rdd538354c7504b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ad64af3dd458b" /><Relationship Type="http://schemas.openxmlformats.org/officeDocument/2006/relationships/notesSlide" Target="/ppt/notesSlides/notesSlide7.xml" Id="R21c85c0ab2844a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a0146b0164b6d" /><Relationship Type="http://schemas.openxmlformats.org/officeDocument/2006/relationships/image" Target="/ppt/media/image5.png" Id="Rf6c2759496364b15" /><Relationship Type="http://schemas.openxmlformats.org/officeDocument/2006/relationships/image" Target="/ppt/media/image6.png" Id="Re3f8614253a64df4" /><Relationship Type="http://schemas.openxmlformats.org/officeDocument/2006/relationships/notesSlide" Target="/ppt/notesSlides/notesSlide8.xml" Id="Rdf8c8b3d56fc4e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673a0b9f7420f" /><Relationship Type="http://schemas.openxmlformats.org/officeDocument/2006/relationships/image" Target="/ppt/media/image7.png" Id="R64f3fca8b3164d15" /><Relationship Type="http://schemas.openxmlformats.org/officeDocument/2006/relationships/image" Target="/ppt/media/image8.png" Id="R093ab347a7004184" /><Relationship Type="http://schemas.openxmlformats.org/officeDocument/2006/relationships/notesSlide" Target="/ppt/notesSlides/notesSlide9.xml" Id="Re7c62398e6e540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412951b204992" /><Relationship Type="http://schemas.openxmlformats.org/officeDocument/2006/relationships/notesSlide" Target="/ppt/notesSlides/notesSlide10.xml" Id="R3d59efbb95ba41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849B2F-3E28-4568-A2EE-32B6D8E6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096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</a:defRPr>
            </a:pPr>
            <a:r>
              <a:rPr sz="2550" b="1">
                <a:solidFill>
                  <a:srgbClr val="0F172A"/>
                </a:solidFill>
              </a:rPr>
              <a:t>Разработка методов обнаружения и обработки редких и критических сценариев в мультимодальном восприятии систем 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87BB68-D6B7-4D54-864A-C4DC7657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для повышения безопасности в сложных погодных и дорожных условиях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E3FA8-F155-4449-AFE9-63EDE27C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4953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94A3B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Марьяновский Владислав Андреевич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Группа 292405-1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09.04.03 Прикладная информатика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18372-D253-4191-AE5C-071FF444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19500"/>
            <a:ext cx="4953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11430">
            <a:solidFill>
              <a:srgbClr val="0F766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НИ ТГУ · Институт дистанционного образования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Профиль: компьютерное зрение и нейронные сети</a:t>
            </a:r>
          </a:p>
          <a:p xmlns:a="http://schemas.openxmlformats.org/drawingml/2006/main">
            <a:pPr algn="ctr"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Томск ·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48E88-86C5-49B5-B238-888E82F9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E25E1-EE31-4754-BF0C-828035A2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821627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2EBE72-2153-4E2B-8C3A-FB4B29C4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Ошибка восприятия опасна именно в редких сценах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D90D3-7BA4-4732-BEBD-F818605F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9D149-CB45-48A1-A0A9-08BA8458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589C9-D833-4B35-A76C-7C2257E8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192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Средняя точность скрывает поведение модели в тумане, ночью, при окклюзии и усечении объекта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A6E147-0735-4A13-B8A2-54E0ADC1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7A30B-774A-469E-A96C-E5D1F4DB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7170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Для ADAS пропуск критической сцены опаснее лишней тревоги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AD46CD-1BA4-450D-8D26-B7F6DF83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948189-E7DB-4231-A315-CF8E3784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607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F2937"/>
                </a:solidFill>
              </a:defRPr>
            </a:pPr>
            <a:r>
              <a:rPr sz="1800" b="0">
                <a:solidFill>
                  <a:srgbClr val="1F2937"/>
                </a:solidFill>
              </a:rPr>
              <a:t>Нужен слой, который оценивает надежность восприятия и риск сцены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0E002-5E2E-460B-BE0B-2F187D1B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F9731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FNR primary model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0.063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2B1882-362A-48C5-9ED2-DB6D2A67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FN на test split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34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23EA04-D3BB-43D3-A546-24B3F13D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2476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1143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Recall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0.937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EB1A5-B53C-4829-B75F-F57FF6D3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52DD74-4C7E-4E84-9CDC-1B1CB48E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667221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0BFB2C-0DF7-483A-9EBC-4D3B51B0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Объект, предмет и цель задают узкую инженерную границу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02F32E-40ED-439D-A9AE-8EAC7C1B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84D0A-2CF1-4A2B-8C3A-9CE00CAB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Объект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мультимодальное восприятие ADAS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1F514-8EE7-450D-8427-ED0F800C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Предмет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редкие и критические сценарии, uncertainty, reliability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22FD5-967C-4CCD-90E8-DABD848A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71625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Цель</a:t>
            </a:r>
          </a:p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методика оценки critical scene и проверка на реальных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BAFD90-7610-4698-8A61-713B5B70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95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23D803-917F-445B-AA5D-117D5606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957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Разработаны признаки качества наблюдения и risk prior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4EE033-9267-45F8-A00C-9363A1C0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17C163-60A5-41C8-AD58-484802DE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baseline, proposed и ablation модели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DE96B7-736C-4257-B33C-029756C2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339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1876A1-52B5-4CE6-8AA9-63636A82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33950"/>
            <a:ext cx="864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Собран воспроизводимый pipeline с результатами и графиками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22C68B-374C-4282-9178-F3619258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AFCA1-E34E-41D6-A64D-FA33AAFD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00085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A47947-B0C2-4298-9CC7-184FA8561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Литература показывает, что деградация сенсоров измерима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602633-DFEB-4829-A329-A4268525C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cf43014834c3f"/>
          <a:stretch xmlns:a="http://schemas.openxmlformats.org/drawingml/2006/main"/>
        </p:blipFill>
        <p:spPr>
          <a:xfrm xmlns:a="http://schemas.openxmlformats.org/drawingml/2006/main">
            <a:off x="666750" y="1524709"/>
            <a:ext cx="5810250" cy="3903833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4D23E-C45F-43B3-B9B5-F99A6C9C8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19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B672C9-6C27-46F4-A1CB-EF2670D8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6192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Corner cases требуют отдельного анализа вне средней точности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654EC-609B-4BED-B598-938DCA17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095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AA3FF-F1F0-4A6F-AA56-467A090E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955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Плохая погода влияет на сенсоры по-разному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F1AE8-2CA5-42E6-B066-0BA3F1A2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717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8F7383-B349-47CD-B9F4-2CBF6828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Fusion устойчивее camera-only, но LiDAR degradation все равно заметна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4647C-2E5F-4220-9141-C2247223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5915C5-060B-415D-8FCD-EA780FF9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48000"/>
            <a:ext cx="417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F2937"/>
                </a:solidFill>
              </a:defRPr>
            </a:pPr>
            <a:r>
              <a:rPr sz="1575" b="0">
                <a:solidFill>
                  <a:srgbClr val="1F2937"/>
                </a:solidFill>
              </a:rPr>
              <a:t>График справа не является собственным экспериментом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85472-723D-46B1-9A82-34EDF992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D8C23-AB27-4F4B-AAE1-E99AEC5D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958921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A6707C-63CA-4660-AF42-AC287E00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Методика превращает сцену в признаки риска и надежности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4F5BF5-EFBF-4F13-8454-0A6E76EA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f084d62c94db2"/>
          <a:stretch xmlns:a="http://schemas.openxmlformats.org/drawingml/2006/main"/>
        </p:blipFill>
        <p:spPr>
          <a:xfrm xmlns:a="http://schemas.openxmlformats.org/drawingml/2006/main">
            <a:off x="3038080" y="1381125"/>
            <a:ext cx="5734839" cy="2952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6BC0C2-AAAE-444F-B4DF-72E2E5AC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810125"/>
            <a:ext cx="247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camera quality proxy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089B71-4B06-4ECF-9280-1E477566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10125"/>
            <a:ext cx="247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3D geometry quality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7493A-146F-49C3-95EE-7E305022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810125"/>
            <a:ext cx="2476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uncertainty proxy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806E5-029E-4010-A383-C5C6D6E3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810125"/>
            <a:ext cx="1524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11430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risk prior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DE64CD-11C2-4504-A00F-1C6E0CAC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77225-D2B8-4C87-AD27-C49652E19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110776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4AE388-4C79-488F-A4AC-5E3FE630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Архитектура разделяет данные, обучение, оценку и артефакты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C9CF5-FE70-4BA8-89D4-B8D7A2BA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816ec0c4834255"/>
          <a:stretch xmlns:a="http://schemas.openxmlformats.org/drawingml/2006/main"/>
        </p:blipFill>
        <p:spPr>
          <a:xfrm xmlns:a="http://schemas.openxmlformats.org/drawingml/2006/main">
            <a:off x="666750" y="1865317"/>
            <a:ext cx="5334000" cy="2746366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5a38eb8bf40af"/>
          <a:stretch xmlns:a="http://schemas.openxmlformats.org/drawingml/2006/main"/>
        </p:blipFill>
        <p:spPr>
          <a:xfrm xmlns:a="http://schemas.openxmlformats.org/drawingml/2006/main">
            <a:off x="6286500" y="1865317"/>
            <a:ext cx="5334000" cy="274636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EA042-7FB0-4E8C-BC7E-DA8D5FA0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GPU RX7700XT указан как ресурс для будущего raw-sensor обучения. Текущий KITTI scenario-level эксперимент выполняется на CPU.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3E216-0A07-4A66-B5DB-201B150B8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DBC03-F90D-4F49-99F5-A7B783AE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708948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043200-1C44-4855-B84D-5538C145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Эксперимент обучен на реальных аннотациях KITTI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14EDC-5AAD-4D21-A232-E83F12553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5CACE-8F84-4605-9145-0B22C596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Сцен всего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7481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F2173-DB4B-4517-B646-CDE043E8D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Train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4488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70449B-0101-48AF-897B-B8E5733E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Validation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512CB-58DE-47B8-90E5-42E9D858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190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Test</a:t>
            </a:r>
          </a:p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1497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EF699F-C70D-4C86-82F3-BAC10C4E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242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31C13F-714C-4C6D-B474-6D7FA5AA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242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KITTI не содержит готовую метку critical_scene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1441A3-6347-45C8-832F-A3CE00E76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195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5BBA5-BDC7-4A89-9032-186DD2C2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0195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Метка получена фиксированным правилом из реальных class, distance, occlusion и truncation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F20767-FADE-4486-AC4F-F49837E0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1485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6445FA-1061-46B7-AB46-CEBCE108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5148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Обучены три logistic regression модели на NumPy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70A71-B747-4372-A0F1-AB8A5F71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14688A-DD4E-461D-AF63-AE0A63A7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57521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BFC825-D355-4F80-AAA6-0CA73B3A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Proposed model снижает пропуски критических сцен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8AB83D-3F6A-4687-90F1-C61C7B6C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c2759496364b15"/>
          <a:stretch xmlns:a="http://schemas.openxmlformats.org/drawingml/2006/main"/>
        </p:blipFill>
        <p:spPr>
          <a:xfrm xmlns:a="http://schemas.openxmlformats.org/drawingml/2006/main">
            <a:off x="571500" y="1598477"/>
            <a:ext cx="4953000" cy="2994296"/>
          </a:xfrm>
          <a:prstGeom xmlns:a="http://schemas.openxmlformats.org/drawingml/2006/main" prst="rect">
            <a:avLst/>
          </a:prstGeom>
        </p:spPr>
      </p:pic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8614253a64df4"/>
          <a:stretch xmlns:a="http://schemas.openxmlformats.org/drawingml/2006/main"/>
        </p:blipFill>
        <p:spPr>
          <a:xfrm xmlns:a="http://schemas.openxmlformats.org/drawingml/2006/main">
            <a:off x="6191250" y="1379493"/>
            <a:ext cx="4095750" cy="343226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1CCAED-8507-4B96-ACEF-5E193DAF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1625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Primary: precision 0.885, recall 0.937, F1 0.911, ROC AUC 0.981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DE7D0-C6D6-4DD9-8F69-063B94A2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5473F5-DC15-481A-9FC9-94F27805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314672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941B48-206A-4C61-8089-DEFD76D47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Ошибки связаны с близкими и частично видимыми объектами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413A70-FBC0-48A6-8CAE-22B60E52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3fca8b3164d15"/>
          <a:stretch xmlns:a="http://schemas.openxmlformats.org/drawingml/2006/main"/>
        </p:blipFill>
        <p:spPr>
          <a:xfrm xmlns:a="http://schemas.openxmlformats.org/drawingml/2006/main">
            <a:off x="666750" y="1516171"/>
            <a:ext cx="5143500" cy="3158908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ab347a7004184"/>
          <a:stretch xmlns:a="http://schemas.openxmlformats.org/drawingml/2006/main"/>
        </p:blipFill>
        <p:spPr>
          <a:xfrm xmlns:a="http://schemas.openxmlformats.org/drawingml/2006/main">
            <a:off x="6286500" y="1530601"/>
            <a:ext cx="4953000" cy="313004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05B04-54FB-4133-B782-04F4B9B9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AC3F46-5183-4D7C-9F17-D978AB92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863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FP: сцена похожа на опасную из-за близкого объекта или высокого risk prior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F4D1B3-34CB-4823-97AB-2788052B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292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D614B-1C50-4CB5-8B82-70F4FD3C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6292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FN: score ниже порога при derived critical label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ACB09B-34B6-4499-B1F2-E7DB4C58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7217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1F786C-27B2-4A6D-B7DD-46DA2F8C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972175"/>
            <a:ext cx="9029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F2937"/>
                </a:solidFill>
              </a:defRPr>
            </a:pPr>
            <a:r>
              <a:rPr sz="1500" b="0">
                <a:solidFill>
                  <a:srgbClr val="1F2937"/>
                </a:solidFill>
              </a:rPr>
              <a:t>Главное ограничение: KITTI не содержит radar и готовую ADAS critical label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A7AF78-31CF-4F6D-9027-E3BA25996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A99722-4407-419B-B24F-EA54D583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1275921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884813-92BF-406A-AE05-BDE8D5FF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F172A"/>
                </a:solidFill>
              </a:defRPr>
            </a:pPr>
            <a:r>
              <a:rPr sz="2625" b="1">
                <a:solidFill>
                  <a:srgbClr val="0F172A"/>
                </a:solidFill>
              </a:rPr>
              <a:t>Итог: воспроизводимый слой оценки критичности ADAS-сцен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30041-2CE7-42D6-B90F-0923FC87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90600"/>
            <a:ext cx="6096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FD93E4-E5FF-437C-9C38-940F1C18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11430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Разработано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scenario-level методика риска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8A9B9-5F76-41C7-A90A-E40D8A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11430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Реализовано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код, обучение, метрики, графики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08F52-ACA1-413C-AB03-BE450CCD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571625"/>
            <a:ext cx="295275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1430">
            <a:solidFill>
              <a:srgbClr val="EA580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Проверено</a:t>
            </a:r>
          </a:p>
          <a:p xmlns:a="http://schemas.openxmlformats.org/drawingml/2006/main">
            <a:pPr algn="ctr"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KITTI test split и 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2A5F9-42A5-494C-8A06-3A0EC86C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195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3F642-CA8E-41F2-A457-FA60D78D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36195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Прототип пригоден как исследовательский модуль тестирования ADAS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845478-27BA-4957-82E2-36941A21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767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A13D6-B3D2-4736-9E07-F74B4AB27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0767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Не является сертифицированной системой безопасности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AD5E6-9267-4AAB-B566-DB5C702D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33900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B7496-CBD5-40FC-B05E-261FCF9A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4533900"/>
            <a:ext cx="874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</a:defRPr>
            </a:pPr>
            <a:r>
              <a:rPr sz="1725" b="0">
                <a:solidFill>
                  <a:srgbClr val="1F2937"/>
                </a:solidFill>
              </a:rPr>
              <a:t>Дальше: raw image/LiDAR/radar pipeline, nuScenes, CARLA, стресс-тесты, сертификация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20B03-C102-4EBE-93B9-F74FABB5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7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ADAS ScenarioGuard · ВКР ·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5D2B7-4492-42A7-8910-310A7B81D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319516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2026-07-07T00:58:33.9840000Z</dcterms:created>
  <dcterms:modified xsi:type="dcterms:W3CDTF">2026-07-07T00:58:33.9840000Z</dcterms:modified>
</coreProperties>
</file>