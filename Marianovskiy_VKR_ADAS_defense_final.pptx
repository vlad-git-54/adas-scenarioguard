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a69d0e13b41a7" /><Relationship Type="http://schemas.openxmlformats.org/officeDocument/2006/relationships/extended-properties" Target="/docProps/app.xml" Id="R71693177d474447b" /><Relationship Type="http://schemas.openxmlformats.org/officeDocument/2006/relationships/officeDocument" Target="/ppt/presentation.xml" Id="R0fc27bd883ad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15b082f554ba6"/>
  </p:sldMasterIdLst>
  <p:notesMasterIdLst>
    <p:notesMasterId xmlns:r="http://schemas.openxmlformats.org/officeDocument/2006/relationships" r:id="Rba44ad804a464a82"/>
  </p:notesMasterIdLst>
  <p:sldIdLst>
    <p:sldId xmlns:r="http://schemas.openxmlformats.org/officeDocument/2006/relationships" id="256" r:id="R12c88dfb7c244048"/>
    <p:sldId xmlns:r="http://schemas.openxmlformats.org/officeDocument/2006/relationships" id="257" r:id="Rb535552363c84cca"/>
    <p:sldId xmlns:r="http://schemas.openxmlformats.org/officeDocument/2006/relationships" id="258" r:id="R94ef14c306494179"/>
    <p:sldId xmlns:r="http://schemas.openxmlformats.org/officeDocument/2006/relationships" id="259" r:id="R31410e0acbda4713"/>
    <p:sldId xmlns:r="http://schemas.openxmlformats.org/officeDocument/2006/relationships" id="260" r:id="R7d98882c708f4333"/>
    <p:sldId xmlns:r="http://schemas.openxmlformats.org/officeDocument/2006/relationships" id="261" r:id="R302b4576b99a4b8e"/>
    <p:sldId xmlns:r="http://schemas.openxmlformats.org/officeDocument/2006/relationships" id="262" r:id="R9e2dc50453064a8f"/>
    <p:sldId xmlns:r="http://schemas.openxmlformats.org/officeDocument/2006/relationships" id="263" r:id="R8fc0390dc80a48d3"/>
    <p:sldId xmlns:r="http://schemas.openxmlformats.org/officeDocument/2006/relationships" id="264" r:id="R3badb57250004d8b"/>
    <p:sldId xmlns:r="http://schemas.openxmlformats.org/officeDocument/2006/relationships" id="265" r:id="Rb4d069bff68c4c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3895e319204a9c" /><Relationship Type="http://schemas.openxmlformats.org/officeDocument/2006/relationships/slideMaster" Target="/ppt/slideMasters/slideMaster1.xml" Id="R5ce15b082f554ba6" /><Relationship Type="http://schemas.openxmlformats.org/officeDocument/2006/relationships/notesMaster" Target="/ppt/notesMasters/notesMaster1.xml" Id="Rba44ad804a464a82" /><Relationship Type="http://schemas.openxmlformats.org/officeDocument/2006/relationships/presProps" Target="/ppt/presProps.xml" Id="Rbbb85f9327a6455b" /><Relationship Type="http://schemas.openxmlformats.org/officeDocument/2006/relationships/tableStyles" Target="/ppt/tableStyles.xml" Id="R3d95e47890144bc4" /><Relationship Type="http://schemas.openxmlformats.org/officeDocument/2006/relationships/slide" Target="/ppt/slides/slide1.xml" Id="R12c88dfb7c244048" /><Relationship Type="http://schemas.openxmlformats.org/officeDocument/2006/relationships/slide" Target="/ppt/slides/slide2.xml" Id="Rb535552363c84cca" /><Relationship Type="http://schemas.openxmlformats.org/officeDocument/2006/relationships/slide" Target="/ppt/slides/slide3.xml" Id="R94ef14c306494179" /><Relationship Type="http://schemas.openxmlformats.org/officeDocument/2006/relationships/slide" Target="/ppt/slides/slide4.xml" Id="R31410e0acbda4713" /><Relationship Type="http://schemas.openxmlformats.org/officeDocument/2006/relationships/slide" Target="/ppt/slides/slide5.xml" Id="R7d98882c708f4333" /><Relationship Type="http://schemas.openxmlformats.org/officeDocument/2006/relationships/slide" Target="/ppt/slides/slide6.xml" Id="R302b4576b99a4b8e" /><Relationship Type="http://schemas.openxmlformats.org/officeDocument/2006/relationships/slide" Target="/ppt/slides/slide7.xml" Id="R9e2dc50453064a8f" /><Relationship Type="http://schemas.openxmlformats.org/officeDocument/2006/relationships/slide" Target="/ppt/slides/slide8.xml" Id="R8fc0390dc80a48d3" /><Relationship Type="http://schemas.openxmlformats.org/officeDocument/2006/relationships/slide" Target="/ppt/slides/slide9.xml" Id="R3badb57250004d8b" /><Relationship Type="http://schemas.openxmlformats.org/officeDocument/2006/relationships/slide" Target="/ppt/slides/slide10.xml" Id="Rb4d069bff68c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b191367f94e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c8b32e5ce4769" /><Relationship Type="http://schemas.openxmlformats.org/officeDocument/2006/relationships/notesMaster" Target="/ppt/notesMasters/notesMaster1.xml" Id="R542db71873b1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8e4867290444f" /><Relationship Type="http://schemas.openxmlformats.org/officeDocument/2006/relationships/notesMaster" Target="/ppt/notesMasters/notesMaster1.xml" Id="Rb307fae37709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641d6f701440a" /><Relationship Type="http://schemas.openxmlformats.org/officeDocument/2006/relationships/notesMaster" Target="/ppt/notesMasters/notesMaster1.xml" Id="Rf2622cec8d4c47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dc936c9d143f7" /><Relationship Type="http://schemas.openxmlformats.org/officeDocument/2006/relationships/notesMaster" Target="/ppt/notesMasters/notesMaster1.xml" Id="R3379bc71de864d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09b1de75ba4fc2" /><Relationship Type="http://schemas.openxmlformats.org/officeDocument/2006/relationships/notesMaster" Target="/ppt/notesMasters/notesMaster1.xml" Id="R76698f153757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bd8ab0b1fe423f" /><Relationship Type="http://schemas.openxmlformats.org/officeDocument/2006/relationships/notesMaster" Target="/ppt/notesMasters/notesMaster1.xml" Id="Re894f020e91243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5508724ec6475f" /><Relationship Type="http://schemas.openxmlformats.org/officeDocument/2006/relationships/notesMaster" Target="/ppt/notesMasters/notesMaster1.xml" Id="Rd7d0549bd70346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23ca7e707146f6" /><Relationship Type="http://schemas.openxmlformats.org/officeDocument/2006/relationships/notesMaster" Target="/ppt/notesMasters/notesMaster1.xml" Id="Rf1d7e054044440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9bccb11e284938" /><Relationship Type="http://schemas.openxmlformats.org/officeDocument/2006/relationships/notesMaster" Target="/ppt/notesMasters/notesMaster1.xml" Id="R2f143bf345d043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e05716ee484f19" /><Relationship Type="http://schemas.openxmlformats.org/officeDocument/2006/relationships/notesMaster" Target="/ppt/notesMasters/notesMaster1.xml" Id="R912b82ba7799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Начать с границы темы: работа не про полный автопилот, а про слой надежности восприятия ADAS.</a:t>
            </a:r>
          </a:p>
          <a:p xmlns:a="http://schemas.openxmlformats.org/drawingml/2006/main">
            <a:r>
              <a:t>Сказать, что итогом является воспроизводимый прототип, обученный на реальных KITTI-аннотациях.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цену ошибки: false negative означает, что сцена опасна по разметке, но модель не выделила ее.</a:t>
            </a:r>
          </a:p>
          <a:p xmlns:a="http://schemas.openxmlformats.org/drawingml/2006/main">
            <a:r>
              <a:t>Подчеркнуть, что recall выбран важной метрикой не случайно.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работа осознанно не претендует на управление автомобилем.</a:t>
            </a:r>
          </a:p>
          <a:p xmlns:a="http://schemas.openxmlformats.org/drawingml/2006/main">
            <a:r>
              <a:t>Цель проверяется через код, данные и метрики, а не только через литературный обзор.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Указать источники: Heidecker по corner cases, Bijelic по погоде, Huang по sensor fusion, BEVFusion и Kumar как пример деградации.</a:t>
            </a:r>
          </a:p>
          <a:p xmlns:a="http://schemas.openxmlformats.org/drawingml/2006/main">
            <a:r>
              <a:t>Отделить чужие опубликованные числа от собственных метрик KITTI.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Пояснить, что признаки считаются из класса объекта, расстояния, lateral position, occlusion и truncation.</a:t>
            </a:r>
          </a:p>
          <a:p xmlns:a="http://schemas.openxmlformats.org/drawingml/2006/main">
            <a:r>
              <a:t>Порог выбирается на validation split, test split остается для финальной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текущий воспроизводимый эксперимент и будущий более тяжелый raw sensor pipeline.</a:t>
            </a:r>
          </a:p>
          <a:p xmlns:a="http://schemas.openxmlformats.org/drawingml/2006/main">
            <a:r>
              <a:t>Показать, что результаты лежат в results, а рисунки в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проговорить, что целевая метка derived, потому что KITTI не размечает ADAS criticality.</a:t>
            </a:r>
          </a:p>
          <a:p xmlns:a="http://schemas.openxmlformats.org/drawingml/2006/main">
            <a:r>
              <a:t>Это реальные аннотации дорожных сцен KITTI; целевая метка получена фиксированным правилом из наблюдаемых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Пройти по основным числам. Подчеркнуть, что proposed выше baseline по recall и F1 на test split.</a:t>
            </a:r>
          </a:p>
          <a:p xmlns:a="http://schemas.openxmlformats.org/drawingml/2006/main">
            <a:r>
              <a:t>Матрица ошибок показывает 509 TP и 34 FN.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ошибки не скрыты: они сохранены в results/error_cases.csv.</a:t>
            </a:r>
          </a:p>
          <a:p xmlns:a="http://schemas.openxmlformats.org/drawingml/2006/main">
            <a:r>
              <a:t>Ограничение radar важно, поэтому результат не называется промышленной мультимодальной валидацией.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доклад по задачам: методика, реализация, реальные данные, метрики, ошибки, ограничения.</a:t>
            </a:r>
          </a:p>
          <a:p xmlns:a="http://schemas.openxmlformats.org/drawingml/2006/main">
            <a:r>
              <a:t>Финальная фраза: работа дает проверяемую основу для дальнейшей промышленной валидации, но не заменяет 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00633fe845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1dbc968f694863" /><Relationship Type="http://schemas.openxmlformats.org/officeDocument/2006/relationships/slideLayout" Target="/ppt/slideLayouts/slideLayout1.xml" Id="R787a97ca659141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a97ca659141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230e35af74a8c" /><Relationship Type="http://schemas.openxmlformats.org/officeDocument/2006/relationships/notesSlide" Target="/ppt/notesSlides/notesSlide1.xml" Id="R56ba3dce74be43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de4133d3c4320" /><Relationship Type="http://schemas.openxmlformats.org/officeDocument/2006/relationships/notesSlide" Target="/ppt/notesSlides/notesSlide2.xml" Id="R481404c18fdd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667f0be14425a" /><Relationship Type="http://schemas.openxmlformats.org/officeDocument/2006/relationships/notesSlide" Target="/ppt/notesSlides/notesSlide3.xml" Id="R47cf945a1075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93803979c4f0d" /><Relationship Type="http://schemas.openxmlformats.org/officeDocument/2006/relationships/image" Target="/ppt/media/image.png" Id="R0aefd2a0a04b46e8" /><Relationship Type="http://schemas.openxmlformats.org/officeDocument/2006/relationships/notesSlide" Target="/ppt/notesSlides/notesSlide4.xml" Id="Rfc672b2ff06c47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777f4280b45f7" /><Relationship Type="http://schemas.openxmlformats.org/officeDocument/2006/relationships/image" Target="/ppt/media/image2.png" Id="R06737f89e3d84af4" /><Relationship Type="http://schemas.openxmlformats.org/officeDocument/2006/relationships/notesSlide" Target="/ppt/notesSlides/notesSlide5.xml" Id="R159c56442e4e4e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95c1b378d4256" /><Relationship Type="http://schemas.openxmlformats.org/officeDocument/2006/relationships/image" Target="/ppt/media/image3.png" Id="R6fccbfe6081e411b" /><Relationship Type="http://schemas.openxmlformats.org/officeDocument/2006/relationships/image" Target="/ppt/media/image4.png" Id="R6889629a508f4cc4" /><Relationship Type="http://schemas.openxmlformats.org/officeDocument/2006/relationships/notesSlide" Target="/ppt/notesSlides/notesSlide6.xml" Id="Re61cd397302148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eba4d13a94fb0" /><Relationship Type="http://schemas.openxmlformats.org/officeDocument/2006/relationships/notesSlide" Target="/ppt/notesSlides/notesSlide7.xml" Id="Rb9286da8f55a43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2821b61924356" /><Relationship Type="http://schemas.openxmlformats.org/officeDocument/2006/relationships/image" Target="/ppt/media/image5.png" Id="Rcbf39d8675864ecd" /><Relationship Type="http://schemas.openxmlformats.org/officeDocument/2006/relationships/image" Target="/ppt/media/image6.png" Id="Rcb739ca2712e48b5" /><Relationship Type="http://schemas.openxmlformats.org/officeDocument/2006/relationships/notesSlide" Target="/ppt/notesSlides/notesSlide8.xml" Id="Rd449252029854d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9e5d587ad40d6" /><Relationship Type="http://schemas.openxmlformats.org/officeDocument/2006/relationships/image" Target="/ppt/media/image7.png" Id="R4901c00c377142c3" /><Relationship Type="http://schemas.openxmlformats.org/officeDocument/2006/relationships/image" Target="/ppt/media/image8.png" Id="R7757b31f1a924ea3" /><Relationship Type="http://schemas.openxmlformats.org/officeDocument/2006/relationships/notesSlide" Target="/ppt/notesSlides/notesSlide9.xml" Id="Ra518aec14a8d4c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c4c80b5b8489d" /><Relationship Type="http://schemas.openxmlformats.org/officeDocument/2006/relationships/notesSlide" Target="/ppt/notesSlides/notesSlide10.xml" Id="Ra32c561f386940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53B2F-F8D4-451A-9211-7E74F188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1582400" cy="6172200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5F429-FD5C-41D6-89C1-78DBE7A3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F49D4"/>
          </a:solidFill>
          <a:ln xmlns:a="http://schemas.openxmlformats.org/drawingml/2006/main" w="9525">
            <a:solidFill>
              <a:srgbClr val="4F58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4DD55-DE70-4542-B4B2-CCCD4BD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116205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7C648-6867-4A8F-AFFE-944C6971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ТГУ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ECDAA-1C0A-4427-95A7-73C48D45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Томский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государственный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университет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22F36-CEF4-4313-AC72-161C4AF9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0ADA4-847A-4E3F-BA7F-1274221C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Разработка методов обнаружения и обработки редких и критических сценариев в мультимодальном восприятии систем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C67D6-680A-417A-932D-B710C23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для повышения безопасности в сложных погодных и дорожных условиях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347BA-195B-4E6C-986F-8EAC050F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Марьяновский Владислав Андреевич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Группа 292405-1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09.04.03 Прикладная информатика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4F75F-1F6A-4A0C-8EC7-E933D23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НИ ТГУ · Институт дистанционного образования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Профиль: компьютерное зрение и нейронные сети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Томск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18E0E-8BEC-4B1A-9129-E8E47299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ADAS ScenarioGuard · ВКР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325CD-61BD-4372-AED0-4DA29B0B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857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A2BFA-3A7F-4820-A81B-CAAB90D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83C4C-E6C0-4CF6-9507-586D6AC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FE624-AEA5-4C1F-8B6E-4BB3AD57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07F5D-106B-4E1E-A3DC-5085B5B2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3E40B-6237-4BAE-A387-43E6E505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Ошибка восприятия опасна именно в редких сценах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79AB9-81D9-494D-8D8C-9B634DD4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2DF74-6B93-4530-A5C7-3277D54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86FF1-B08E-4640-AE67-22B3E55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Средняя точность скрывает поведение модели в тумане, ночью, при окклюзии и усечении объекта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9BA8E-AD54-4A67-A270-5A508AE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9212E-AB95-4542-B6A8-57F7E8EA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Для ADAS пропуск критической сцены опаснее лишней тревоги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CAD9B-1AC4-44DD-A0F1-D57DF79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771A8-6FC3-4309-88EE-03564F50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Нужен слой, который оценивает надежность восприятия и риск сцены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A502F-80EF-4581-80AD-4ED7D903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FNR primary model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0.063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8A64-191A-41F3-A7B1-DDFBA67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 на test split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0D732-6319-40F1-B2B2-5189F8A4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Recall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0.937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3DB80-D47D-4A5F-A8D4-2CD08A20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98899-C9C9-4E39-AA62-DB99BC1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725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44B8B-E141-4F4F-A107-37986E0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AF137-395D-49A2-88DC-2F923DD8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3A7B5-B939-4D83-8AAF-012C6EF7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254B1-71A0-4623-AC3C-52C5E959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5703-2B22-46A3-8796-5ECCD2B5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Объект, предмет и цель задают узкую инженерную границу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4C65B-BFA0-4608-BBB6-CD42CBA5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C98D5-B3D4-44EA-945C-91340271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Объект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мультимодальное восприятие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7A6A4-7A2F-44A6-846A-B9320921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Предмет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редкие и критические сценарии, uncertainty,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AABC6-C73B-4839-B7BB-7F319C4F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Цель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методика оценки critical scene и проверка на реальных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C7F0A-BB69-4B75-AC75-FD48AFF4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76173-C8BE-4CE3-B698-7D9DF555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Разработаны признаки качества наблюдения и 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1F922-6E2F-499F-B15C-3C70B47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8D85F-6592-4EFD-9804-9AACF785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baseline, proposed и ablation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EB775-4CCC-44BC-A885-F990B8C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1F3A3-6525-4750-835C-84C815DD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Собран воспроизводимый pipeline с результатами и графиками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1C75D-B139-45A1-9B7D-F5DE9DA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CE993-C10C-4A32-8AA6-8515F4D6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2213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D3A8A-9D9D-43EF-9966-9B34A3F3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C136-7478-4223-A596-1CE7D824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60971-9334-4FB1-9F0F-3185EE1C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E8F10-7FA2-42CC-9DF1-12FB2314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CD955-945D-4D83-A781-694F5B8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Литература показывает, что деградация сенсоров измерима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80A7A-DE97-4BBE-A17A-83E0E9FB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fd2a0a04b46e8"/>
          <a:stretch xmlns:a="http://schemas.openxmlformats.org/drawingml/2006/main"/>
        </p:blipFill>
        <p:spPr>
          <a:xfrm xmlns:a="http://schemas.openxmlformats.org/drawingml/2006/main">
            <a:off x="666750" y="1524709"/>
            <a:ext cx="5810250" cy="39038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8B43D-093D-46D9-9F5F-72CDF09D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2EDB4-925D-4AE9-8741-7F635763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Corner cases требуют отдельного анализа вне средней точности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391C-5089-40A7-BC39-157C906D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15E56-22DF-4C57-AF66-48FAB81A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Плохая погода влияет на сенсоры по-разному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2A92F-9FF2-4787-BDF8-F70A683B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1B55D-EF36-44AF-B63A-9EE223F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Fusion устойчивее camera-only, но LiDAR degradation все равно заметна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B478C-6CE8-4539-98D1-E3CC389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85FC9-6706-4D78-B96E-1D7D639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График справа не является собственным экспериментом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DBEE8-CA82-43DE-A2EA-79435D7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8210B-66F2-4CB7-8D83-EA79155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57373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EA87D-AA3C-4134-9199-44E15953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3C527-5AE6-4776-9AAD-6A762C1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F6AFE-9EE1-4A95-9603-D12F420B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CFF27-3E95-4194-BCC5-79337F7F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0F80-D0C9-4003-9FBF-0D371203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Методика превращает сцену в признаки риска и надежности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23748-B558-4F22-B5C5-99679A9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37f89e3d84af4"/>
          <a:stretch xmlns:a="http://schemas.openxmlformats.org/drawingml/2006/main"/>
        </p:blipFill>
        <p:spPr>
          <a:xfrm xmlns:a="http://schemas.openxmlformats.org/drawingml/2006/main">
            <a:off x="3038080" y="1381125"/>
            <a:ext cx="5734839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472DD-3620-4DA4-8DCC-A9255166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camera quality 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B4F07-F0F0-429B-AFB3-4260B36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3D geometry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44807-B525-4F75-BAC1-0C054B35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10125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uncertainty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1F5BE-58B5-4F39-9453-C4BB75D1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10125"/>
            <a:ext cx="152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96DDA-DB8A-4104-AE19-70954873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8F6F1-2376-4D66-B11D-903F3A00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5321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944E90-78E6-410E-A33E-7D43AA5A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4C3D5-1C6E-4E2E-AE1E-EF181A2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84E7F-1B94-4777-A30B-A7A09051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C7695-6BBD-4D99-A2A5-AE6DD42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D0800-15C5-47FF-B33E-C17075A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Архитектура разделяет данные, обучение и оценку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D015A-15DF-43BE-B0C3-16CF247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cbfe6081e411b"/>
          <a:stretch xmlns:a="http://schemas.openxmlformats.org/drawingml/2006/main"/>
        </p:blipFill>
        <p:spPr>
          <a:xfrm xmlns:a="http://schemas.openxmlformats.org/drawingml/2006/main">
            <a:off x="666750" y="1865317"/>
            <a:ext cx="5334000" cy="2746366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9629a508f4cc4"/>
          <a:stretch xmlns:a="http://schemas.openxmlformats.org/drawingml/2006/main"/>
        </p:blipFill>
        <p:spPr>
          <a:xfrm xmlns:a="http://schemas.openxmlformats.org/drawingml/2006/main">
            <a:off x="6286500" y="1865317"/>
            <a:ext cx="5334000" cy="274636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0419B-B367-4C09-94C2-6699BC1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GPU RX7700XT указан как ресурс для будущего raw-sensor обучения. Текущий KITTI scenario-level эксперимент выполняется на CPU.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63533-EB05-4DB2-A9D3-30A07E5E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3ADD8-386C-4653-B491-9A79CD8C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15240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E0D6A-B4C6-4460-A3AF-B20176A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AFC46-6CCB-4A73-B6D0-7E5711E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E7126-7428-46EC-BE41-5FCCCC33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59073-3A83-4FD9-AD3B-9FDBF65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CF86D-B329-4BEA-A738-8197238C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Эксперимент обучен на реальных аннотациях KITTI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ED136-30CC-4C51-A7AE-09CF5ADE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8A66-5CFB-44C6-822E-EC845676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Сцен всего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7481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9BF6A-8D0B-48B7-B9E8-EEC1E50E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Train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4488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0D7BE-0B44-4FEE-A496-807F548B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Validation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3835E-AA01-4F01-ADAA-55E9DD54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4839F-8124-4B97-8E2C-DFAF9EE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DBFE6-0E5E-400A-8EBB-7181C33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KITTI не содержит готовую метку critical_scene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1F157-D7D8-4CCE-9F3F-FC31D056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DE02D-DD3D-4C03-B5F0-34D9AC0C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Метка получена фиксированным правилом из реальных class, distance, occlusion и truncation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4990E-99CE-4CA0-81DD-084A820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E25BA-9BA1-4C0D-B5AE-3C649152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три logistic regression модели на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7B631-A522-460B-B357-370AF04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BBB55-770F-4E25-8579-111ECD7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0483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E9C2A-85B2-458B-B8F1-39818760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8AC5C-A3B5-4964-B237-1D6A9BD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D0619-B2FE-4D68-B36C-4AE80C8E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41C4B-381D-4B77-970C-8FFB28D6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F6C3A-3791-45ED-A477-E9F537F1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Proposed model снижает пропуски критических 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E60BE-C071-4941-874B-54E66559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39d8675864ecd"/>
          <a:stretch xmlns:a="http://schemas.openxmlformats.org/drawingml/2006/main"/>
        </p:blipFill>
        <p:spPr>
          <a:xfrm xmlns:a="http://schemas.openxmlformats.org/drawingml/2006/main">
            <a:off x="571500" y="1598477"/>
            <a:ext cx="4953000" cy="2994296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39ca2712e48b5"/>
          <a:stretch xmlns:a="http://schemas.openxmlformats.org/drawingml/2006/main"/>
        </p:blipFill>
        <p:spPr>
          <a:xfrm xmlns:a="http://schemas.openxmlformats.org/drawingml/2006/main">
            <a:off x="6191250" y="1379493"/>
            <a:ext cx="4095750" cy="34322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5902B-7025-4D2C-92BE-FE270F7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Primary: precision 0.885, recall 0.937, F1 0.911, ROC AUC 0.981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32D0D-0A15-485D-8367-243BAE5C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F04E9-940F-4391-9FCC-5CD04CA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6107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9A240A-3FF6-4795-BF30-295045EA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36D1D-CDDE-4EB9-81D0-505813A8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FC6D1-8E51-4D68-8333-AEB00A62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E6560-78DD-4D52-8028-88E6109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2FE20-58E5-4666-91B5-0E73EFF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Близкие и частично видимые объекты объясняют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C20C9-39CF-4013-9E62-B8E12459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c00c377142c3"/>
          <a:stretch xmlns:a="http://schemas.openxmlformats.org/drawingml/2006/main"/>
        </p:blipFill>
        <p:spPr>
          <a:xfrm xmlns:a="http://schemas.openxmlformats.org/drawingml/2006/main">
            <a:off x="666750" y="1516171"/>
            <a:ext cx="5143500" cy="3158908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7b31f1a924ea3"/>
          <a:stretch xmlns:a="http://schemas.openxmlformats.org/drawingml/2006/main"/>
        </p:blipFill>
        <p:spPr>
          <a:xfrm xmlns:a="http://schemas.openxmlformats.org/drawingml/2006/main">
            <a:off x="6286500" y="1530601"/>
            <a:ext cx="4953000" cy="313004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6E0FF-8752-4711-AC3D-5AE7651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99A2A-9940-4B2F-BAB2-C16F60B7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FP: сцена похожа на опасную из-за близкого объекта или высокого risk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1FA9D-166C-4225-B328-55BD9EAE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D8CFC-1119-4772-9E78-CC94CD7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292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FN: score ниже порога при derived critical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E0523-3697-4038-8C73-860C006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DB48D-37F7-42F9-B292-4F219402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721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Главное ограничение: KITTI не содержит radar и готовую ADAS critical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9990A-A45C-4463-991E-9A71D46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55B2C-CA50-4F5A-9E3C-027D205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2529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9667A-A205-40CB-9CC9-C4225C4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13FE2-4C75-45A5-BF44-4CA2B47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0A187-50D4-4494-918C-0E0490C8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EF7D7-5008-464B-BF5E-B31D4930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6874-257D-41DD-999C-70E07749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Итог: воспроизводимый слой оценки критичности ADAS-сцен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5EF18-FC41-4686-BE73-90A7BA5A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A5367-BBC6-4473-A74F-6692BDA7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Разработано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scenario-level методика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9C4E5-8F06-4E41-91BC-73FEC82C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Реализовано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код, обучение, метрики, графики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8CA0B-FA5D-4CF0-868F-1FDC7EC6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Проверено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KITTI test split и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37D9E-68C8-42CB-BCB4-152E749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F5D41-ED1A-481D-94F4-27B5A4B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195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Прототип пригоден как исследовательский модуль тестирования 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1C964-D03D-4193-857C-55519C1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3AB71-F071-4926-BD50-54D1EC5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767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Не является сертифицированной системой безопасности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27831-BF07-4862-BCCC-0E75584E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EDB4E-C7FC-4FAA-89DE-D726BE1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339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Дальше: raw image/LiDAR/radar pipeline, nuScenes, CARLA, стресс-тесты, сертификация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ED683-E4C0-47B0-B46E-6A86903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B680D-33A7-4B19-BA02-43AF962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0759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2026-07-07T01:56:19.8730000Z</dcterms:created>
  <dcterms:modified xsi:type="dcterms:W3CDTF">2026-07-07T01:56:19.8730000Z</dcterms:modified>
</coreProperties>
</file>