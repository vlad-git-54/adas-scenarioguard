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74fea4cc834765" /><Relationship Type="http://schemas.openxmlformats.org/officeDocument/2006/relationships/extended-properties" Target="/docProps/app.xml" Id="Rd2ceaccfd3a446eb" /><Relationship Type="http://schemas.openxmlformats.org/officeDocument/2006/relationships/officeDocument" Target="/ppt/presentation.xml" Id="R76789db582784c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794627bb424862"/>
  </p:sldMasterIdLst>
  <p:notesMasterIdLst>
    <p:notesMasterId xmlns:r="http://schemas.openxmlformats.org/officeDocument/2006/relationships" r:id="R1339183959c646af"/>
  </p:notesMasterIdLst>
  <p:sldIdLst>
    <p:sldId xmlns:r="http://schemas.openxmlformats.org/officeDocument/2006/relationships" id="256" r:id="R7eab4a9c6e3240ad"/>
    <p:sldId xmlns:r="http://schemas.openxmlformats.org/officeDocument/2006/relationships" id="257" r:id="R765bd6eb99dd4b1b"/>
    <p:sldId xmlns:r="http://schemas.openxmlformats.org/officeDocument/2006/relationships" id="258" r:id="Re80a04e912154b84"/>
    <p:sldId xmlns:r="http://schemas.openxmlformats.org/officeDocument/2006/relationships" id="259" r:id="R0d78c8e9ff2b486d"/>
    <p:sldId xmlns:r="http://schemas.openxmlformats.org/officeDocument/2006/relationships" id="260" r:id="R4c5dd6dab6f24f0b"/>
    <p:sldId xmlns:r="http://schemas.openxmlformats.org/officeDocument/2006/relationships" id="261" r:id="Rc0e22f4a7ae9421c"/>
    <p:sldId xmlns:r="http://schemas.openxmlformats.org/officeDocument/2006/relationships" id="262" r:id="Rdaf41d6cc11a41b7"/>
    <p:sldId xmlns:r="http://schemas.openxmlformats.org/officeDocument/2006/relationships" id="263" r:id="R0c24acaacf0d4fb1"/>
    <p:sldId xmlns:r="http://schemas.openxmlformats.org/officeDocument/2006/relationships" id="264" r:id="R2cce137da98c468c"/>
    <p:sldId xmlns:r="http://schemas.openxmlformats.org/officeDocument/2006/relationships" id="265" r:id="R92c2bf8d7b8b497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6a37b716f34661" /><Relationship Type="http://schemas.openxmlformats.org/officeDocument/2006/relationships/slideMaster" Target="/ppt/slideMasters/slideMaster1.xml" Id="R8a794627bb424862" /><Relationship Type="http://schemas.openxmlformats.org/officeDocument/2006/relationships/notesMaster" Target="/ppt/notesMasters/notesMaster1.xml" Id="R1339183959c646af" /><Relationship Type="http://schemas.openxmlformats.org/officeDocument/2006/relationships/presProps" Target="/ppt/presProps.xml" Id="Rcff26dce494c45f6" /><Relationship Type="http://schemas.openxmlformats.org/officeDocument/2006/relationships/tableStyles" Target="/ppt/tableStyles.xml" Id="R4e1c070cc4784348" /><Relationship Type="http://schemas.openxmlformats.org/officeDocument/2006/relationships/slide" Target="/ppt/slides/slide1.xml" Id="R7eab4a9c6e3240ad" /><Relationship Type="http://schemas.openxmlformats.org/officeDocument/2006/relationships/slide" Target="/ppt/slides/slide2.xml" Id="R765bd6eb99dd4b1b" /><Relationship Type="http://schemas.openxmlformats.org/officeDocument/2006/relationships/slide" Target="/ppt/slides/slide3.xml" Id="Re80a04e912154b84" /><Relationship Type="http://schemas.openxmlformats.org/officeDocument/2006/relationships/slide" Target="/ppt/slides/slide4.xml" Id="R0d78c8e9ff2b486d" /><Relationship Type="http://schemas.openxmlformats.org/officeDocument/2006/relationships/slide" Target="/ppt/slides/slide5.xml" Id="R4c5dd6dab6f24f0b" /><Relationship Type="http://schemas.openxmlformats.org/officeDocument/2006/relationships/slide" Target="/ppt/slides/slide6.xml" Id="Rc0e22f4a7ae9421c" /><Relationship Type="http://schemas.openxmlformats.org/officeDocument/2006/relationships/slide" Target="/ppt/slides/slide7.xml" Id="Rdaf41d6cc11a41b7" /><Relationship Type="http://schemas.openxmlformats.org/officeDocument/2006/relationships/slide" Target="/ppt/slides/slide8.xml" Id="R0c24acaacf0d4fb1" /><Relationship Type="http://schemas.openxmlformats.org/officeDocument/2006/relationships/slide" Target="/ppt/slides/slide9.xml" Id="R2cce137da98c468c" /><Relationship Type="http://schemas.openxmlformats.org/officeDocument/2006/relationships/slide" Target="/ppt/slides/slide10.xml" Id="R92c2bf8d7b8b49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8acca4e65640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a1521adb1844d5" /><Relationship Type="http://schemas.openxmlformats.org/officeDocument/2006/relationships/notesMaster" Target="/ppt/notesMasters/notesMaster1.xml" Id="Rbfef2953143348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926c65ebea48db" /><Relationship Type="http://schemas.openxmlformats.org/officeDocument/2006/relationships/notesMaster" Target="/ppt/notesMasters/notesMaster1.xml" Id="R62be84fa46ac49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6565f9428d4d74" /><Relationship Type="http://schemas.openxmlformats.org/officeDocument/2006/relationships/notesMaster" Target="/ppt/notesMasters/notesMaster1.xml" Id="R6622ddb12da54a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d8468a8dc34dea" /><Relationship Type="http://schemas.openxmlformats.org/officeDocument/2006/relationships/notesMaster" Target="/ppt/notesMasters/notesMaster1.xml" Id="R58ef0530b95a4f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30964db88848b5" /><Relationship Type="http://schemas.openxmlformats.org/officeDocument/2006/relationships/notesMaster" Target="/ppt/notesMasters/notesMaster1.xml" Id="Rd0cabb78eea14e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46556de1c243d7" /><Relationship Type="http://schemas.openxmlformats.org/officeDocument/2006/relationships/notesMaster" Target="/ppt/notesMasters/notesMaster1.xml" Id="R06772dd5824c4b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de96f3dfa842a5" /><Relationship Type="http://schemas.openxmlformats.org/officeDocument/2006/relationships/notesMaster" Target="/ppt/notesMasters/notesMaster1.xml" Id="Rfb8e3133f38147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3641ad8405465b" /><Relationship Type="http://schemas.openxmlformats.org/officeDocument/2006/relationships/notesMaster" Target="/ppt/notesMasters/notesMaster1.xml" Id="R582ab343cf01453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22f8a06cc84d3e" /><Relationship Type="http://schemas.openxmlformats.org/officeDocument/2006/relationships/notesMaster" Target="/ppt/notesMasters/notesMaster1.xml" Id="R1a8ce6aac5b441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0fec10240c489d" /><Relationship Type="http://schemas.openxmlformats.org/officeDocument/2006/relationships/notesMaster" Target="/ppt/notesMasters/notesMaster1.xml" Id="Rcb6adba3d02845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Начать с границы темы: работа не про полный автопилот, а про слой надежности восприятия ADAS.</a:t>
            </a:r>
          </a:p>
          <a:p xmlns:a="http://schemas.openxmlformats.org/drawingml/2006/main">
            <a:r>
              <a:t>Сказать, что итогом является воспроизводимый прототип, обученный на реальных KITTI-аннотациях.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Пояснить цену ошибки: false negative означает, что сцена опасна по разметке, но модель не выделила ее.</a:t>
            </a:r>
          </a:p>
          <a:p xmlns:a="http://schemas.openxmlformats.org/drawingml/2006/main">
            <a:r>
              <a:t>Подчеркнуть, что recall выбран важной метрикой не случайно.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Сказать, что работа осознанно не претендует на управление автомобилем.</a:t>
            </a:r>
          </a:p>
          <a:p xmlns:a="http://schemas.openxmlformats.org/drawingml/2006/main">
            <a:r>
              <a:t>Цель проверяется через код, данные и метрики, а не только через литературный обзор.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Указать источники: Heidecker по corner cases, Bijelic по погоде, Huang по sensor fusion, BEVFusion и Kumar как пример деградации.</a:t>
            </a:r>
          </a:p>
          <a:p xmlns:a="http://schemas.openxmlformats.org/drawingml/2006/main">
            <a:r>
              <a:t>Отделить чужие опубликованные числа от собственных метрик KITTI.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Пояснить, что признаки считаются из класса объекта, расстояния, lateral position, occlusion и truncation.</a:t>
            </a:r>
          </a:p>
          <a:p xmlns:a="http://schemas.openxmlformats.org/drawingml/2006/main">
            <a:r>
              <a:t>Порог выбирается на validation split, test split остается для финальной оценки.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Развести текущий воспроизводимый эксперимент и будущий более тяжелый raw sensor pipeline.</a:t>
            </a:r>
          </a:p>
          <a:p xmlns:a="http://schemas.openxmlformats.org/drawingml/2006/main">
            <a:r>
              <a:t>Показать, что результаты лежат в results, а рисунки в figures.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Честно проговорить, что целевая метка derived, потому что KITTI не размечает ADAS criticality.</a:t>
            </a:r>
          </a:p>
          <a:p xmlns:a="http://schemas.openxmlformats.org/drawingml/2006/main">
            <a:r>
              <a:t>Это реальные аннотации дорожных сцен KITTI; целевая метка получена фиксированным правилом из наблюдаемых признаков.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Пройти по основным числам. Подчеркнуть, что proposed выше baseline по recall и F1 на test split.</a:t>
            </a:r>
          </a:p>
          <a:p xmlns:a="http://schemas.openxmlformats.org/drawingml/2006/main">
            <a:r>
              <a:t>Матрица ошибок показывает 509 TP и 34 FN.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Сказать, что ошибки не скрыты: они сохранены в results/error_cases.csv.</a:t>
            </a:r>
          </a:p>
          <a:p xmlns:a="http://schemas.openxmlformats.org/drawingml/2006/main">
            <a:r>
              <a:t>Ограничение radar важно, поэтому результат не называется промышленной мультимодальной валидацией.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Закрыть доклад по задачам: методика, реализация, реальные данные, метрики, ошибки, ограничения.</a:t>
            </a:r>
          </a:p>
          <a:p xmlns:a="http://schemas.openxmlformats.org/drawingml/2006/main">
            <a:r>
              <a:t>Финальная фраза: работа дает проверяемую основу для дальнейшей промышленной валидации, но не заменяет ее.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bb535257f24a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3766ed571d432c" /><Relationship Type="http://schemas.openxmlformats.org/officeDocument/2006/relationships/slideLayout" Target="/ppt/slideLayouts/slideLayout1.xml" Id="R87c5323c3c8247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c5323c3c8247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e2466f0e84820" /><Relationship Type="http://schemas.openxmlformats.org/officeDocument/2006/relationships/notesSlide" Target="/ppt/notesSlides/notesSlide1.xml" Id="R893d72e7a4b54c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9bf6ce4694c75" /><Relationship Type="http://schemas.openxmlformats.org/officeDocument/2006/relationships/notesSlide" Target="/ppt/notesSlides/notesSlide2.xml" Id="R05e8a8a0915844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0ff5907514328" /><Relationship Type="http://schemas.openxmlformats.org/officeDocument/2006/relationships/notesSlide" Target="/ppt/notesSlides/notesSlide3.xml" Id="R2b64afd49aab49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52dbe477c47ee" /><Relationship Type="http://schemas.openxmlformats.org/officeDocument/2006/relationships/image" Target="/ppt/media/image.png" Id="R314b460c335b4255" /><Relationship Type="http://schemas.openxmlformats.org/officeDocument/2006/relationships/notesSlide" Target="/ppt/notesSlides/notesSlide4.xml" Id="R4275b3a28f3642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e745eb6264f52" /><Relationship Type="http://schemas.openxmlformats.org/officeDocument/2006/relationships/image" Target="/ppt/media/image2.png" Id="R8db4e62e3e884ccb" /><Relationship Type="http://schemas.openxmlformats.org/officeDocument/2006/relationships/notesSlide" Target="/ppt/notesSlides/notesSlide5.xml" Id="Ra8c1d0831fa649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38fd15d0f4af5" /><Relationship Type="http://schemas.openxmlformats.org/officeDocument/2006/relationships/image" Target="/ppt/media/image3.png" Id="R87df4f31272b485c" /><Relationship Type="http://schemas.openxmlformats.org/officeDocument/2006/relationships/image" Target="/ppt/media/image4.png" Id="R6f788737b16a4ce8" /><Relationship Type="http://schemas.openxmlformats.org/officeDocument/2006/relationships/notesSlide" Target="/ppt/notesSlides/notesSlide6.xml" Id="R3c65d5e1d53443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811c2cfe7476d" /><Relationship Type="http://schemas.openxmlformats.org/officeDocument/2006/relationships/notesSlide" Target="/ppt/notesSlides/notesSlide7.xml" Id="Rf6ede2729ea24a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059b63eea14a36" /><Relationship Type="http://schemas.openxmlformats.org/officeDocument/2006/relationships/image" Target="/ppt/media/image5.png" Id="R53e1ce8a96504e7d" /><Relationship Type="http://schemas.openxmlformats.org/officeDocument/2006/relationships/image" Target="/ppt/media/image6.png" Id="R330204c4f4ea496a" /><Relationship Type="http://schemas.openxmlformats.org/officeDocument/2006/relationships/notesSlide" Target="/ppt/notesSlides/notesSlide8.xml" Id="Rc8eb94b41c3d4f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da8408f044162" /><Relationship Type="http://schemas.openxmlformats.org/officeDocument/2006/relationships/image" Target="/ppt/media/image7.png" Id="Rd7c37cd9aeeb447b" /><Relationship Type="http://schemas.openxmlformats.org/officeDocument/2006/relationships/image" Target="/ppt/media/image8.png" Id="R3fc984f66cbf4407" /><Relationship Type="http://schemas.openxmlformats.org/officeDocument/2006/relationships/notesSlide" Target="/ppt/notesSlides/notesSlide9.xml" Id="Raae148ee27b045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f3addd56d425b" /><Relationship Type="http://schemas.openxmlformats.org/officeDocument/2006/relationships/notesSlide" Target="/ppt/notesSlides/notesSlide10.xml" Id="Ra87561e87d4448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BD24F9-8728-47B5-B3DC-07888F0D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11582400" cy="6172200"/>
          </a:xfrm>
          <a:prstGeom xmlns:a="http://schemas.openxmlformats.org/drawingml/2006/main" prst="roundRect">
            <a:avLst>
              <a:gd name="adj" fmla="val 4321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A7851-4101-48B7-AC78-7FA89F2F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38250"/>
            <a:ext cx="2000250" cy="23812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3F49D4"/>
          </a:solidFill>
          <a:ln xmlns:a="http://schemas.openxmlformats.org/drawingml/2006/main" w="9525">
            <a:solidFill>
              <a:srgbClr val="4F58D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CA637-BF63-48FC-959E-A4A3BA0F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14550"/>
            <a:ext cx="1162050" cy="876300"/>
          </a:xfrm>
          <a:prstGeom xmlns:a="http://schemas.openxmlformats.org/drawingml/2006/main" prst="roundRect">
            <a:avLst>
              <a:gd name="adj" fmla="val 2391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39BC0-6654-410D-BA7C-1592B782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"/>
            <a:ext cx="876300" cy="552450"/>
          </a:xfrm>
          <a:prstGeom xmlns:a="http://schemas.openxmlformats.org/drawingml/2006/main" prst="roundRect">
            <a:avLst>
              <a:gd name="adj" fmla="val 10345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ТГУ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0567B1-F170-451C-B2BD-92D0D767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8625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Томский</a:t>
            </a:r>
          </a:p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государственный</a:t>
            </a:r>
          </a:p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университет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2AD95-5AA5-442C-8074-32DC8F5A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0050"/>
            <a:ext cx="876300" cy="552450"/>
          </a:xfrm>
          <a:prstGeom xmlns:a="http://schemas.openxmlformats.org/drawingml/2006/main" prst="roundRect">
            <a:avLst>
              <a:gd name="adj" fmla="val 10345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IDO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2EC012-4637-47C0-9BD2-0D4B620E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7334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Разработка методов обнаружения и обработки редких и критических сценариев в мультимодальном восприятии систем 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E38A9D-D9E5-48B2-B2FD-F1E81DD1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BEAFE"/>
                </a:solidFill>
              </a:defRPr>
            </a:pPr>
            <a:r>
              <a:rPr sz="1800" b="0">
                <a:solidFill>
                  <a:srgbClr val="DBEAFE"/>
                </a:solidFill>
              </a:rPr>
              <a:t>для повышения безопасности в сложных погодных и дорожных условиях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F7D46-4A1D-431C-B682-70395597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4762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Марьяновский Владислав Андреевич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Группа 292405-1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09.04.03 Прикладная информатика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70BF5-3F78-460E-808A-62955ECC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0957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НИ ТГУ · Институт дистанционного образования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Профиль: компьютерное зрение и нейронные сети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Томск ·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A06AEB-EDD1-4F61-9894-37F4FC0B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BEAFE"/>
                </a:solidFill>
              </a:defRPr>
            </a:pPr>
            <a:r>
              <a:rPr sz="975" b="0">
                <a:solidFill>
                  <a:srgbClr val="DBEAFE"/>
                </a:solidFill>
              </a:rPr>
              <a:t>ADAS ScenarioGuard · ВКР ·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755220-0970-4F31-B1DA-99915B31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BEAFE"/>
                </a:solidFill>
              </a:defRPr>
            </a:pPr>
            <a:r>
              <a:rPr sz="975" b="0">
                <a:solidFill>
                  <a:srgbClr val="DBEAFE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635180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1BC1B3-3BFF-4277-8211-B93A5234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35F67-D4E7-4E36-B685-D59980CA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511EE-72DB-4359-AD23-C1379D21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FCCE5-117D-48B8-8C85-9A927408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8330C-2D80-41E8-B911-A1DA5EA1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Ошибка восприятия опасна именно в редких сценах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2A4DF-7489-4041-879B-278C958A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F26F68-FE62-4DED-8E91-350C0760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86570-3391-4307-9200-029C8E0A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192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Средняя точность скрывает поведение модели в тумане, ночью, при окклюзии и усечении объекта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CE996-EDD4-4C70-9A4F-79CBDC4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9A1BE6-0B62-4432-ADA2-3309821C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Для ADAS пропуск критической сцены опаснее лишней тревоги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4F18E7-9EA6-4E29-8E8B-39060CB1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E07983-D151-4535-8035-A2D04F68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Нужен слой, который оценивает надежность восприятия и риск сцены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5FEB4-3113-40C6-A841-89397D5C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FNR primary model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0.063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C11E2A-C876-4AA9-8258-1F166182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FN на test split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34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377B61-C148-4476-8E39-E824BEF6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815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143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Recall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0.937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B183C0-67F0-4B71-9CEC-14D21687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907B53-AC44-4E26-B017-0A820771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749477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3EE017-046C-4C29-A79E-8078C281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1DBAF5-107F-4ED0-8941-2474F86A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9710F-11C5-4A51-99FA-BDBE0C60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4F6D7-CF8D-45E4-98C1-76585680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F70CE-9B67-4225-8EB3-220B0250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Объект, предмет и цель задают узкую инженерную границу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77037-C8E7-49A8-8BBB-A63736F5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40826-18F5-4442-B140-8302F7F7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Объект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мультимодальное восприятие 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84103-26B8-4B98-82D0-AEAE1FC6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Предмет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редкие и критические сценарии, uncertainty, reliability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B03EC-7B55-4688-B9DE-8AC807E8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Цель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методика оценки critical scene и проверка на реальных данных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F5079-5575-40ED-82D6-4B71D425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95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2B8D-2EA3-450C-A920-8E0F2DC4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957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Разработаны признаки качества наблюдения и risk prior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06BE6-10BB-4D46-B00E-57970046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9344F9-ED81-4DA3-8C52-D83A33BA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Обучены baseline, proposed и ablation модели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082D5-0B1F-4AE8-A6B4-83E1CCC0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843CB0-AC27-4D88-A64B-FE0D915B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339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Собран воспроизводимый pipeline с результатами и графиками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673417-DAD5-4058-B685-1E222F9E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3DBBF7-CA2A-4122-9672-2EA27F1B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953936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EE57DC-BD4E-47AB-97F8-813D37AE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5C580-98A2-40E2-82FD-D5422001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6947D1-C764-4C44-A90F-27FE20BF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9DF730-E9A9-452A-9637-A0DB8883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0F34D2-B4A9-4264-8AEC-AE055EA0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Литература показывает, что деградация сенсоров измерима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C93B0-A243-4D30-B7D6-055D35CA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b460c335b4255"/>
          <a:stretch xmlns:a="http://schemas.openxmlformats.org/drawingml/2006/main"/>
        </p:blipFill>
        <p:spPr>
          <a:xfrm xmlns:a="http://schemas.openxmlformats.org/drawingml/2006/main">
            <a:off x="666750" y="1524709"/>
            <a:ext cx="5810250" cy="390383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1B125F-20D9-4396-BD07-0D65AF93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19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0545B-BE6C-446C-BBA2-B6A06BEA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1925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Corner cases требуют отдельного анализа вне средней точности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64743D-BE48-47F1-B17D-35E6266A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080073-4AF2-451C-A151-09DBB70A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9550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Плохая погода влияет на сенсоры по-разному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14A11-F61F-4E00-9995-3A6F37F4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71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BE4CBE-A1CF-4FFC-B336-7579E35B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Fusion устойчивее camera-only, но LiDAR degradation все равно заметна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99984-C78B-40FA-97A8-A4B7F19D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1274B8-AF5F-4E7F-8DAC-D36483EF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4800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График справа не является собственным экспериментом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E503AD-16A7-4C82-B30D-206C9410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85FCF-80AD-403C-9407-B79C7588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348810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41ACB9-B7E9-4D45-9616-6C1A8E4E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DCC9E9-90A0-4B21-8FB4-57AB251C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5FA1B-C499-4541-AA69-2952C20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CFBCB1-0221-483F-8717-1458E9A0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4873D-8264-444C-95A4-E92F039E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Методика превращает сцену в признаки риска и надежности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44F08-757A-4F64-9A14-FDC8A5B2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b4e62e3e884ccb"/>
          <a:stretch xmlns:a="http://schemas.openxmlformats.org/drawingml/2006/main"/>
        </p:blipFill>
        <p:spPr>
          <a:xfrm xmlns:a="http://schemas.openxmlformats.org/drawingml/2006/main">
            <a:off x="2747320" y="1381125"/>
            <a:ext cx="6316360" cy="2952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DB312-4FD5-44D4-AF04-08663D51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810125"/>
            <a:ext cx="2476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camera quality 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DC8726-E342-402B-A30A-0DD00F5B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10125"/>
            <a:ext cx="2476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3D geometry quality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0B031-7BE3-4449-AFA8-8584A02B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810125"/>
            <a:ext cx="2476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uncertainty proxy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83D5A-68C0-485C-A553-610BA49D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810125"/>
            <a:ext cx="1524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risk prior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B0774-65A9-433F-AD1F-B2AD27C3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73005-6497-43FD-8B21-F4FC0B55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553671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BF951B-B791-4D7B-88B4-68DE45D8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CEE55-83A8-42D2-B346-E55BCA4B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61556-0030-4353-8ABC-40DDE55A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44919-9094-42D7-B016-B00F4637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1BFD9A-6864-4ABB-B65C-1DA71EEE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Архитектура разделяет данные, обучение и оценку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76E0E-6AB7-4201-BB93-FC7F995C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f4f31272b485c"/>
          <a:stretch xmlns:a="http://schemas.openxmlformats.org/drawingml/2006/main"/>
        </p:blipFill>
        <p:spPr>
          <a:xfrm xmlns:a="http://schemas.openxmlformats.org/drawingml/2006/main">
            <a:off x="666750" y="1957253"/>
            <a:ext cx="5334000" cy="2562494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88737b16a4ce8"/>
          <a:stretch xmlns:a="http://schemas.openxmlformats.org/drawingml/2006/main"/>
        </p:blipFill>
        <p:spPr>
          <a:xfrm xmlns:a="http://schemas.openxmlformats.org/drawingml/2006/main">
            <a:off x="6286500" y="1957253"/>
            <a:ext cx="5334000" cy="256249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5DA7F7-F0F1-4CB3-898B-011D903C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GPU RX7700XT указан как ресурс для будущего raw-sensor обучения. Текущий KITTI scenario-level эксперимент выполняется на CPU.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E1739-AA51-4564-A3F0-EEE19E62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2ACA58-DF84-40C1-923C-92BB4F69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289815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6A6ABB-A3AB-4594-B69E-0D6013B0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C54C1F-B4BA-419A-B672-5EE5CD5A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5EAD5-4F4E-446E-A96F-000AF900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9FC5C-5EBB-4384-8EF4-812E23B7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E7D75-5854-44EA-9C06-607AF910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Эксперимент обучен на реальных аннотациях KITTI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A45D5-E76F-4018-9E4D-4C1F31DC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5EA7A5-0D4B-42E0-942C-ACCF1865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Сцен всего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7481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287757-22BA-4FEE-91CD-F10A6923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Train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4488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451B7-8190-42EC-B960-59F61C46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Validation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1496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0657DD-2BDF-44DF-AFD4-32837766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Test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1497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A7DCE1-A2FE-430B-893F-DD238E2D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24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7019E-B477-4A3B-A4AD-AD92C1A9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242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KITTI не содержит готовую метку critical_scene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C4AAFE-E5F2-4027-B6A0-2AAB291C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195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1D316-2FF7-4C23-B5D6-0B452F2B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195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Метка получена фиксированным правилом из реальных class, distance, occlusion и truncation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637A9D-99C3-4AE2-A210-CE64E458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59F72-039D-42CD-8E11-9465227E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Обучены три logistic regression модели на NumPy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ADF777-308E-45F1-A1D1-6ABD9C25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34F0C0-1B60-4A95-9807-167EC221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777213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AB67E8-ADAE-44CC-8C68-E1C5E170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AEE21-8D47-45C4-A903-37825DEE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48955-CEA9-4887-974A-2BBA4DDA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95F7EC-F59E-4407-BC22-B9B648DF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A82EE-C02A-47F2-B10C-4632AD9E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Proposed model снижает пропуски критических сцен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A01264-3954-454B-BC4B-EAD03A5A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1ce8a96504e7d"/>
          <a:stretch xmlns:a="http://schemas.openxmlformats.org/drawingml/2006/main"/>
        </p:blipFill>
        <p:spPr>
          <a:xfrm xmlns:a="http://schemas.openxmlformats.org/drawingml/2006/main">
            <a:off x="571500" y="1598477"/>
            <a:ext cx="4953000" cy="2994296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0204c4f4ea496a"/>
          <a:stretch xmlns:a="http://schemas.openxmlformats.org/drawingml/2006/main"/>
        </p:blipFill>
        <p:spPr>
          <a:xfrm xmlns:a="http://schemas.openxmlformats.org/drawingml/2006/main">
            <a:off x="6191250" y="1379493"/>
            <a:ext cx="4095750" cy="343226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D5344F-CBD9-41E6-9167-F5784A35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81625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Primary: precision 0.885, recall 0.937, F1 0.911, ROC AUC 0.981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68FB1-0506-4682-A8F2-82006A1E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2CAD0-9B2C-49B5-8D4C-15204107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109052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A2E082-8DE2-4235-AABD-B89E4AF4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F48A0-D53F-4AE4-9A74-411BCCE3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10E662-4E94-48D5-9597-6FF5652B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BE2C09-8C60-4FD4-B773-6F6E5C40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C3519-6C30-4B2F-8BC7-84D6B704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Близкие и частично видимые объекты объясняют ошибки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A0587-B425-4A39-8B87-37DEABA1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37cd9aeeb447b"/>
          <a:stretch xmlns:a="http://schemas.openxmlformats.org/drawingml/2006/main"/>
        </p:blipFill>
        <p:spPr>
          <a:xfrm xmlns:a="http://schemas.openxmlformats.org/drawingml/2006/main">
            <a:off x="666750" y="1516171"/>
            <a:ext cx="5143500" cy="3158908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984f66cbf4407"/>
          <a:stretch xmlns:a="http://schemas.openxmlformats.org/drawingml/2006/main"/>
        </p:blipFill>
        <p:spPr>
          <a:xfrm xmlns:a="http://schemas.openxmlformats.org/drawingml/2006/main">
            <a:off x="6286500" y="1530601"/>
            <a:ext cx="4953000" cy="313004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0DE1E5-051D-4BE4-8FE6-F78264BF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863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96325-F72D-4600-B74E-3D3FB2B6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863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FP: сцена похожа на опасную из-за близкого объекта или высокого risk prior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FD2AF1-8FDE-4EEC-8D2D-461CE80D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7756A-ABD0-41A2-A217-7E534D16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292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FN: score ниже порога при derived critical label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EBB2D-333A-41D9-A1C0-294B2DE8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721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42B417-4A97-4F5F-B9CE-D9039ECB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9721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Главное ограничение: KITTI не содержит radar и готовую ADAS critical label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F9A07C-B04C-4985-8877-D68924EE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422C8B-F779-4130-AB02-4FD1F2CA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900549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2D2B12-8FF5-4C35-8C31-B9F5B220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D16BF-9F5E-4C5B-AC55-A8F09C1B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B26BF-3EFA-48F1-B395-AC4DC606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06D1F-B481-464F-8743-B00B5C2F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C939D-2122-47FD-9814-F4365903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Итог: воспроизводимый слой оценки критичности ADAS-сцен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052EE-AB94-4C9D-8143-9081CEFA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F3968-4619-4333-89AB-E2C8A0C7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Разработано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scenario-level методика риска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FE756-B1E5-437A-B0F5-DC442D1D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Реализовано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код, обучение, метрики, графики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6BFA1-C28A-4599-8738-FA1DF1D2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Проверено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KITTI test split и unit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EB50D-F326-4DAB-8E21-91AC39A5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19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A0E85-4708-429D-A702-86009980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195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Прототип пригоден как исследовательский модуль тестирования ADAS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A3C6F4-0291-48CF-882E-703B542E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767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601550-104B-4779-BD21-5BCCEFCA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767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Не является сертифицированной системой безопасности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7E69C5-44BE-4379-9C4A-017DFA4B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339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832D3-BA1D-4384-9FFE-9D5646AE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5339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Дальше: raw image/LiDAR/radar pipeline, nuScenes, CARLA, стресс-тесты, сертификация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0C0721-AC91-453F-8798-D9939BB9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994CE0-38AF-451B-9B53-B3FB463B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91753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2026-07-07T03:23:20.1250000Z</dcterms:created>
  <dcterms:modified xsi:type="dcterms:W3CDTF">2026-07-07T03:23:20.1250000Z</dcterms:modified>
</coreProperties>
</file>