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"/>
          <p:cNvPicPr/>
          <p:nvPr/>
        </p:nvPicPr>
        <p:blipFill>
          <a:blip r:embed="rId1"/>
          <a:srcRect l="6" t="0" r="6" b="0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" name="TextBox 2"/>
          <p:cNvSpPr/>
          <p:nvPr/>
        </p:nvSpPr>
        <p:spPr>
          <a:xfrm>
            <a:off x="594360" y="502920"/>
            <a:ext cx="699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Почему здесь опасен именно пропуск сцены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Box 3"/>
          <p:cNvSpPr/>
          <p:nvPr/>
        </p:nvSpPr>
        <p:spPr>
          <a:xfrm>
            <a:off x="320040" y="137160"/>
            <a:ext cx="851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НИ ТГУ · ИДО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Box 4"/>
          <p:cNvSpPr/>
          <p:nvPr/>
        </p:nvSpPr>
        <p:spPr>
          <a:xfrm>
            <a:off x="11283480" y="13716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2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Box 5"/>
          <p:cNvSpPr/>
          <p:nvPr/>
        </p:nvSpPr>
        <p:spPr>
          <a:xfrm>
            <a:off x="320040" y="6446520"/>
            <a:ext cx="177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ADAS ScenarioGuard · ВКР · 2026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Box 6"/>
          <p:cNvSpPr/>
          <p:nvPr/>
        </p:nvSpPr>
        <p:spPr>
          <a:xfrm>
            <a:off x="11283480" y="644652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2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Rounded Rectangle 7"/>
          <p:cNvSpPr/>
          <p:nvPr/>
        </p:nvSpPr>
        <p:spPr>
          <a:xfrm>
            <a:off x="594360" y="1234440"/>
            <a:ext cx="5120280" cy="95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8"/>
          <p:cNvSpPr/>
          <p:nvPr/>
        </p:nvSpPr>
        <p:spPr>
          <a:xfrm>
            <a:off x="835560" y="1308600"/>
            <a:ext cx="4617360" cy="80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65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Средняя точность не показывает редкие сцены: туман, ночь, окклюзию и усечение объекта.</a:t>
            </a:r>
            <a:endParaRPr lang="zxx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Rounded Rectangle 9"/>
          <p:cNvSpPr/>
          <p:nvPr/>
        </p:nvSpPr>
        <p:spPr>
          <a:xfrm>
            <a:off x="594360" y="2304360"/>
            <a:ext cx="5120280" cy="529920"/>
          </a:xfrm>
          <a:prstGeom prst="roundRect">
            <a:avLst>
              <a:gd name="adj" fmla="val 16667"/>
            </a:avLst>
          </a:prstGeom>
          <a:solidFill>
            <a:srgbClr val="FFECE8"/>
          </a:solidFill>
          <a:ln>
            <a:solidFill>
              <a:srgbClr val="EBBE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Box 10"/>
          <p:cNvSpPr/>
          <p:nvPr/>
        </p:nvSpPr>
        <p:spPr>
          <a:xfrm>
            <a:off x="720000" y="2450520"/>
            <a:ext cx="461736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380" b="1" u="none" strike="noStrike">
                <a:solidFill>
                  <a:srgbClr val="CD4A39"/>
                </a:solidFill>
                <a:effectLst/>
                <a:uFillTx/>
                <a:latin typeface="Arial"/>
                <a:ea typeface="Calibri"/>
              </a:rPr>
              <a:t>Пропуск риска для ADAS опаснее лишней тревоги.</a:t>
            </a:r>
            <a:endParaRPr lang="zxx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Rounded Rectangle 11"/>
          <p:cNvSpPr/>
          <p:nvPr/>
        </p:nvSpPr>
        <p:spPr>
          <a:xfrm>
            <a:off x="6172200" y="1143000"/>
            <a:ext cx="1599840" cy="1142640"/>
          </a:xfrm>
          <a:prstGeom prst="roundRect">
            <a:avLst>
              <a:gd name="adj" fmla="val 16667"/>
            </a:avLst>
          </a:prstGeom>
          <a:solidFill>
            <a:srgbClr val="FFECE8"/>
          </a:solidFill>
          <a:ln>
            <a:solidFill>
              <a:srgbClr val="BECD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6408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CD4A39"/>
                </a:solidFill>
                <a:effectLst/>
                <a:uFillTx/>
                <a:latin typeface="Arial"/>
                <a:ea typeface="Calibri"/>
              </a:rPr>
              <a:t>34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пропущено на test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FN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Rounded Rectangle 12"/>
          <p:cNvSpPr/>
          <p:nvPr/>
        </p:nvSpPr>
        <p:spPr>
          <a:xfrm>
            <a:off x="8001000" y="1143000"/>
            <a:ext cx="1599840" cy="1142640"/>
          </a:xfrm>
          <a:prstGeom prst="roundRect">
            <a:avLst>
              <a:gd name="adj" fmla="val 16667"/>
            </a:avLst>
          </a:prstGeom>
          <a:solidFill>
            <a:srgbClr val="FFECE8"/>
          </a:solidFill>
          <a:ln>
            <a:solidFill>
              <a:srgbClr val="BECD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6408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CD4A39"/>
                </a:solidFill>
                <a:effectLst/>
                <a:uFillTx/>
                <a:latin typeface="Arial"/>
                <a:ea typeface="Calibri"/>
              </a:rPr>
              <a:t>0.063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доля пропусков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FNR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Rounded Rectangle 13"/>
          <p:cNvSpPr/>
          <p:nvPr/>
        </p:nvSpPr>
        <p:spPr>
          <a:xfrm>
            <a:off x="9829800" y="1143000"/>
            <a:ext cx="1599840" cy="1142640"/>
          </a:xfrm>
          <a:prstGeom prst="roundRect">
            <a:avLst>
              <a:gd name="adj" fmla="val 16667"/>
            </a:avLst>
          </a:prstGeom>
          <a:solidFill>
            <a:srgbClr val="E8F6EE"/>
          </a:solidFill>
          <a:ln>
            <a:solidFill>
              <a:srgbClr val="BECD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6408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33895E"/>
                </a:solidFill>
                <a:effectLst/>
                <a:uFillTx/>
                <a:latin typeface="Arial"/>
                <a:ea typeface="Calibri"/>
              </a:rPr>
              <a:t>0.937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найдено критичных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Recall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ounded Rectangle 14"/>
          <p:cNvSpPr/>
          <p:nvPr/>
        </p:nvSpPr>
        <p:spPr>
          <a:xfrm>
            <a:off x="594360" y="2926080"/>
            <a:ext cx="10835280" cy="2239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" name="TextBox 15"/>
          <p:cNvSpPr/>
          <p:nvPr/>
        </p:nvSpPr>
        <p:spPr>
          <a:xfrm>
            <a:off x="868680" y="3154680"/>
            <a:ext cx="265140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60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Расчет на test split</a:t>
            </a:r>
            <a:endParaRPr lang="zxx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Box 16"/>
          <p:cNvSpPr/>
          <p:nvPr/>
        </p:nvSpPr>
        <p:spPr>
          <a:xfrm>
            <a:off x="868680" y="3611880"/>
            <a:ext cx="2834280" cy="48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Положительные сцены: 509 + 34 = 543</a:t>
            </a:r>
            <a:endParaRPr lang="zxx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Box 17"/>
          <p:cNvSpPr/>
          <p:nvPr/>
        </p:nvSpPr>
        <p:spPr>
          <a:xfrm>
            <a:off x="3794760" y="3611880"/>
            <a:ext cx="32457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Recall = 509 / (509 + 34) = 0.937</a:t>
            </a:r>
            <a:endParaRPr lang="zxx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Box 18"/>
          <p:cNvSpPr/>
          <p:nvPr/>
        </p:nvSpPr>
        <p:spPr>
          <a:xfrm>
            <a:off x="7223760" y="3611880"/>
            <a:ext cx="2971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FNR = 34 / (509 + 34) = 0.063</a:t>
            </a:r>
            <a:endParaRPr lang="zxx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Box 19"/>
          <p:cNvSpPr/>
          <p:nvPr/>
        </p:nvSpPr>
        <p:spPr>
          <a:xfrm>
            <a:off x="868680" y="4316040"/>
            <a:ext cx="50256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00" b="1" u="none" strike="noStrike">
                <a:solidFill>
                  <a:srgbClr val="33895E"/>
                </a:solidFill>
                <a:effectLst/>
                <a:uFillTx/>
                <a:latin typeface="Arial"/>
                <a:ea typeface="Calibri"/>
              </a:rPr>
              <a:t>TP</a:t>
            </a:r>
            <a:endParaRPr lang="zxx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Rectangle 20"/>
          <p:cNvSpPr/>
          <p:nvPr/>
        </p:nvSpPr>
        <p:spPr>
          <a:xfrm>
            <a:off x="1417320" y="4316040"/>
            <a:ext cx="1257480" cy="200880"/>
          </a:xfrm>
          <a:prstGeom prst="rect">
            <a:avLst/>
          </a:prstGeom>
          <a:solidFill>
            <a:srgbClr val="338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" name="TextBox 21"/>
          <p:cNvSpPr/>
          <p:nvPr/>
        </p:nvSpPr>
        <p:spPr>
          <a:xfrm>
            <a:off x="2720880" y="4260960"/>
            <a:ext cx="5025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509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Box 22"/>
          <p:cNvSpPr/>
          <p:nvPr/>
        </p:nvSpPr>
        <p:spPr>
          <a:xfrm>
            <a:off x="3886200" y="4316040"/>
            <a:ext cx="50256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00" b="1" u="none" strike="noStrike">
                <a:solidFill>
                  <a:srgbClr val="CD4A39"/>
                </a:solidFill>
                <a:effectLst/>
                <a:uFillTx/>
                <a:latin typeface="Arial"/>
                <a:ea typeface="Calibri"/>
              </a:rPr>
              <a:t>FN</a:t>
            </a:r>
            <a:endParaRPr lang="zxx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Rectangle 23"/>
          <p:cNvSpPr/>
          <p:nvPr/>
        </p:nvSpPr>
        <p:spPr>
          <a:xfrm>
            <a:off x="4434840" y="4316040"/>
            <a:ext cx="83520" cy="200880"/>
          </a:xfrm>
          <a:prstGeom prst="rect">
            <a:avLst/>
          </a:prstGeom>
          <a:solidFill>
            <a:srgbClr val="CD4A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" name="TextBox 24"/>
          <p:cNvSpPr/>
          <p:nvPr/>
        </p:nvSpPr>
        <p:spPr>
          <a:xfrm>
            <a:off x="4564440" y="4260960"/>
            <a:ext cx="5025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34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25"/>
          <p:cNvSpPr/>
          <p:nvPr/>
        </p:nvSpPr>
        <p:spPr>
          <a:xfrm>
            <a:off x="5623560" y="4316040"/>
            <a:ext cx="50256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00" b="1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TN</a:t>
            </a:r>
            <a:endParaRPr lang="zxx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Rectangle 26"/>
          <p:cNvSpPr/>
          <p:nvPr/>
        </p:nvSpPr>
        <p:spPr>
          <a:xfrm>
            <a:off x="6172200" y="4316040"/>
            <a:ext cx="2194200" cy="200880"/>
          </a:xfrm>
          <a:prstGeom prst="rect">
            <a:avLst/>
          </a:prstGeom>
          <a:solidFill>
            <a:srgbClr val="747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" name="TextBox 27"/>
          <p:cNvSpPr/>
          <p:nvPr/>
        </p:nvSpPr>
        <p:spPr>
          <a:xfrm>
            <a:off x="8412480" y="4260960"/>
            <a:ext cx="5025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888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Box 28"/>
          <p:cNvSpPr/>
          <p:nvPr/>
        </p:nvSpPr>
        <p:spPr>
          <a:xfrm>
            <a:off x="8641080" y="4316040"/>
            <a:ext cx="50256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00" b="1" u="none" strike="noStrike">
                <a:solidFill>
                  <a:srgbClr val="E38B25"/>
                </a:solidFill>
                <a:effectLst/>
                <a:uFillTx/>
                <a:latin typeface="Arial"/>
                <a:ea typeface="Calibri"/>
              </a:rPr>
              <a:t>FP</a:t>
            </a:r>
            <a:endParaRPr lang="zxx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Rectangle 29"/>
          <p:cNvSpPr/>
          <p:nvPr/>
        </p:nvSpPr>
        <p:spPr>
          <a:xfrm>
            <a:off x="9189720" y="4316040"/>
            <a:ext cx="162720" cy="200880"/>
          </a:xfrm>
          <a:prstGeom prst="rect">
            <a:avLst/>
          </a:prstGeom>
          <a:solidFill>
            <a:srgbClr val="E38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Box 30"/>
          <p:cNvSpPr/>
          <p:nvPr/>
        </p:nvSpPr>
        <p:spPr>
          <a:xfrm>
            <a:off x="9398520" y="4260960"/>
            <a:ext cx="5025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66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31"/>
          <p:cNvSpPr/>
          <p:nvPr/>
        </p:nvSpPr>
        <p:spPr>
          <a:xfrm>
            <a:off x="868680" y="4800600"/>
            <a:ext cx="969228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Поэтому в работе отдельно рассчитаны FN, FNR и recall, а не только общая accuracy.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Box 2"/>
          <p:cNvSpPr/>
          <p:nvPr/>
        </p:nvSpPr>
        <p:spPr>
          <a:xfrm>
            <a:off x="594360" y="502920"/>
            <a:ext cx="911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Граница работы: не автопилот, а оценка риска восприятия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Box 3"/>
          <p:cNvSpPr/>
          <p:nvPr/>
        </p:nvSpPr>
        <p:spPr>
          <a:xfrm>
            <a:off x="320040" y="137160"/>
            <a:ext cx="851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НИ ТГУ · ИДО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Box 4"/>
          <p:cNvSpPr/>
          <p:nvPr/>
        </p:nvSpPr>
        <p:spPr>
          <a:xfrm>
            <a:off x="11283480" y="13716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3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Box 5"/>
          <p:cNvSpPr/>
          <p:nvPr/>
        </p:nvSpPr>
        <p:spPr>
          <a:xfrm>
            <a:off x="320040" y="6446520"/>
            <a:ext cx="177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ADAS ScenarioGuard · ВКР · 2026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Box 6"/>
          <p:cNvSpPr/>
          <p:nvPr/>
        </p:nvSpPr>
        <p:spPr>
          <a:xfrm>
            <a:off x="11283480" y="644652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3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Rounded Rectangle 7"/>
          <p:cNvSpPr/>
          <p:nvPr/>
        </p:nvSpPr>
        <p:spPr>
          <a:xfrm>
            <a:off x="594360" y="1143000"/>
            <a:ext cx="10835280" cy="959760"/>
          </a:xfrm>
          <a:prstGeom prst="roundRect">
            <a:avLst>
              <a:gd name="adj" fmla="val 16667"/>
            </a:avLst>
          </a:prstGeom>
          <a:solidFill>
            <a:srgbClr val="E7F0FD"/>
          </a:solidFill>
          <a:ln>
            <a:solidFill>
              <a:srgbClr val="BECD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" name="TextBox 8"/>
          <p:cNvSpPr/>
          <p:nvPr/>
        </p:nvSpPr>
        <p:spPr>
          <a:xfrm>
            <a:off x="868680" y="1353240"/>
            <a:ext cx="1024092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20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 В работе проверяется слой, который отмечает сцену как рискованную для ADAS.</a:t>
            </a:r>
            <a:endParaRPr lang="zxx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Rounded Rectangle 9"/>
          <p:cNvSpPr/>
          <p:nvPr/>
        </p:nvSpPr>
        <p:spPr>
          <a:xfrm>
            <a:off x="594360" y="2514600"/>
            <a:ext cx="333720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09800" rIns="146160" bIns="7308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30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Объект</a:t>
            </a:r>
            <a:endParaRPr lang="zxx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zxx" sz="12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мультимодальное восприятие ADAS: камера, LiDAR, radar и признаки дорожной сцены</a:t>
            </a:r>
            <a:endParaRPr lang="zxx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Rounded Rectangle 10"/>
          <p:cNvSpPr/>
          <p:nvPr/>
        </p:nvSpPr>
        <p:spPr>
          <a:xfrm>
            <a:off x="4251960" y="2514600"/>
            <a:ext cx="333720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09800" rIns="146160" bIns="7308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30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Предмет</a:t>
            </a:r>
            <a:endParaRPr lang="zxx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zxx" sz="12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редкие критические сцены, надежность наблюдения, uncertainty и risk score</a:t>
            </a:r>
            <a:endParaRPr lang="zxx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Rounded Rectangle 11"/>
          <p:cNvSpPr/>
          <p:nvPr/>
        </p:nvSpPr>
        <p:spPr>
          <a:xfrm>
            <a:off x="7909560" y="2514600"/>
            <a:ext cx="352008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09800" rIns="146160" bIns="7308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30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Цель</a:t>
            </a:r>
            <a:endParaRPr lang="zxx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zxx" sz="12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методика оценки critical_scene и проверка на реальных аннотациях KITTI</a:t>
            </a:r>
            <a:endParaRPr lang="zxx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12"/>
          <p:cNvSpPr/>
          <p:nvPr/>
        </p:nvSpPr>
        <p:spPr>
          <a:xfrm>
            <a:off x="594360" y="4434840"/>
            <a:ext cx="210276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50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В работе проверено</a:t>
            </a:r>
            <a:endParaRPr lang="zx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Rounded Rectangle 13"/>
          <p:cNvSpPr/>
          <p:nvPr/>
        </p:nvSpPr>
        <p:spPr>
          <a:xfrm>
            <a:off x="1005840" y="4892040"/>
            <a:ext cx="1416960" cy="68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09800" rIns="146160" bIns="7308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признаки</a:t>
            </a:r>
            <a:br>
              <a:rPr sz="1100"/>
            </a:br>
            <a:r>
              <a:rPr lang="zxx" sz="11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сцены</a:t>
            </a:r>
            <a:endParaRPr lang="zxx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" name="Connector 14"/>
          <p:cNvCxnSpPr/>
          <p:nvPr/>
        </p:nvCxnSpPr>
        <p:spPr>
          <a:xfrm>
            <a:off x="2423160" y="5230080"/>
            <a:ext cx="503280" cy="360"/>
          </a:xfrm>
          <a:prstGeom prst="straightConnector1">
            <a:avLst/>
          </a:prstGeom>
          <a:ln>
            <a:solidFill>
              <a:srgbClr val="A0AABE"/>
            </a:solidFill>
            <a:round/>
          </a:ln>
        </p:spPr>
      </p:cxnSp>
      <p:sp>
        <p:nvSpPr>
          <p:cNvPr id="52" name="Rounded Rectangle 15"/>
          <p:cNvSpPr/>
          <p:nvPr/>
        </p:nvSpPr>
        <p:spPr>
          <a:xfrm>
            <a:off x="3017520" y="4892040"/>
            <a:ext cx="1416960" cy="68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09800" rIns="146160" bIns="7308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модели</a:t>
            </a:r>
            <a:br>
              <a:rPr sz="1100"/>
            </a:br>
            <a:r>
              <a:rPr lang="zxx" sz="11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сравнения</a:t>
            </a:r>
            <a:endParaRPr lang="zxx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" name="Connector 16"/>
          <p:cNvCxnSpPr/>
          <p:nvPr/>
        </p:nvCxnSpPr>
        <p:spPr>
          <a:xfrm>
            <a:off x="4434840" y="5230080"/>
            <a:ext cx="503280" cy="360"/>
          </a:xfrm>
          <a:prstGeom prst="straightConnector1">
            <a:avLst/>
          </a:prstGeom>
          <a:ln>
            <a:solidFill>
              <a:srgbClr val="A0AABE"/>
            </a:solidFill>
            <a:round/>
          </a:ln>
        </p:spPr>
      </p:cxnSp>
      <p:sp>
        <p:nvSpPr>
          <p:cNvPr id="54" name="Rounded Rectangle 17"/>
          <p:cNvSpPr/>
          <p:nvPr/>
        </p:nvSpPr>
        <p:spPr>
          <a:xfrm>
            <a:off x="5029200" y="4892040"/>
            <a:ext cx="1416960" cy="68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09800" rIns="146160" bIns="7308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метрики</a:t>
            </a:r>
            <a:br>
              <a:rPr sz="1100"/>
            </a:br>
            <a:r>
              <a:rPr lang="zxx" sz="11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и ошибки</a:t>
            </a:r>
            <a:endParaRPr lang="zxx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Connector 18"/>
          <p:cNvCxnSpPr/>
          <p:nvPr/>
        </p:nvCxnSpPr>
        <p:spPr>
          <a:xfrm>
            <a:off x="6446520" y="5230080"/>
            <a:ext cx="503280" cy="360"/>
          </a:xfrm>
          <a:prstGeom prst="straightConnector1">
            <a:avLst/>
          </a:prstGeom>
          <a:ln>
            <a:solidFill>
              <a:srgbClr val="A0AABE"/>
            </a:solidFill>
            <a:round/>
          </a:ln>
        </p:spPr>
      </p:cxnSp>
      <p:sp>
        <p:nvSpPr>
          <p:cNvPr id="56" name="Rounded Rectangle 19"/>
          <p:cNvSpPr/>
          <p:nvPr/>
        </p:nvSpPr>
        <p:spPr>
          <a:xfrm>
            <a:off x="7040880" y="4892040"/>
            <a:ext cx="1416960" cy="68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09800" rIns="146160" bIns="7308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репозиторий</a:t>
            </a:r>
            <a:br>
              <a:rPr sz="1100"/>
            </a:br>
            <a:r>
              <a:rPr lang="zxx" sz="11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и графики</a:t>
            </a:r>
            <a:endParaRPr lang="zxx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" name="Connector 20"/>
          <p:cNvCxnSpPr/>
          <p:nvPr/>
        </p:nvCxnSpPr>
        <p:spPr>
          <a:xfrm>
            <a:off x="8458200" y="5230080"/>
            <a:ext cx="503280" cy="360"/>
          </a:xfrm>
          <a:prstGeom prst="straightConnector1">
            <a:avLst/>
          </a:prstGeom>
          <a:ln>
            <a:solidFill>
              <a:srgbClr val="A0AABE"/>
            </a:solidFill>
            <a:round/>
          </a:ln>
        </p:spPr>
      </p:cxnSp>
      <p:sp>
        <p:nvSpPr>
          <p:cNvPr id="58" name="Rounded Rectangle 21"/>
          <p:cNvSpPr/>
          <p:nvPr/>
        </p:nvSpPr>
        <p:spPr>
          <a:xfrm>
            <a:off x="9052560" y="4892040"/>
            <a:ext cx="1416960" cy="68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09800" rIns="146160" bIns="7308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ограничения</a:t>
            </a:r>
            <a:br>
              <a:rPr sz="1100"/>
            </a:br>
            <a:r>
              <a:rPr lang="zxx" sz="11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для внедрения</a:t>
            </a:r>
            <a:endParaRPr lang="zxx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594360" y="502920"/>
            <a:ext cx="84718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Литература объясняет, почему одного детектора мало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3"/>
          <p:cNvSpPr/>
          <p:nvPr/>
        </p:nvSpPr>
        <p:spPr>
          <a:xfrm>
            <a:off x="320040" y="137160"/>
            <a:ext cx="851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НИ ТГУ · ИДО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11283480" y="13716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4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320040" y="6446520"/>
            <a:ext cx="177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ADAS ScenarioGuard · ВКР · 2026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11283480" y="644652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4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ounded Rectangle 7"/>
          <p:cNvSpPr/>
          <p:nvPr/>
        </p:nvSpPr>
        <p:spPr>
          <a:xfrm>
            <a:off x="594360" y="1234440"/>
            <a:ext cx="47088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8"/>
          <p:cNvSpPr/>
          <p:nvPr/>
        </p:nvSpPr>
        <p:spPr>
          <a:xfrm>
            <a:off x="822960" y="1353240"/>
            <a:ext cx="173700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5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Heidecker et al., 2021</a:t>
            </a:r>
            <a:endParaRPr lang="zxx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9"/>
          <p:cNvSpPr/>
          <p:nvPr/>
        </p:nvSpPr>
        <p:spPr>
          <a:xfrm>
            <a:off x="2606040" y="1353240"/>
            <a:ext cx="24685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5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corner cases как отдельный класс ситуаций</a:t>
            </a:r>
            <a:endParaRPr lang="zxx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10"/>
          <p:cNvSpPr/>
          <p:nvPr/>
        </p:nvSpPr>
        <p:spPr>
          <a:xfrm>
            <a:off x="594360" y="2020680"/>
            <a:ext cx="47088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11"/>
          <p:cNvSpPr/>
          <p:nvPr/>
        </p:nvSpPr>
        <p:spPr>
          <a:xfrm>
            <a:off x="822960" y="2139840"/>
            <a:ext cx="173700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5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Bijelic et al., 2020</a:t>
            </a:r>
            <a:endParaRPr lang="zxx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2"/>
          <p:cNvSpPr/>
          <p:nvPr/>
        </p:nvSpPr>
        <p:spPr>
          <a:xfrm>
            <a:off x="2606040" y="2139840"/>
            <a:ext cx="24685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5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плохая погода по-разному портит сенсоры</a:t>
            </a:r>
            <a:endParaRPr lang="zxx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3"/>
          <p:cNvSpPr/>
          <p:nvPr/>
        </p:nvSpPr>
        <p:spPr>
          <a:xfrm>
            <a:off x="594360" y="2807280"/>
            <a:ext cx="47088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14"/>
          <p:cNvSpPr/>
          <p:nvPr/>
        </p:nvSpPr>
        <p:spPr>
          <a:xfrm>
            <a:off x="822960" y="2926080"/>
            <a:ext cx="173700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5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Huang et al., 2024</a:t>
            </a:r>
            <a:endParaRPr lang="zxx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5"/>
          <p:cNvSpPr/>
          <p:nvPr/>
        </p:nvSpPr>
        <p:spPr>
          <a:xfrm>
            <a:off x="2606040" y="2926080"/>
            <a:ext cx="24685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5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sensor fusion и варианты объединения данных</a:t>
            </a:r>
            <a:endParaRPr lang="zxx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16"/>
          <p:cNvSpPr/>
          <p:nvPr/>
        </p:nvSpPr>
        <p:spPr>
          <a:xfrm>
            <a:off x="594360" y="3593520"/>
            <a:ext cx="47088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17"/>
          <p:cNvSpPr/>
          <p:nvPr/>
        </p:nvSpPr>
        <p:spPr>
          <a:xfrm>
            <a:off x="822960" y="3712320"/>
            <a:ext cx="173700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5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Kumar et al., 2025</a:t>
            </a:r>
            <a:endParaRPr lang="zxx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8"/>
          <p:cNvSpPr/>
          <p:nvPr/>
        </p:nvSpPr>
        <p:spPr>
          <a:xfrm>
            <a:off x="2606040" y="3712320"/>
            <a:ext cx="24685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5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численный пример деградации BEVFusion</a:t>
            </a:r>
            <a:endParaRPr lang="zxx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19"/>
          <p:cNvSpPr/>
          <p:nvPr/>
        </p:nvSpPr>
        <p:spPr>
          <a:xfrm>
            <a:off x="5623560" y="1143000"/>
            <a:ext cx="5806080" cy="356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20"/>
          <p:cNvSpPr/>
          <p:nvPr/>
        </p:nvSpPr>
        <p:spPr>
          <a:xfrm>
            <a:off x="5897880" y="1325880"/>
            <a:ext cx="5303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5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Падение mAP при ухудшении сенсора</a:t>
            </a:r>
            <a:endParaRPr lang="zx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1"/>
          <p:cNvSpPr/>
          <p:nvPr/>
        </p:nvSpPr>
        <p:spPr>
          <a:xfrm>
            <a:off x="5897880" y="1664280"/>
            <a:ext cx="530316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9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литературный пример, не мой эксперимент</a:t>
            </a:r>
            <a:endParaRPr lang="zx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2"/>
          <p:cNvSpPr/>
          <p:nvPr/>
        </p:nvSpPr>
        <p:spPr>
          <a:xfrm>
            <a:off x="5897880" y="2194560"/>
            <a:ext cx="12798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8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Camera-only</a:t>
            </a:r>
            <a:br>
              <a:rPr sz="880"/>
            </a:br>
            <a:r>
              <a:rPr lang="zxx" sz="88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камера закрыта</a:t>
            </a:r>
            <a:endParaRPr lang="zxx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23"/>
          <p:cNvSpPr/>
          <p:nvPr/>
        </p:nvSpPr>
        <p:spPr>
          <a:xfrm>
            <a:off x="7315200" y="2240280"/>
            <a:ext cx="1388520" cy="164160"/>
          </a:xfrm>
          <a:prstGeom prst="rect">
            <a:avLst/>
          </a:prstGeom>
          <a:solidFill>
            <a:srgbClr val="CD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ectangle 24"/>
          <p:cNvSpPr/>
          <p:nvPr/>
        </p:nvSpPr>
        <p:spPr>
          <a:xfrm>
            <a:off x="7315200" y="2459880"/>
            <a:ext cx="815040" cy="164160"/>
          </a:xfrm>
          <a:prstGeom prst="rect">
            <a:avLst/>
          </a:prstGeom>
          <a:solidFill>
            <a:srgbClr val="CD4A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25"/>
          <p:cNvSpPr/>
          <p:nvPr/>
        </p:nvSpPr>
        <p:spPr>
          <a:xfrm>
            <a:off x="10378440" y="2221920"/>
            <a:ext cx="59400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5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35.6</a:t>
            </a:r>
            <a:endParaRPr lang="zxx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6"/>
          <p:cNvSpPr/>
          <p:nvPr/>
        </p:nvSpPr>
        <p:spPr>
          <a:xfrm>
            <a:off x="10378440" y="2441520"/>
            <a:ext cx="59400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50" b="1" u="none" strike="noStrike">
                <a:solidFill>
                  <a:srgbClr val="CD4A39"/>
                </a:solidFill>
                <a:effectLst/>
                <a:uFillTx/>
                <a:latin typeface="Arial"/>
                <a:ea typeface="Calibri"/>
              </a:rPr>
              <a:t>20.9</a:t>
            </a:r>
            <a:endParaRPr lang="zxx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27"/>
          <p:cNvSpPr/>
          <p:nvPr/>
        </p:nvSpPr>
        <p:spPr>
          <a:xfrm>
            <a:off x="5897880" y="2944440"/>
            <a:ext cx="12798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8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Fusion</a:t>
            </a:r>
            <a:br>
              <a:rPr sz="880"/>
            </a:br>
            <a:r>
              <a:rPr lang="zxx" sz="88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камера закрыта</a:t>
            </a:r>
            <a:endParaRPr lang="zxx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28"/>
          <p:cNvSpPr/>
          <p:nvPr/>
        </p:nvSpPr>
        <p:spPr>
          <a:xfrm>
            <a:off x="7315200" y="2990160"/>
            <a:ext cx="2672280" cy="164160"/>
          </a:xfrm>
          <a:prstGeom prst="rect">
            <a:avLst/>
          </a:prstGeom>
          <a:solidFill>
            <a:srgbClr val="CD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ectangle 29"/>
          <p:cNvSpPr/>
          <p:nvPr/>
        </p:nvSpPr>
        <p:spPr>
          <a:xfrm>
            <a:off x="7315200" y="3209400"/>
            <a:ext cx="2562840" cy="164160"/>
          </a:xfrm>
          <a:prstGeom prst="rect">
            <a:avLst/>
          </a:prstGeom>
          <a:solidFill>
            <a:srgbClr val="338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30"/>
          <p:cNvSpPr/>
          <p:nvPr/>
        </p:nvSpPr>
        <p:spPr>
          <a:xfrm>
            <a:off x="10378440" y="2971800"/>
            <a:ext cx="59400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5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68.5</a:t>
            </a:r>
            <a:endParaRPr lang="zxx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1"/>
          <p:cNvSpPr/>
          <p:nvPr/>
        </p:nvSpPr>
        <p:spPr>
          <a:xfrm>
            <a:off x="10378440" y="3191400"/>
            <a:ext cx="59400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50" b="1" u="none" strike="noStrike">
                <a:solidFill>
                  <a:srgbClr val="33895E"/>
                </a:solidFill>
                <a:effectLst/>
                <a:uFillTx/>
                <a:latin typeface="Arial"/>
                <a:ea typeface="Calibri"/>
              </a:rPr>
              <a:t>65.7</a:t>
            </a:r>
            <a:endParaRPr lang="zxx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2"/>
          <p:cNvSpPr/>
          <p:nvPr/>
        </p:nvSpPr>
        <p:spPr>
          <a:xfrm>
            <a:off x="5897880" y="3694320"/>
            <a:ext cx="12798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8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Fusion</a:t>
            </a:r>
            <a:br>
              <a:rPr sz="880"/>
            </a:br>
            <a:r>
              <a:rPr lang="zxx" sz="88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LiDAR ухудшен</a:t>
            </a:r>
            <a:endParaRPr lang="zxx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ectangle 33"/>
          <p:cNvSpPr/>
          <p:nvPr/>
        </p:nvSpPr>
        <p:spPr>
          <a:xfrm>
            <a:off x="7315200" y="3740040"/>
            <a:ext cx="2672280" cy="164160"/>
          </a:xfrm>
          <a:prstGeom prst="rect">
            <a:avLst/>
          </a:prstGeom>
          <a:solidFill>
            <a:srgbClr val="CD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34"/>
          <p:cNvSpPr/>
          <p:nvPr/>
        </p:nvSpPr>
        <p:spPr>
          <a:xfrm>
            <a:off x="7315200" y="3959280"/>
            <a:ext cx="1954440" cy="164160"/>
          </a:xfrm>
          <a:prstGeom prst="rect">
            <a:avLst/>
          </a:prstGeom>
          <a:solidFill>
            <a:srgbClr val="E38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35"/>
          <p:cNvSpPr/>
          <p:nvPr/>
        </p:nvSpPr>
        <p:spPr>
          <a:xfrm>
            <a:off x="10378440" y="3721680"/>
            <a:ext cx="59400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5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68.5</a:t>
            </a:r>
            <a:endParaRPr lang="zxx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6"/>
          <p:cNvSpPr/>
          <p:nvPr/>
        </p:nvSpPr>
        <p:spPr>
          <a:xfrm>
            <a:off x="10378440" y="3940920"/>
            <a:ext cx="59400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50" b="1" u="none" strike="noStrike">
                <a:solidFill>
                  <a:srgbClr val="E38B25"/>
                </a:solidFill>
                <a:effectLst/>
                <a:uFillTx/>
                <a:latin typeface="Arial"/>
                <a:ea typeface="Calibri"/>
              </a:rPr>
              <a:t>50.1</a:t>
            </a:r>
            <a:endParaRPr lang="zxx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7"/>
          <p:cNvSpPr/>
          <p:nvPr/>
        </p:nvSpPr>
        <p:spPr>
          <a:xfrm>
            <a:off x="5897880" y="4983480"/>
            <a:ext cx="530316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3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Вывод: нужно оценивать не только объект, но и надежность наблюдения.</a:t>
            </a:r>
            <a:endParaRPr lang="zxx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Box 2"/>
          <p:cNvSpPr/>
          <p:nvPr/>
        </p:nvSpPr>
        <p:spPr>
          <a:xfrm>
            <a:off x="594360" y="502920"/>
            <a:ext cx="868500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2500" b="1" u="none" strike="noStrike">
                <a:solidFill>
                  <a:srgbClr val="092C4A"/>
                </a:solidFill>
                <a:effectLst/>
                <a:uFillTx/>
                <a:latin typeface="Aptos Display"/>
                <a:ea typeface="Calibri"/>
              </a:rPr>
              <a:t>Новизна метода: критичность поверх детекции</a:t>
            </a:r>
            <a:endParaRPr lang="zxx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320040" y="137160"/>
            <a:ext cx="851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НИ ТГУ · ИДО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4"/>
          <p:cNvSpPr/>
          <p:nvPr/>
        </p:nvSpPr>
        <p:spPr>
          <a:xfrm>
            <a:off x="11283480" y="13716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5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320040" y="6446520"/>
            <a:ext cx="177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ADAS ScenarioGuard · ВКР · 2026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11283480" y="644652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5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7"/>
          <p:cNvSpPr/>
          <p:nvPr/>
        </p:nvSpPr>
        <p:spPr>
          <a:xfrm>
            <a:off x="502920" y="1188720"/>
            <a:ext cx="1874160" cy="120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Oval 8"/>
          <p:cNvSpPr/>
          <p:nvPr/>
        </p:nvSpPr>
        <p:spPr>
          <a:xfrm>
            <a:off x="621720" y="1316880"/>
            <a:ext cx="347040" cy="347040"/>
          </a:xfrm>
          <a:prstGeom prst="ellipse">
            <a:avLst/>
          </a:prstGeom>
          <a:solidFill>
            <a:srgbClr val="15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9"/>
          <p:cNvSpPr/>
          <p:nvPr/>
        </p:nvSpPr>
        <p:spPr>
          <a:xfrm>
            <a:off x="621720" y="1357920"/>
            <a:ext cx="3470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1</a:t>
            </a:r>
            <a:endParaRPr lang="zxx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1033200" y="1344240"/>
            <a:ext cx="12157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60" b="1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Аннотация KITTI</a:t>
            </a:r>
            <a:endParaRPr lang="zxx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1"/>
          <p:cNvSpPr/>
          <p:nvPr/>
        </p:nvSpPr>
        <p:spPr>
          <a:xfrm>
            <a:off x="685800" y="1774080"/>
            <a:ext cx="15084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r>
              <a:rPr lang="zxx" sz="1130" b="0" u="none" strike="noStrike">
                <a:solidFill>
                  <a:srgbClr val="5F6978"/>
                </a:solidFill>
                <a:effectLst/>
                <a:uFillTx/>
                <a:latin typeface="Aptos"/>
                <a:ea typeface="Calibri"/>
              </a:rPr>
              <a:t>class, bbox,</a:t>
            </a:r>
            <a:endParaRPr lang="zxx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30" b="0" u="none" strike="noStrike">
                <a:solidFill>
                  <a:srgbClr val="5F6978"/>
                </a:solidFill>
                <a:effectLst/>
                <a:uFillTx/>
                <a:latin typeface="Aptos"/>
                <a:ea typeface="Calibri"/>
              </a:rPr>
              <a:t>3D position</a:t>
            </a:r>
            <a:endParaRPr lang="zxx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7" name="Connector 12"/>
          <p:cNvCxnSpPr/>
          <p:nvPr/>
        </p:nvCxnSpPr>
        <p:spPr>
          <a:xfrm>
            <a:off x="2404800" y="1792080"/>
            <a:ext cx="274680" cy="360"/>
          </a:xfrm>
          <a:prstGeom prst="straightConnector1">
            <a:avLst/>
          </a:prstGeom>
          <a:ln w="22860">
            <a:solidFill>
              <a:srgbClr val="7896BE"/>
            </a:solidFill>
            <a:round/>
          </a:ln>
        </p:spPr>
      </p:cxnSp>
      <p:sp>
        <p:nvSpPr>
          <p:cNvPr id="108" name="Rounded Rectangle 13"/>
          <p:cNvSpPr/>
          <p:nvPr/>
        </p:nvSpPr>
        <p:spPr>
          <a:xfrm>
            <a:off x="2761560" y="1188720"/>
            <a:ext cx="1874160" cy="120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Oval 14"/>
          <p:cNvSpPr/>
          <p:nvPr/>
        </p:nvSpPr>
        <p:spPr>
          <a:xfrm>
            <a:off x="2880360" y="1316880"/>
            <a:ext cx="347040" cy="347040"/>
          </a:xfrm>
          <a:prstGeom prst="ellipse">
            <a:avLst/>
          </a:prstGeom>
          <a:solidFill>
            <a:srgbClr val="15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15"/>
          <p:cNvSpPr/>
          <p:nvPr/>
        </p:nvSpPr>
        <p:spPr>
          <a:xfrm>
            <a:off x="2880360" y="1357920"/>
            <a:ext cx="3470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2</a:t>
            </a:r>
            <a:endParaRPr lang="zxx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6"/>
          <p:cNvSpPr/>
          <p:nvPr/>
        </p:nvSpPr>
        <p:spPr>
          <a:xfrm>
            <a:off x="3291840" y="1344240"/>
            <a:ext cx="12157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60" b="1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Строка сцены</a:t>
            </a:r>
            <a:endParaRPr lang="zxx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7"/>
          <p:cNvSpPr/>
          <p:nvPr/>
        </p:nvSpPr>
        <p:spPr>
          <a:xfrm>
            <a:off x="2944440" y="1774080"/>
            <a:ext cx="15084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r>
              <a:rPr lang="zxx" sz="1130" b="0" u="none" strike="noStrike">
                <a:solidFill>
                  <a:srgbClr val="5F6978"/>
                </a:solidFill>
                <a:effectLst/>
                <a:uFillTx/>
                <a:latin typeface="Aptos"/>
                <a:ea typeface="Calibri"/>
              </a:rPr>
              <a:t>distance, lateral</a:t>
            </a:r>
            <a:endParaRPr lang="zxx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30" b="0" u="none" strike="noStrike">
                <a:solidFill>
                  <a:srgbClr val="5F6978"/>
                </a:solidFill>
                <a:effectLst/>
                <a:uFillTx/>
                <a:latin typeface="Aptos"/>
                <a:ea typeface="Calibri"/>
              </a:rPr>
              <a:t>position</a:t>
            </a:r>
            <a:endParaRPr lang="zxx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3" name="Connector 18"/>
          <p:cNvCxnSpPr/>
          <p:nvPr/>
        </p:nvCxnSpPr>
        <p:spPr>
          <a:xfrm>
            <a:off x="4663440" y="1792080"/>
            <a:ext cx="274320" cy="360"/>
          </a:xfrm>
          <a:prstGeom prst="straightConnector1">
            <a:avLst/>
          </a:prstGeom>
          <a:ln w="22860">
            <a:solidFill>
              <a:srgbClr val="7896BE"/>
            </a:solidFill>
            <a:round/>
          </a:ln>
        </p:spPr>
      </p:cxnSp>
      <p:sp>
        <p:nvSpPr>
          <p:cNvPr id="114" name="Rounded Rectangle 19"/>
          <p:cNvSpPr/>
          <p:nvPr/>
        </p:nvSpPr>
        <p:spPr>
          <a:xfrm>
            <a:off x="5020200" y="1188720"/>
            <a:ext cx="1874160" cy="120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Oval 20"/>
          <p:cNvSpPr/>
          <p:nvPr/>
        </p:nvSpPr>
        <p:spPr>
          <a:xfrm>
            <a:off x="5139000" y="1316880"/>
            <a:ext cx="347040" cy="347040"/>
          </a:xfrm>
          <a:prstGeom prst="ellipse">
            <a:avLst/>
          </a:prstGeom>
          <a:solidFill>
            <a:srgbClr val="15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Box 21"/>
          <p:cNvSpPr/>
          <p:nvPr/>
        </p:nvSpPr>
        <p:spPr>
          <a:xfrm>
            <a:off x="5139000" y="1357920"/>
            <a:ext cx="3470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3</a:t>
            </a:r>
            <a:endParaRPr lang="zxx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22"/>
          <p:cNvSpPr/>
          <p:nvPr/>
        </p:nvSpPr>
        <p:spPr>
          <a:xfrm>
            <a:off x="5550480" y="1344240"/>
            <a:ext cx="121572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60" b="1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Надежность</a:t>
            </a:r>
            <a:endParaRPr lang="zxx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23"/>
          <p:cNvSpPr/>
          <p:nvPr/>
        </p:nvSpPr>
        <p:spPr>
          <a:xfrm>
            <a:off x="5203080" y="1774080"/>
            <a:ext cx="15084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r>
              <a:rPr lang="zxx" sz="1130" b="0" u="none" strike="noStrike">
                <a:solidFill>
                  <a:srgbClr val="5F6978"/>
                </a:solidFill>
                <a:effectLst/>
                <a:uFillTx/>
                <a:latin typeface="Aptos"/>
                <a:ea typeface="Calibri"/>
              </a:rPr>
              <a:t>occlusion,</a:t>
            </a:r>
            <a:endParaRPr lang="zxx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30" b="0" u="none" strike="noStrike">
                <a:solidFill>
                  <a:srgbClr val="5F6978"/>
                </a:solidFill>
                <a:effectLst/>
                <a:uFillTx/>
                <a:latin typeface="Aptos"/>
                <a:ea typeface="Calibri"/>
              </a:rPr>
              <a:t>truncation</a:t>
            </a:r>
            <a:endParaRPr lang="zxx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9" name="Connector 24"/>
          <p:cNvCxnSpPr/>
          <p:nvPr/>
        </p:nvCxnSpPr>
        <p:spPr>
          <a:xfrm>
            <a:off x="6921720" y="1792080"/>
            <a:ext cx="274680" cy="360"/>
          </a:xfrm>
          <a:prstGeom prst="straightConnector1">
            <a:avLst/>
          </a:prstGeom>
          <a:ln w="22860">
            <a:solidFill>
              <a:srgbClr val="7896BE"/>
            </a:solidFill>
            <a:round/>
          </a:ln>
        </p:spPr>
      </p:cxnSp>
      <p:sp>
        <p:nvSpPr>
          <p:cNvPr id="120" name="Rounded Rectangle 25"/>
          <p:cNvSpPr/>
          <p:nvPr/>
        </p:nvSpPr>
        <p:spPr>
          <a:xfrm>
            <a:off x="7278480" y="1188720"/>
            <a:ext cx="1874160" cy="120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Oval 26"/>
          <p:cNvSpPr/>
          <p:nvPr/>
        </p:nvSpPr>
        <p:spPr>
          <a:xfrm>
            <a:off x="7397640" y="1316880"/>
            <a:ext cx="347040" cy="347040"/>
          </a:xfrm>
          <a:prstGeom prst="ellipse">
            <a:avLst/>
          </a:prstGeom>
          <a:solidFill>
            <a:srgbClr val="15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27"/>
          <p:cNvSpPr/>
          <p:nvPr/>
        </p:nvSpPr>
        <p:spPr>
          <a:xfrm>
            <a:off x="7397640" y="1357920"/>
            <a:ext cx="3470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4</a:t>
            </a:r>
            <a:endParaRPr lang="zxx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28"/>
          <p:cNvSpPr/>
          <p:nvPr/>
        </p:nvSpPr>
        <p:spPr>
          <a:xfrm>
            <a:off x="7809120" y="1344240"/>
            <a:ext cx="121572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60" b="1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Риск</a:t>
            </a:r>
            <a:endParaRPr lang="zxx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9"/>
          <p:cNvSpPr/>
          <p:nvPr/>
        </p:nvSpPr>
        <p:spPr>
          <a:xfrm>
            <a:off x="7461360" y="1774080"/>
            <a:ext cx="15084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r>
              <a:rPr lang="zxx" sz="1130" b="0" u="none" strike="noStrike">
                <a:solidFill>
                  <a:srgbClr val="5F6978"/>
                </a:solidFill>
                <a:effectLst/>
                <a:uFillTx/>
                <a:latin typeface="Aptos"/>
                <a:ea typeface="Calibri"/>
              </a:rPr>
              <a:t>уязвимый класс,</a:t>
            </a:r>
            <a:endParaRPr lang="zxx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30" b="0" u="none" strike="noStrike">
                <a:solidFill>
                  <a:srgbClr val="5F6978"/>
                </a:solidFill>
                <a:effectLst/>
                <a:uFillTx/>
                <a:latin typeface="Aptos"/>
                <a:ea typeface="Calibri"/>
              </a:rPr>
              <a:t>близость</a:t>
            </a:r>
            <a:endParaRPr lang="zxx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Connector 30"/>
          <p:cNvCxnSpPr/>
          <p:nvPr/>
        </p:nvCxnSpPr>
        <p:spPr>
          <a:xfrm>
            <a:off x="9180360" y="1792080"/>
            <a:ext cx="274680" cy="360"/>
          </a:xfrm>
          <a:prstGeom prst="straightConnector1">
            <a:avLst/>
          </a:prstGeom>
          <a:ln w="22860">
            <a:solidFill>
              <a:srgbClr val="7896BE"/>
            </a:solidFill>
            <a:round/>
          </a:ln>
        </p:spPr>
      </p:cxnSp>
      <p:sp>
        <p:nvSpPr>
          <p:cNvPr id="126" name="Rounded Rectangle 31"/>
          <p:cNvSpPr/>
          <p:nvPr/>
        </p:nvSpPr>
        <p:spPr>
          <a:xfrm>
            <a:off x="9537120" y="1188720"/>
            <a:ext cx="1874160" cy="120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Oval 32"/>
          <p:cNvSpPr/>
          <p:nvPr/>
        </p:nvSpPr>
        <p:spPr>
          <a:xfrm>
            <a:off x="9655920" y="1316880"/>
            <a:ext cx="347040" cy="347040"/>
          </a:xfrm>
          <a:prstGeom prst="ellipse">
            <a:avLst/>
          </a:prstGeom>
          <a:solidFill>
            <a:srgbClr val="15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33"/>
          <p:cNvSpPr/>
          <p:nvPr/>
        </p:nvSpPr>
        <p:spPr>
          <a:xfrm>
            <a:off x="9655920" y="1357920"/>
            <a:ext cx="3470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5</a:t>
            </a:r>
            <a:endParaRPr lang="zxx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34"/>
          <p:cNvSpPr/>
          <p:nvPr/>
        </p:nvSpPr>
        <p:spPr>
          <a:xfrm>
            <a:off x="10067400" y="1344240"/>
            <a:ext cx="121572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60" b="1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Ответ</a:t>
            </a:r>
            <a:endParaRPr lang="zxx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35"/>
          <p:cNvSpPr/>
          <p:nvPr/>
        </p:nvSpPr>
        <p:spPr>
          <a:xfrm>
            <a:off x="9720000" y="1774080"/>
            <a:ext cx="15084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r>
              <a:rPr lang="zxx" sz="1130" b="0" u="none" strike="noStrike">
                <a:solidFill>
                  <a:srgbClr val="5F6978"/>
                </a:solidFill>
                <a:effectLst/>
                <a:uFillTx/>
                <a:latin typeface="Aptos"/>
                <a:ea typeface="Calibri"/>
              </a:rPr>
              <a:t>critical_scene</a:t>
            </a:r>
            <a:endParaRPr lang="zxx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30" b="0" u="none" strike="noStrike">
                <a:solidFill>
                  <a:srgbClr val="5F6978"/>
                </a:solidFill>
                <a:effectLst/>
                <a:uFillTx/>
                <a:latin typeface="Aptos"/>
                <a:ea typeface="Calibri"/>
              </a:rPr>
              <a:t>или норма</a:t>
            </a:r>
            <a:endParaRPr lang="zxx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36"/>
          <p:cNvSpPr/>
          <p:nvPr/>
        </p:nvSpPr>
        <p:spPr>
          <a:xfrm>
            <a:off x="594360" y="2743200"/>
            <a:ext cx="5348880" cy="1325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Rectangle 37"/>
          <p:cNvSpPr/>
          <p:nvPr/>
        </p:nvSpPr>
        <p:spPr>
          <a:xfrm>
            <a:off x="594360" y="2743200"/>
            <a:ext cx="72720" cy="1325520"/>
          </a:xfrm>
          <a:prstGeom prst="rect">
            <a:avLst/>
          </a:prstGeom>
          <a:solidFill>
            <a:srgbClr val="15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38"/>
          <p:cNvSpPr/>
          <p:nvPr/>
        </p:nvSpPr>
        <p:spPr>
          <a:xfrm>
            <a:off x="795600" y="2871360"/>
            <a:ext cx="494640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20" b="1" u="none" strike="noStrike">
                <a:solidFill>
                  <a:srgbClr val="155BB5"/>
                </a:solidFill>
                <a:effectLst/>
                <a:uFillTx/>
                <a:latin typeface="Aptos"/>
                <a:ea typeface="Calibri"/>
              </a:rPr>
              <a:t>Что вносит метод</a:t>
            </a:r>
            <a:endParaRPr lang="zxx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39"/>
          <p:cNvSpPr/>
          <p:nvPr/>
        </p:nvSpPr>
        <p:spPr>
          <a:xfrm>
            <a:off x="795600" y="3200400"/>
            <a:ext cx="49464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1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Обычная детекция отвечает, какой объект найден. Здесь добавлен второй уровень: насколько сцена рискованна и насколько надежно ее наблюдение.</a:t>
            </a:r>
            <a:endParaRPr lang="zxx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40"/>
          <p:cNvSpPr/>
          <p:nvPr/>
        </p:nvSpPr>
        <p:spPr>
          <a:xfrm>
            <a:off x="6263640" y="2743200"/>
            <a:ext cx="5348880" cy="1325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Rectangle 41"/>
          <p:cNvSpPr/>
          <p:nvPr/>
        </p:nvSpPr>
        <p:spPr>
          <a:xfrm>
            <a:off x="6263640" y="2743200"/>
            <a:ext cx="72720" cy="1325520"/>
          </a:xfrm>
          <a:prstGeom prst="rect">
            <a:avLst/>
          </a:prstGeom>
          <a:solidFill>
            <a:srgbClr val="2A84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42"/>
          <p:cNvSpPr/>
          <p:nvPr/>
        </p:nvSpPr>
        <p:spPr>
          <a:xfrm>
            <a:off x="6464880" y="2871360"/>
            <a:ext cx="494640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20" b="1" u="none" strike="noStrike">
                <a:solidFill>
                  <a:srgbClr val="2A8469"/>
                </a:solidFill>
                <a:effectLst/>
                <a:uFillTx/>
                <a:latin typeface="Aptos"/>
                <a:ea typeface="Calibri"/>
              </a:rPr>
              <a:t>Новизна для ADAS</a:t>
            </a:r>
            <a:endParaRPr lang="zxx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43"/>
          <p:cNvSpPr/>
          <p:nvPr/>
        </p:nvSpPr>
        <p:spPr>
          <a:xfrm>
            <a:off x="6464880" y="3200400"/>
            <a:ext cx="49464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1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critical_scene описывается как сочетание геометрической близости, класса объекта, occlusion, truncation и признаков неопределенности.</a:t>
            </a:r>
            <a:endParaRPr lang="zxx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ounded Rectangle 44"/>
          <p:cNvSpPr/>
          <p:nvPr/>
        </p:nvSpPr>
        <p:spPr>
          <a:xfrm>
            <a:off x="594360" y="4434840"/>
            <a:ext cx="5348880" cy="1078560"/>
          </a:xfrm>
          <a:prstGeom prst="roundRect">
            <a:avLst>
              <a:gd name="adj" fmla="val 16667"/>
            </a:avLst>
          </a:prstGeom>
          <a:solidFill>
            <a:srgbClr val="E7F0FD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Rectangle 45"/>
          <p:cNvSpPr/>
          <p:nvPr/>
        </p:nvSpPr>
        <p:spPr>
          <a:xfrm>
            <a:off x="594360" y="4434840"/>
            <a:ext cx="72720" cy="1078560"/>
          </a:xfrm>
          <a:prstGeom prst="rect">
            <a:avLst/>
          </a:prstGeom>
          <a:solidFill>
            <a:srgbClr val="E78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46"/>
          <p:cNvSpPr/>
          <p:nvPr/>
        </p:nvSpPr>
        <p:spPr>
          <a:xfrm>
            <a:off x="795600" y="4563000"/>
            <a:ext cx="494640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20" b="1" u="none" strike="noStrike">
                <a:solidFill>
                  <a:srgbClr val="E78B2C"/>
                </a:solidFill>
                <a:effectLst/>
                <a:uFillTx/>
                <a:latin typeface="Aptos"/>
                <a:ea typeface="Calibri"/>
              </a:rPr>
              <a:t>Как проверяется корректность</a:t>
            </a:r>
            <a:endParaRPr lang="zxx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47"/>
          <p:cNvSpPr/>
          <p:nvPr/>
        </p:nvSpPr>
        <p:spPr>
          <a:xfrm>
            <a:off x="795600" y="4892040"/>
            <a:ext cx="4946400" cy="5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9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Метка задается до обучения. Порог выбирается на validation. Test используется только для финальной проверки.</a:t>
            </a:r>
            <a:endParaRPr lang="zxx" sz="11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ounded Rectangle 48"/>
          <p:cNvSpPr/>
          <p:nvPr/>
        </p:nvSpPr>
        <p:spPr>
          <a:xfrm>
            <a:off x="6263640" y="4434840"/>
            <a:ext cx="5348880" cy="1078560"/>
          </a:xfrm>
          <a:prstGeom prst="roundRect">
            <a:avLst>
              <a:gd name="adj" fmla="val 16667"/>
            </a:avLst>
          </a:prstGeom>
          <a:solidFill>
            <a:srgbClr val="E7F0FD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ectangle 49"/>
          <p:cNvSpPr/>
          <p:nvPr/>
        </p:nvSpPr>
        <p:spPr>
          <a:xfrm>
            <a:off x="6263640" y="4434840"/>
            <a:ext cx="72720" cy="1078560"/>
          </a:xfrm>
          <a:prstGeom prst="rect">
            <a:avLst/>
          </a:prstGeom>
          <a:solidFill>
            <a:srgbClr val="CA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50"/>
          <p:cNvSpPr/>
          <p:nvPr/>
        </p:nvSpPr>
        <p:spPr>
          <a:xfrm>
            <a:off x="6464880" y="4563000"/>
            <a:ext cx="494640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20" b="1" u="none" strike="noStrike">
                <a:solidFill>
                  <a:srgbClr val="CA4646"/>
                </a:solidFill>
                <a:effectLst/>
                <a:uFillTx/>
                <a:latin typeface="Aptos"/>
                <a:ea typeface="Calibri"/>
              </a:rPr>
              <a:t>Что получает инженер</a:t>
            </a:r>
            <a:endParaRPr lang="zxx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51"/>
          <p:cNvSpPr/>
          <p:nvPr/>
        </p:nvSpPr>
        <p:spPr>
          <a:xfrm>
            <a:off x="6464880" y="4892040"/>
            <a:ext cx="49464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9000" rIns="45720" bIns="9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9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Флаг осторожного режима: сцену стоит перепроверить или добавить в набор сложных примеров.</a:t>
            </a:r>
            <a:endParaRPr lang="zxx" sz="11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2"/>
          <p:cNvSpPr/>
          <p:nvPr/>
        </p:nvSpPr>
        <p:spPr>
          <a:xfrm>
            <a:off x="411480" y="201240"/>
            <a:ext cx="671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5F7082"/>
                </a:solidFill>
                <a:effectLst/>
                <a:uFillTx/>
                <a:latin typeface="Arial"/>
                <a:ea typeface="Calibri"/>
              </a:rPr>
              <a:t>НИ ТГУ · ИДО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3"/>
          <p:cNvSpPr/>
          <p:nvPr/>
        </p:nvSpPr>
        <p:spPr>
          <a:xfrm>
            <a:off x="11509200" y="201240"/>
            <a:ext cx="57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5F7082"/>
                </a:solidFill>
                <a:effectLst/>
                <a:uFillTx/>
                <a:latin typeface="Arial"/>
                <a:ea typeface="Calibri"/>
              </a:rPr>
              <a:t>6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4"/>
          <p:cNvSpPr/>
          <p:nvPr/>
        </p:nvSpPr>
        <p:spPr>
          <a:xfrm>
            <a:off x="658440" y="621720"/>
            <a:ext cx="872496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2700" b="1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Код и результаты можно проверить в репозитории</a:t>
            </a:r>
            <a:endParaRPr lang="zxx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5"/>
          <p:cNvSpPr/>
          <p:nvPr/>
        </p:nvSpPr>
        <p:spPr>
          <a:xfrm>
            <a:off x="594360" y="1261800"/>
            <a:ext cx="10972440" cy="1371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CC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Rounded Rectangle 6"/>
          <p:cNvSpPr/>
          <p:nvPr/>
        </p:nvSpPr>
        <p:spPr>
          <a:xfrm>
            <a:off x="877680" y="1554480"/>
            <a:ext cx="1599840" cy="658080"/>
          </a:xfrm>
          <a:prstGeom prst="roundRect">
            <a:avLst>
              <a:gd name="adj" fmla="val 16667"/>
            </a:avLst>
          </a:prstGeom>
          <a:solidFill>
            <a:srgbClr val="E6EFFB"/>
          </a:solidFill>
          <a:ln w="15240">
            <a:solidFill>
              <a:srgbClr val="A9C2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TextBox 7"/>
          <p:cNvSpPr/>
          <p:nvPr/>
        </p:nvSpPr>
        <p:spPr>
          <a:xfrm>
            <a:off x="1223640" y="1700640"/>
            <a:ext cx="90756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2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prepare_data.py</a:t>
            </a:r>
            <a:endParaRPr lang="zxx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8"/>
          <p:cNvSpPr/>
          <p:nvPr/>
        </p:nvSpPr>
        <p:spPr>
          <a:xfrm>
            <a:off x="1145880" y="1956960"/>
            <a:ext cx="106308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20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KITTI → таблица сцен</a:t>
            </a:r>
            <a:endParaRPr lang="zxx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ight Arrow 9"/>
          <p:cNvSpPr/>
          <p:nvPr/>
        </p:nvSpPr>
        <p:spPr>
          <a:xfrm>
            <a:off x="2578680" y="1755720"/>
            <a:ext cx="356400" cy="164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1A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080" rIns="90000" bIns="3708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Rounded Rectangle 10"/>
          <p:cNvSpPr/>
          <p:nvPr/>
        </p:nvSpPr>
        <p:spPr>
          <a:xfrm>
            <a:off x="3054240" y="1554480"/>
            <a:ext cx="1599840" cy="658080"/>
          </a:xfrm>
          <a:prstGeom prst="roundRect">
            <a:avLst>
              <a:gd name="adj" fmla="val 16667"/>
            </a:avLst>
          </a:prstGeom>
          <a:solidFill>
            <a:srgbClr val="E6EFFB"/>
          </a:solidFill>
          <a:ln w="15240">
            <a:solidFill>
              <a:srgbClr val="A9C2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11"/>
          <p:cNvSpPr/>
          <p:nvPr/>
        </p:nvSpPr>
        <p:spPr>
          <a:xfrm>
            <a:off x="3641400" y="1700640"/>
            <a:ext cx="424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2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train.py</a:t>
            </a:r>
            <a:endParaRPr lang="zxx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12"/>
          <p:cNvSpPr/>
          <p:nvPr/>
        </p:nvSpPr>
        <p:spPr>
          <a:xfrm>
            <a:off x="3404520" y="1956960"/>
            <a:ext cx="89820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20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обучение моделей</a:t>
            </a:r>
            <a:endParaRPr lang="zxx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ight Arrow 13"/>
          <p:cNvSpPr/>
          <p:nvPr/>
        </p:nvSpPr>
        <p:spPr>
          <a:xfrm>
            <a:off x="4754880" y="1755720"/>
            <a:ext cx="356400" cy="164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1A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080" rIns="90000" bIns="3708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Rounded Rectangle 14"/>
          <p:cNvSpPr/>
          <p:nvPr/>
        </p:nvSpPr>
        <p:spPr>
          <a:xfrm>
            <a:off x="5230440" y="1554480"/>
            <a:ext cx="1599840" cy="658080"/>
          </a:xfrm>
          <a:prstGeom prst="roundRect">
            <a:avLst>
              <a:gd name="adj" fmla="val 16667"/>
            </a:avLst>
          </a:prstGeom>
          <a:solidFill>
            <a:srgbClr val="E6EFFB"/>
          </a:solidFill>
          <a:ln w="15240">
            <a:solidFill>
              <a:srgbClr val="A9C2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Box 15"/>
          <p:cNvSpPr/>
          <p:nvPr/>
        </p:nvSpPr>
        <p:spPr>
          <a:xfrm>
            <a:off x="5709960" y="1700640"/>
            <a:ext cx="64044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2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evaluate.py</a:t>
            </a:r>
            <a:endParaRPr lang="zxx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16"/>
          <p:cNvSpPr/>
          <p:nvPr/>
        </p:nvSpPr>
        <p:spPr>
          <a:xfrm>
            <a:off x="5595480" y="1956960"/>
            <a:ext cx="86940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20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метрики и ошибки</a:t>
            </a:r>
            <a:endParaRPr lang="zxx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ight Arrow 17"/>
          <p:cNvSpPr/>
          <p:nvPr/>
        </p:nvSpPr>
        <p:spPr>
          <a:xfrm>
            <a:off x="6931080" y="1755720"/>
            <a:ext cx="356400" cy="164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1A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080" rIns="90000" bIns="3708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Rounded Rectangle 18"/>
          <p:cNvSpPr/>
          <p:nvPr/>
        </p:nvSpPr>
        <p:spPr>
          <a:xfrm>
            <a:off x="7406640" y="1554480"/>
            <a:ext cx="1599840" cy="658080"/>
          </a:xfrm>
          <a:prstGeom prst="roundRect">
            <a:avLst>
              <a:gd name="adj" fmla="val 16667"/>
            </a:avLst>
          </a:prstGeom>
          <a:solidFill>
            <a:srgbClr val="E6EFFB"/>
          </a:solidFill>
          <a:ln w="15240">
            <a:solidFill>
              <a:srgbClr val="A9C2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19"/>
          <p:cNvSpPr/>
          <p:nvPr/>
        </p:nvSpPr>
        <p:spPr>
          <a:xfrm>
            <a:off x="7742880" y="1700640"/>
            <a:ext cx="92736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2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make_figures.py</a:t>
            </a:r>
            <a:endParaRPr lang="zxx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0"/>
          <p:cNvSpPr/>
          <p:nvPr/>
        </p:nvSpPr>
        <p:spPr>
          <a:xfrm>
            <a:off x="7731360" y="1956960"/>
            <a:ext cx="95004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20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графики для отчета</a:t>
            </a:r>
            <a:endParaRPr lang="zxx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ight Arrow 21"/>
          <p:cNvSpPr/>
          <p:nvPr/>
        </p:nvSpPr>
        <p:spPr>
          <a:xfrm>
            <a:off x="9107280" y="1755720"/>
            <a:ext cx="356400" cy="164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1A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080" rIns="90000" bIns="3708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Rounded Rectangle 22"/>
          <p:cNvSpPr/>
          <p:nvPr/>
        </p:nvSpPr>
        <p:spPr>
          <a:xfrm>
            <a:off x="9582840" y="1554480"/>
            <a:ext cx="1599840" cy="658080"/>
          </a:xfrm>
          <a:prstGeom prst="roundRect">
            <a:avLst>
              <a:gd name="adj" fmla="val 16667"/>
            </a:avLst>
          </a:prstGeom>
          <a:solidFill>
            <a:srgbClr val="E6EFFB"/>
          </a:solidFill>
          <a:ln w="15240">
            <a:solidFill>
              <a:srgbClr val="A9C2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23"/>
          <p:cNvSpPr/>
          <p:nvPr/>
        </p:nvSpPr>
        <p:spPr>
          <a:xfrm>
            <a:off x="9893160" y="1700640"/>
            <a:ext cx="9792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2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export_results.py</a:t>
            </a:r>
            <a:endParaRPr lang="zxx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24"/>
          <p:cNvSpPr/>
          <p:nvPr/>
        </p:nvSpPr>
        <p:spPr>
          <a:xfrm>
            <a:off x="9978840" y="1956960"/>
            <a:ext cx="80784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20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итоговые файлы</a:t>
            </a:r>
            <a:endParaRPr lang="zxx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25"/>
          <p:cNvSpPr/>
          <p:nvPr/>
        </p:nvSpPr>
        <p:spPr>
          <a:xfrm>
            <a:off x="594360" y="2971800"/>
            <a:ext cx="229860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70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В репозитории лежат</a:t>
            </a:r>
            <a:endParaRPr lang="zxx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ounded Rectangle 26"/>
          <p:cNvSpPr/>
          <p:nvPr/>
        </p:nvSpPr>
        <p:spPr>
          <a:xfrm>
            <a:off x="594360" y="3456360"/>
            <a:ext cx="4315680" cy="356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CC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27"/>
          <p:cNvSpPr/>
          <p:nvPr/>
        </p:nvSpPr>
        <p:spPr>
          <a:xfrm>
            <a:off x="795600" y="3566160"/>
            <a:ext cx="80568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6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data/processed</a:t>
            </a:r>
            <a:endParaRPr lang="zxx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28"/>
          <p:cNvSpPr/>
          <p:nvPr/>
        </p:nvSpPr>
        <p:spPr>
          <a:xfrm>
            <a:off x="2331720" y="3566160"/>
            <a:ext cx="129060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30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таблица сцен и разбиение</a:t>
            </a:r>
            <a:endParaRPr lang="zxx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ounded Rectangle 29"/>
          <p:cNvSpPr/>
          <p:nvPr/>
        </p:nvSpPr>
        <p:spPr>
          <a:xfrm>
            <a:off x="594360" y="3968640"/>
            <a:ext cx="4315680" cy="356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CC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30"/>
          <p:cNvSpPr/>
          <p:nvPr/>
        </p:nvSpPr>
        <p:spPr>
          <a:xfrm>
            <a:off x="795600" y="4078080"/>
            <a:ext cx="36072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6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results</a:t>
            </a:r>
            <a:endParaRPr lang="zxx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31"/>
          <p:cNvSpPr/>
          <p:nvPr/>
        </p:nvSpPr>
        <p:spPr>
          <a:xfrm>
            <a:off x="2331720" y="4078080"/>
            <a:ext cx="15886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30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metrics, confusion matrix, ошибки</a:t>
            </a:r>
            <a:endParaRPr lang="zxx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ounded Rectangle 32"/>
          <p:cNvSpPr/>
          <p:nvPr/>
        </p:nvSpPr>
        <p:spPr>
          <a:xfrm>
            <a:off x="594360" y="4480560"/>
            <a:ext cx="4315680" cy="356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CC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33"/>
          <p:cNvSpPr/>
          <p:nvPr/>
        </p:nvSpPr>
        <p:spPr>
          <a:xfrm>
            <a:off x="795600" y="4590360"/>
            <a:ext cx="36648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6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figures</a:t>
            </a:r>
            <a:endParaRPr lang="zxx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34"/>
          <p:cNvSpPr/>
          <p:nvPr/>
        </p:nvSpPr>
        <p:spPr>
          <a:xfrm>
            <a:off x="2331720" y="4590360"/>
            <a:ext cx="158112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30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графики для ВКР и презентации</a:t>
            </a:r>
            <a:endParaRPr lang="zxx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ounded Rectangle 35"/>
          <p:cNvSpPr/>
          <p:nvPr/>
        </p:nvSpPr>
        <p:spPr>
          <a:xfrm>
            <a:off x="594360" y="4992480"/>
            <a:ext cx="4315680" cy="356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CC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36"/>
          <p:cNvSpPr/>
          <p:nvPr/>
        </p:nvSpPr>
        <p:spPr>
          <a:xfrm>
            <a:off x="795600" y="5102280"/>
            <a:ext cx="2264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6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final</a:t>
            </a:r>
            <a:endParaRPr lang="zxx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37"/>
          <p:cNvSpPr/>
          <p:nvPr/>
        </p:nvSpPr>
        <p:spPr>
          <a:xfrm>
            <a:off x="2331720" y="5102280"/>
            <a:ext cx="124776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30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PDF, PPTX и приложение</a:t>
            </a:r>
            <a:endParaRPr lang="zxx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38"/>
          <p:cNvSpPr/>
          <p:nvPr/>
        </p:nvSpPr>
        <p:spPr>
          <a:xfrm>
            <a:off x="5102280" y="2999160"/>
            <a:ext cx="3520080" cy="251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CC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39"/>
          <p:cNvSpPr/>
          <p:nvPr/>
        </p:nvSpPr>
        <p:spPr>
          <a:xfrm>
            <a:off x="5394960" y="3319200"/>
            <a:ext cx="310896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52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Почему результат проверяемый</a:t>
            </a:r>
            <a:endParaRPr lang="zxx" sz="1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40"/>
          <p:cNvSpPr/>
          <p:nvPr/>
        </p:nvSpPr>
        <p:spPr>
          <a:xfrm>
            <a:off x="5413320" y="3712320"/>
            <a:ext cx="285372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989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• фиксированное разбиение train / validation / test</a:t>
            </a:r>
            <a:endParaRPr lang="zxx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41"/>
          <p:cNvSpPr/>
          <p:nvPr/>
        </p:nvSpPr>
        <p:spPr>
          <a:xfrm>
            <a:off x="5413320" y="4005000"/>
            <a:ext cx="24465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989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• порог выбирается до просмотра test split</a:t>
            </a:r>
            <a:endParaRPr lang="zxx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42"/>
          <p:cNvSpPr/>
          <p:nvPr/>
        </p:nvSpPr>
        <p:spPr>
          <a:xfrm>
            <a:off x="5413320" y="4297680"/>
            <a:ext cx="20901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989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• числа в слайдах берутся из results</a:t>
            </a:r>
            <a:endParaRPr lang="zxx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43"/>
          <p:cNvSpPr/>
          <p:nvPr/>
        </p:nvSpPr>
        <p:spPr>
          <a:xfrm>
            <a:off x="5413320" y="4590360"/>
            <a:ext cx="214560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989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• ошибки FP/FN сохранены отдельно</a:t>
            </a:r>
            <a:endParaRPr lang="zxx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44"/>
          <p:cNvSpPr/>
          <p:nvPr/>
        </p:nvSpPr>
        <p:spPr>
          <a:xfrm>
            <a:off x="5413320" y="4956120"/>
            <a:ext cx="3029760" cy="3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r>
              <a:rPr lang="zxx" sz="1000" b="1" u="none" strike="noStrike">
                <a:solidFill>
                  <a:srgbClr val="DC442D"/>
                </a:solidFill>
                <a:effectLst/>
                <a:uFillTx/>
                <a:latin typeface="Arial"/>
                <a:ea typeface="Calibri"/>
              </a:rPr>
              <a:t>Граница: модель работает с признаками сцены,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1" u="none" strike="noStrike">
                <a:solidFill>
                  <a:srgbClr val="DC442D"/>
                </a:solidFill>
                <a:effectLst/>
                <a:uFillTx/>
                <a:latin typeface="Arial"/>
                <a:ea typeface="Calibri"/>
              </a:rPr>
              <a:t>а не с сырым видео.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8915400" y="2999160"/>
            <a:ext cx="2651400" cy="251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A9C2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Box 46"/>
          <p:cNvSpPr/>
          <p:nvPr/>
        </p:nvSpPr>
        <p:spPr>
          <a:xfrm>
            <a:off x="9879840" y="3237120"/>
            <a:ext cx="722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700" b="1" u="none" strike="noStrike">
                <a:solidFill>
                  <a:srgbClr val="0052A0"/>
                </a:solidFill>
                <a:effectLst/>
                <a:uFillTx/>
                <a:latin typeface="Arial"/>
                <a:ea typeface="Calibri"/>
              </a:rPr>
              <a:t>GitHub</a:t>
            </a:r>
            <a:endParaRPr lang="zxx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Picture 47" descr="qr-code.png"/>
          <p:cNvPicPr/>
          <p:nvPr/>
        </p:nvPicPr>
        <p:blipFill>
          <a:blip r:embed="rId1"/>
          <a:stretch/>
        </p:blipFill>
        <p:spPr>
          <a:xfrm>
            <a:off x="9399960" y="3584520"/>
            <a:ext cx="1691280" cy="169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Box 48"/>
          <p:cNvSpPr/>
          <p:nvPr/>
        </p:nvSpPr>
        <p:spPr>
          <a:xfrm>
            <a:off x="9630360" y="5321880"/>
            <a:ext cx="125820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30" b="0" u="none" strike="noStrike">
                <a:solidFill>
                  <a:srgbClr val="1E2C3E"/>
                </a:solidFill>
                <a:effectLst/>
                <a:uFillTx/>
                <a:latin typeface="Arial"/>
                <a:ea typeface="Calibri"/>
              </a:rPr>
              <a:t>код, данные и результаты</a:t>
            </a:r>
            <a:endParaRPr lang="zxx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49"/>
          <p:cNvSpPr/>
          <p:nvPr/>
        </p:nvSpPr>
        <p:spPr>
          <a:xfrm>
            <a:off x="411480" y="6537960"/>
            <a:ext cx="1598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5F7082"/>
                </a:solidFill>
                <a:effectLst/>
                <a:uFillTx/>
                <a:latin typeface="Arial"/>
                <a:ea typeface="Calibri"/>
              </a:rPr>
              <a:t>ADAS ScenarioGuard · ВКР · 2026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0"/>
          <p:cNvSpPr/>
          <p:nvPr/>
        </p:nvSpPr>
        <p:spPr>
          <a:xfrm>
            <a:off x="11481840" y="6537960"/>
            <a:ext cx="57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5F7082"/>
                </a:solidFill>
                <a:effectLst/>
                <a:uFillTx/>
                <a:latin typeface="Arial"/>
                <a:ea typeface="Calibri"/>
              </a:rPr>
              <a:t>6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Box 2"/>
          <p:cNvSpPr/>
          <p:nvPr/>
        </p:nvSpPr>
        <p:spPr>
          <a:xfrm>
            <a:off x="594360" y="502920"/>
            <a:ext cx="8832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Данные: реальные аннотации KITTI и честное разбиение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3"/>
          <p:cNvSpPr/>
          <p:nvPr/>
        </p:nvSpPr>
        <p:spPr>
          <a:xfrm>
            <a:off x="320040" y="137160"/>
            <a:ext cx="851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НИ ТГУ · ИДО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4"/>
          <p:cNvSpPr/>
          <p:nvPr/>
        </p:nvSpPr>
        <p:spPr>
          <a:xfrm>
            <a:off x="11283480" y="13716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7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5"/>
          <p:cNvSpPr/>
          <p:nvPr/>
        </p:nvSpPr>
        <p:spPr>
          <a:xfrm>
            <a:off x="320040" y="6446520"/>
            <a:ext cx="177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ADAS ScenarioGuard · ВКР · 2026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6"/>
          <p:cNvSpPr/>
          <p:nvPr/>
        </p:nvSpPr>
        <p:spPr>
          <a:xfrm>
            <a:off x="11283480" y="644652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7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ounded Rectangle 7"/>
          <p:cNvSpPr/>
          <p:nvPr/>
        </p:nvSpPr>
        <p:spPr>
          <a:xfrm>
            <a:off x="685800" y="1234440"/>
            <a:ext cx="1828440" cy="959760"/>
          </a:xfrm>
          <a:prstGeom prst="roundRect">
            <a:avLst>
              <a:gd name="adj" fmla="val 16667"/>
            </a:avLst>
          </a:prstGeom>
          <a:solidFill>
            <a:srgbClr val="E7F0FD"/>
          </a:solidFill>
          <a:ln>
            <a:solidFill>
              <a:srgbClr val="BECD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6408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7481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всего сцен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ounded Rectangle 8"/>
          <p:cNvSpPr/>
          <p:nvPr/>
        </p:nvSpPr>
        <p:spPr>
          <a:xfrm>
            <a:off x="2880360" y="1234440"/>
            <a:ext cx="1828440" cy="959760"/>
          </a:xfrm>
          <a:prstGeom prst="roundRect">
            <a:avLst>
              <a:gd name="adj" fmla="val 16667"/>
            </a:avLst>
          </a:prstGeom>
          <a:solidFill>
            <a:srgbClr val="E8F6EE"/>
          </a:solidFill>
          <a:ln>
            <a:solidFill>
              <a:srgbClr val="BECD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6408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33895E"/>
                </a:solidFill>
                <a:effectLst/>
                <a:uFillTx/>
                <a:latin typeface="Arial"/>
                <a:ea typeface="Calibri"/>
              </a:rPr>
              <a:t>4488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обучение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60%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ounded Rectangle 9"/>
          <p:cNvSpPr/>
          <p:nvPr/>
        </p:nvSpPr>
        <p:spPr>
          <a:xfrm>
            <a:off x="5074920" y="1234440"/>
            <a:ext cx="1828440" cy="959760"/>
          </a:xfrm>
          <a:prstGeom prst="roundRect">
            <a:avLst>
              <a:gd name="adj" fmla="val 16667"/>
            </a:avLst>
          </a:prstGeom>
          <a:solidFill>
            <a:srgbClr val="FFF5E5"/>
          </a:solidFill>
          <a:ln>
            <a:solidFill>
              <a:srgbClr val="BECD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6408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E38B25"/>
                </a:solidFill>
                <a:effectLst/>
                <a:uFillTx/>
                <a:latin typeface="Arial"/>
                <a:ea typeface="Calibri"/>
              </a:rPr>
              <a:t>1496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validation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20%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ounded Rectangle 10"/>
          <p:cNvSpPr/>
          <p:nvPr/>
        </p:nvSpPr>
        <p:spPr>
          <a:xfrm>
            <a:off x="7269480" y="1234440"/>
            <a:ext cx="1828440" cy="959760"/>
          </a:xfrm>
          <a:prstGeom prst="roundRect">
            <a:avLst>
              <a:gd name="adj" fmla="val 16667"/>
            </a:avLst>
          </a:prstGeom>
          <a:solidFill>
            <a:srgbClr val="FFECE8"/>
          </a:solidFill>
          <a:ln>
            <a:solidFill>
              <a:srgbClr val="BECD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6408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CD4A39"/>
                </a:solidFill>
                <a:effectLst/>
                <a:uFillTx/>
                <a:latin typeface="Arial"/>
                <a:ea typeface="Calibri"/>
              </a:rPr>
              <a:t>1497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test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20%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ectangle 11"/>
          <p:cNvSpPr/>
          <p:nvPr/>
        </p:nvSpPr>
        <p:spPr>
          <a:xfrm>
            <a:off x="960120" y="2788920"/>
            <a:ext cx="5978880" cy="383760"/>
          </a:xfrm>
          <a:prstGeom prst="rect">
            <a:avLst/>
          </a:prstGeom>
          <a:solidFill>
            <a:srgbClr val="338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Box 12"/>
          <p:cNvSpPr/>
          <p:nvPr/>
        </p:nvSpPr>
        <p:spPr>
          <a:xfrm>
            <a:off x="960120" y="3227760"/>
            <a:ext cx="5978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train: 4488</a:t>
            </a:r>
            <a:endParaRPr lang="zx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13"/>
          <p:cNvSpPr/>
          <p:nvPr/>
        </p:nvSpPr>
        <p:spPr>
          <a:xfrm>
            <a:off x="6939360" y="2788920"/>
            <a:ext cx="1992600" cy="383760"/>
          </a:xfrm>
          <a:prstGeom prst="rect">
            <a:avLst/>
          </a:prstGeom>
          <a:solidFill>
            <a:srgbClr val="E38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TextBox 14"/>
          <p:cNvSpPr/>
          <p:nvPr/>
        </p:nvSpPr>
        <p:spPr>
          <a:xfrm>
            <a:off x="6939360" y="3227760"/>
            <a:ext cx="199260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validation: 1496</a:t>
            </a:r>
            <a:endParaRPr lang="zx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ectangle 15"/>
          <p:cNvSpPr/>
          <p:nvPr/>
        </p:nvSpPr>
        <p:spPr>
          <a:xfrm>
            <a:off x="8932680" y="2788920"/>
            <a:ext cx="1994040" cy="383760"/>
          </a:xfrm>
          <a:prstGeom prst="rect">
            <a:avLst/>
          </a:prstGeom>
          <a:solidFill>
            <a:srgbClr val="CD4A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" name="TextBox 16"/>
          <p:cNvSpPr/>
          <p:nvPr/>
        </p:nvSpPr>
        <p:spPr>
          <a:xfrm>
            <a:off x="8932680" y="3227760"/>
            <a:ext cx="19940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0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test: 1497</a:t>
            </a:r>
            <a:endParaRPr lang="zxx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ounded Rectangle 17"/>
          <p:cNvSpPr/>
          <p:nvPr/>
        </p:nvSpPr>
        <p:spPr>
          <a:xfrm>
            <a:off x="685800" y="3749040"/>
            <a:ext cx="5120280" cy="1325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18"/>
          <p:cNvSpPr/>
          <p:nvPr/>
        </p:nvSpPr>
        <p:spPr>
          <a:xfrm>
            <a:off x="914400" y="3950280"/>
            <a:ext cx="461736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50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Почему метка расчетная</a:t>
            </a:r>
            <a:endParaRPr lang="zx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9"/>
          <p:cNvSpPr/>
          <p:nvPr/>
        </p:nvSpPr>
        <p:spPr>
          <a:xfrm>
            <a:off x="914400" y="4370760"/>
            <a:ext cx="46173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5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KITTI содержит class, distance, occlusion и truncation, но не содержит готовый флаг ADAS critical_scene.</a:t>
            </a:r>
            <a:endParaRPr lang="zxx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Rounded Rectangle 20"/>
          <p:cNvSpPr/>
          <p:nvPr/>
        </p:nvSpPr>
        <p:spPr>
          <a:xfrm>
            <a:off x="6263640" y="3749040"/>
            <a:ext cx="4663080" cy="1325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21"/>
          <p:cNvSpPr/>
          <p:nvPr/>
        </p:nvSpPr>
        <p:spPr>
          <a:xfrm>
            <a:off x="6492240" y="3950280"/>
            <a:ext cx="416016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50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Что проверяет эксперимент</a:t>
            </a:r>
            <a:endParaRPr lang="zx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22"/>
          <p:cNvSpPr/>
          <p:nvPr/>
        </p:nvSpPr>
        <p:spPr>
          <a:xfrm>
            <a:off x="6492240" y="4370760"/>
            <a:ext cx="41601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5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Можно ли по признакам сцены заранее выделить случаи, где восприятию нужен осторожный режим.</a:t>
            </a:r>
            <a:endParaRPr lang="zxx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Box 2"/>
          <p:cNvSpPr/>
          <p:nvPr/>
        </p:nvSpPr>
        <p:spPr>
          <a:xfrm>
            <a:off x="594360" y="502920"/>
            <a:ext cx="749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Результат: меньше пропусков критических сцен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3"/>
          <p:cNvSpPr/>
          <p:nvPr/>
        </p:nvSpPr>
        <p:spPr>
          <a:xfrm>
            <a:off x="320040" y="137160"/>
            <a:ext cx="851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НИ ТГУ · ИДО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4"/>
          <p:cNvSpPr/>
          <p:nvPr/>
        </p:nvSpPr>
        <p:spPr>
          <a:xfrm>
            <a:off x="11283480" y="13716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8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5"/>
          <p:cNvSpPr/>
          <p:nvPr/>
        </p:nvSpPr>
        <p:spPr>
          <a:xfrm>
            <a:off x="320040" y="6446520"/>
            <a:ext cx="177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ADAS ScenarioGuard · ВКР · 2026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6"/>
          <p:cNvSpPr/>
          <p:nvPr/>
        </p:nvSpPr>
        <p:spPr>
          <a:xfrm>
            <a:off x="11283480" y="644652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8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Rounded Rectangle 7"/>
          <p:cNvSpPr/>
          <p:nvPr/>
        </p:nvSpPr>
        <p:spPr>
          <a:xfrm>
            <a:off x="594360" y="1143000"/>
            <a:ext cx="5668920" cy="2239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8"/>
          <p:cNvSpPr/>
          <p:nvPr/>
        </p:nvSpPr>
        <p:spPr>
          <a:xfrm>
            <a:off x="868680" y="1325880"/>
            <a:ext cx="51202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50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Сравнение моделей на test split</a:t>
            </a:r>
            <a:endParaRPr lang="zx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9"/>
          <p:cNvSpPr/>
          <p:nvPr/>
        </p:nvSpPr>
        <p:spPr>
          <a:xfrm>
            <a:off x="868680" y="1783080"/>
            <a:ext cx="1462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950" b="1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Модель</a:t>
            </a:r>
            <a:endParaRPr lang="zxx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10"/>
          <p:cNvSpPr/>
          <p:nvPr/>
        </p:nvSpPr>
        <p:spPr>
          <a:xfrm>
            <a:off x="2377440" y="1783080"/>
            <a:ext cx="914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50" b="1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Precision</a:t>
            </a:r>
            <a:endParaRPr lang="zxx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11"/>
          <p:cNvSpPr/>
          <p:nvPr/>
        </p:nvSpPr>
        <p:spPr>
          <a:xfrm>
            <a:off x="3474720" y="1783080"/>
            <a:ext cx="914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50" b="1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Recall</a:t>
            </a:r>
            <a:endParaRPr lang="zxx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12"/>
          <p:cNvSpPr/>
          <p:nvPr/>
        </p:nvSpPr>
        <p:spPr>
          <a:xfrm>
            <a:off x="4480560" y="1783080"/>
            <a:ext cx="6397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50" b="1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F1</a:t>
            </a:r>
            <a:endParaRPr lang="zxx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13"/>
          <p:cNvSpPr/>
          <p:nvPr/>
        </p:nvSpPr>
        <p:spPr>
          <a:xfrm>
            <a:off x="5212080" y="1783080"/>
            <a:ext cx="6397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50" b="1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FNR</a:t>
            </a:r>
            <a:endParaRPr lang="zxx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14"/>
          <p:cNvSpPr/>
          <p:nvPr/>
        </p:nvSpPr>
        <p:spPr>
          <a:xfrm>
            <a:off x="777240" y="2103120"/>
            <a:ext cx="5211720" cy="328680"/>
          </a:xfrm>
          <a:prstGeom prst="rect">
            <a:avLst/>
          </a:prstGeom>
          <a:solidFill>
            <a:srgbClr val="FAFCFF"/>
          </a:solidFill>
          <a:ln>
            <a:solidFill>
              <a:srgbClr val="E1E6E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Box 15"/>
          <p:cNvSpPr/>
          <p:nvPr/>
        </p:nvSpPr>
        <p:spPr>
          <a:xfrm>
            <a:off x="868680" y="2148840"/>
            <a:ext cx="127980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baseline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6"/>
          <p:cNvSpPr/>
          <p:nvPr/>
        </p:nvSpPr>
        <p:spPr>
          <a:xfrm>
            <a:off x="2377440" y="214884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0.876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17"/>
          <p:cNvSpPr/>
          <p:nvPr/>
        </p:nvSpPr>
        <p:spPr>
          <a:xfrm>
            <a:off x="3474720" y="214884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0.913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18"/>
          <p:cNvSpPr/>
          <p:nvPr/>
        </p:nvSpPr>
        <p:spPr>
          <a:xfrm>
            <a:off x="4480560" y="214884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0.894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19"/>
          <p:cNvSpPr/>
          <p:nvPr/>
        </p:nvSpPr>
        <p:spPr>
          <a:xfrm>
            <a:off x="5212080" y="214884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0.087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20"/>
          <p:cNvSpPr/>
          <p:nvPr/>
        </p:nvSpPr>
        <p:spPr>
          <a:xfrm>
            <a:off x="777240" y="2487240"/>
            <a:ext cx="5211720" cy="328680"/>
          </a:xfrm>
          <a:prstGeom prst="rect">
            <a:avLst/>
          </a:prstGeom>
          <a:solidFill>
            <a:srgbClr val="E8F6EE"/>
          </a:solidFill>
          <a:ln>
            <a:solidFill>
              <a:srgbClr val="E1E6E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21"/>
          <p:cNvSpPr/>
          <p:nvPr/>
        </p:nvSpPr>
        <p:spPr>
          <a:xfrm>
            <a:off x="868680" y="2532960"/>
            <a:ext cx="127980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основная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22"/>
          <p:cNvSpPr/>
          <p:nvPr/>
        </p:nvSpPr>
        <p:spPr>
          <a:xfrm>
            <a:off x="2377440" y="253296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0.885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23"/>
          <p:cNvSpPr/>
          <p:nvPr/>
        </p:nvSpPr>
        <p:spPr>
          <a:xfrm>
            <a:off x="3474720" y="253296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0.937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24"/>
          <p:cNvSpPr/>
          <p:nvPr/>
        </p:nvSpPr>
        <p:spPr>
          <a:xfrm>
            <a:off x="4480560" y="253296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0.911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25"/>
          <p:cNvSpPr/>
          <p:nvPr/>
        </p:nvSpPr>
        <p:spPr>
          <a:xfrm>
            <a:off x="5212080" y="253296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0.063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ectangle 26"/>
          <p:cNvSpPr/>
          <p:nvPr/>
        </p:nvSpPr>
        <p:spPr>
          <a:xfrm>
            <a:off x="777240" y="2871360"/>
            <a:ext cx="5211720" cy="328680"/>
          </a:xfrm>
          <a:prstGeom prst="rect">
            <a:avLst/>
          </a:prstGeom>
          <a:solidFill>
            <a:srgbClr val="FAFCFF"/>
          </a:solidFill>
          <a:ln>
            <a:solidFill>
              <a:srgbClr val="E1E6E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27"/>
          <p:cNvSpPr/>
          <p:nvPr/>
        </p:nvSpPr>
        <p:spPr>
          <a:xfrm>
            <a:off x="868680" y="2917080"/>
            <a:ext cx="127980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ablation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28"/>
          <p:cNvSpPr/>
          <p:nvPr/>
        </p:nvSpPr>
        <p:spPr>
          <a:xfrm>
            <a:off x="2377440" y="291708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0.881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29"/>
          <p:cNvSpPr/>
          <p:nvPr/>
        </p:nvSpPr>
        <p:spPr>
          <a:xfrm>
            <a:off x="3474720" y="291708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0.869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30"/>
          <p:cNvSpPr/>
          <p:nvPr/>
        </p:nvSpPr>
        <p:spPr>
          <a:xfrm>
            <a:off x="4480560" y="291708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0.875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1"/>
          <p:cNvSpPr/>
          <p:nvPr/>
        </p:nvSpPr>
        <p:spPr>
          <a:xfrm>
            <a:off x="5212080" y="2917080"/>
            <a:ext cx="6397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93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0.131</a:t>
            </a:r>
            <a:endParaRPr lang="zxx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ounded Rectangle 32"/>
          <p:cNvSpPr/>
          <p:nvPr/>
        </p:nvSpPr>
        <p:spPr>
          <a:xfrm>
            <a:off x="6629400" y="1143000"/>
            <a:ext cx="4800240" cy="2239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Box 33"/>
          <p:cNvSpPr/>
          <p:nvPr/>
        </p:nvSpPr>
        <p:spPr>
          <a:xfrm>
            <a:off x="6903720" y="1325880"/>
            <a:ext cx="42973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500" b="1" u="none" strike="noStrike">
                <a:solidFill>
                  <a:srgbClr val="155BB5"/>
                </a:solidFill>
                <a:effectLst/>
                <a:uFillTx/>
                <a:latin typeface="Arial"/>
                <a:ea typeface="Calibri"/>
              </a:rPr>
              <a:t>Матрица ошибок основной модели</a:t>
            </a:r>
            <a:endParaRPr lang="zx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34"/>
          <p:cNvSpPr/>
          <p:nvPr/>
        </p:nvSpPr>
        <p:spPr>
          <a:xfrm>
            <a:off x="8686800" y="1691640"/>
            <a:ext cx="91404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Предсказано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35"/>
          <p:cNvSpPr/>
          <p:nvPr/>
        </p:nvSpPr>
        <p:spPr>
          <a:xfrm>
            <a:off x="6812280" y="2331720"/>
            <a:ext cx="41112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Факт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36"/>
          <p:cNvSpPr/>
          <p:nvPr/>
        </p:nvSpPr>
        <p:spPr>
          <a:xfrm>
            <a:off x="7315200" y="1828800"/>
            <a:ext cx="1325520" cy="566640"/>
          </a:xfrm>
          <a:prstGeom prst="rect">
            <a:avLst/>
          </a:prstGeom>
          <a:solidFill>
            <a:srgbClr val="FAFC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TextBox 37"/>
          <p:cNvSpPr/>
          <p:nvPr/>
        </p:nvSpPr>
        <p:spPr>
          <a:xfrm>
            <a:off x="7406640" y="1901880"/>
            <a:ext cx="4111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1" u="none" strike="noStrike">
                <a:solidFill>
                  <a:srgbClr val="33895E"/>
                </a:solidFill>
                <a:effectLst/>
                <a:uFillTx/>
                <a:latin typeface="Arial"/>
                <a:ea typeface="Calibri"/>
              </a:rPr>
              <a:t>TP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38"/>
          <p:cNvSpPr/>
          <p:nvPr/>
        </p:nvSpPr>
        <p:spPr>
          <a:xfrm>
            <a:off x="7909560" y="1901880"/>
            <a:ext cx="5482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509</a:t>
            </a:r>
            <a:endParaRPr lang="zxx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39"/>
          <p:cNvSpPr/>
          <p:nvPr/>
        </p:nvSpPr>
        <p:spPr>
          <a:xfrm>
            <a:off x="8641080" y="1828800"/>
            <a:ext cx="1325520" cy="566640"/>
          </a:xfrm>
          <a:prstGeom prst="rect">
            <a:avLst/>
          </a:prstGeom>
          <a:solidFill>
            <a:srgbClr val="FAFC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40"/>
          <p:cNvSpPr/>
          <p:nvPr/>
        </p:nvSpPr>
        <p:spPr>
          <a:xfrm>
            <a:off x="8732520" y="1901880"/>
            <a:ext cx="4111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1" u="none" strike="noStrike">
                <a:solidFill>
                  <a:srgbClr val="CD4A39"/>
                </a:solidFill>
                <a:effectLst/>
                <a:uFillTx/>
                <a:latin typeface="Arial"/>
                <a:ea typeface="Calibri"/>
              </a:rPr>
              <a:t>FN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41"/>
          <p:cNvSpPr/>
          <p:nvPr/>
        </p:nvSpPr>
        <p:spPr>
          <a:xfrm>
            <a:off x="9235440" y="1901880"/>
            <a:ext cx="5482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34</a:t>
            </a:r>
            <a:endParaRPr lang="zxx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Rectangle 42"/>
          <p:cNvSpPr/>
          <p:nvPr/>
        </p:nvSpPr>
        <p:spPr>
          <a:xfrm>
            <a:off x="7315200" y="2395800"/>
            <a:ext cx="1325520" cy="566640"/>
          </a:xfrm>
          <a:prstGeom prst="rect">
            <a:avLst/>
          </a:prstGeom>
          <a:solidFill>
            <a:srgbClr val="FAFC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43"/>
          <p:cNvSpPr/>
          <p:nvPr/>
        </p:nvSpPr>
        <p:spPr>
          <a:xfrm>
            <a:off x="7406640" y="2468880"/>
            <a:ext cx="4111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1" u="none" strike="noStrike">
                <a:solidFill>
                  <a:srgbClr val="E38B25"/>
                </a:solidFill>
                <a:effectLst/>
                <a:uFillTx/>
                <a:latin typeface="Arial"/>
                <a:ea typeface="Calibri"/>
              </a:rPr>
              <a:t>FP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44"/>
          <p:cNvSpPr/>
          <p:nvPr/>
        </p:nvSpPr>
        <p:spPr>
          <a:xfrm>
            <a:off x="7909560" y="2468880"/>
            <a:ext cx="5482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66</a:t>
            </a:r>
            <a:endParaRPr lang="zxx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Rectangle 45"/>
          <p:cNvSpPr/>
          <p:nvPr/>
        </p:nvSpPr>
        <p:spPr>
          <a:xfrm>
            <a:off x="8641080" y="2395800"/>
            <a:ext cx="1325520" cy="566640"/>
          </a:xfrm>
          <a:prstGeom prst="rect">
            <a:avLst/>
          </a:prstGeom>
          <a:solidFill>
            <a:srgbClr val="FAFC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46"/>
          <p:cNvSpPr/>
          <p:nvPr/>
        </p:nvSpPr>
        <p:spPr>
          <a:xfrm>
            <a:off x="8732520" y="2468880"/>
            <a:ext cx="4111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00" b="1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TN</a:t>
            </a:r>
            <a:endParaRPr lang="zxx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47"/>
          <p:cNvSpPr/>
          <p:nvPr/>
        </p:nvSpPr>
        <p:spPr>
          <a:xfrm>
            <a:off x="9235440" y="2468880"/>
            <a:ext cx="54828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888</a:t>
            </a:r>
            <a:endParaRPr lang="zxx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48"/>
          <p:cNvSpPr/>
          <p:nvPr/>
        </p:nvSpPr>
        <p:spPr>
          <a:xfrm>
            <a:off x="6903720" y="3154680"/>
            <a:ext cx="425160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05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F1 = 2 · 0.885 · 0.937 / (0.885 + 0.937) = 0.911</a:t>
            </a:r>
            <a:endParaRPr lang="zxx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ounded Rectangle 49"/>
          <p:cNvSpPr/>
          <p:nvPr/>
        </p:nvSpPr>
        <p:spPr>
          <a:xfrm>
            <a:off x="594360" y="4251960"/>
            <a:ext cx="10835280" cy="1142640"/>
          </a:xfrm>
          <a:prstGeom prst="roundRect">
            <a:avLst>
              <a:gd name="adj" fmla="val 16667"/>
            </a:avLst>
          </a:prstGeom>
          <a:solidFill>
            <a:srgbClr val="E7F0FD"/>
          </a:solidFill>
          <a:ln>
            <a:solidFill>
              <a:srgbClr val="BECD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Box 50"/>
          <p:cNvSpPr/>
          <p:nvPr/>
        </p:nvSpPr>
        <p:spPr>
          <a:xfrm>
            <a:off x="914400" y="4526280"/>
            <a:ext cx="100580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8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Главный результат: основная модель находит 93.7% критичных сцен и держит FNR на уровне 0.063.</a:t>
            </a:r>
            <a:endParaRPr lang="zxx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Box 2"/>
          <p:cNvSpPr/>
          <p:nvPr/>
        </p:nvSpPr>
        <p:spPr>
          <a:xfrm>
            <a:off x="594360" y="502920"/>
            <a:ext cx="88815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2400" b="1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Ошибки понятны: граница риска, окклюзия и расстояние</a:t>
            </a:r>
            <a:endParaRPr lang="zxx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3"/>
          <p:cNvSpPr/>
          <p:nvPr/>
        </p:nvSpPr>
        <p:spPr>
          <a:xfrm>
            <a:off x="320040" y="137160"/>
            <a:ext cx="851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НИ ТГУ · ИДО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4"/>
          <p:cNvSpPr/>
          <p:nvPr/>
        </p:nvSpPr>
        <p:spPr>
          <a:xfrm>
            <a:off x="11283480" y="13716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9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5"/>
          <p:cNvSpPr/>
          <p:nvPr/>
        </p:nvSpPr>
        <p:spPr>
          <a:xfrm>
            <a:off x="320040" y="6446520"/>
            <a:ext cx="177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ADAS ScenarioGuard · ВКР · 2026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6"/>
          <p:cNvSpPr/>
          <p:nvPr/>
        </p:nvSpPr>
        <p:spPr>
          <a:xfrm>
            <a:off x="11283480" y="6446520"/>
            <a:ext cx="2376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9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Rounded Rectangle 7"/>
          <p:cNvSpPr/>
          <p:nvPr/>
        </p:nvSpPr>
        <p:spPr>
          <a:xfrm>
            <a:off x="685800" y="1234440"/>
            <a:ext cx="48002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TextBox 8"/>
          <p:cNvSpPr/>
          <p:nvPr/>
        </p:nvSpPr>
        <p:spPr>
          <a:xfrm>
            <a:off x="960120" y="1444680"/>
            <a:ext cx="420588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600" b="1" u="none" strike="noStrike">
                <a:solidFill>
                  <a:srgbClr val="E38B25"/>
                </a:solidFill>
                <a:effectLst/>
                <a:uFillTx/>
                <a:latin typeface="Arial"/>
                <a:ea typeface="Calibri"/>
              </a:rPr>
              <a:t>Ложная тревога: FP = 66</a:t>
            </a:r>
            <a:endParaRPr lang="zxx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9"/>
          <p:cNvSpPr/>
          <p:nvPr/>
        </p:nvSpPr>
        <p:spPr>
          <a:xfrm>
            <a:off x="960120" y="1874520"/>
            <a:ext cx="4251600" cy="72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zxx" sz="122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• объект близко к автомобилю</a:t>
            </a:r>
            <a:endParaRPr lang="zxx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zxx" sz="122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• высокий risk score из-за класса или положения</a:t>
            </a:r>
            <a:endParaRPr lang="zxx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zxx" sz="122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• модель выбирает осторожный вариант</a:t>
            </a:r>
            <a:endParaRPr lang="zxx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ounded Rectangle 10"/>
          <p:cNvSpPr/>
          <p:nvPr/>
        </p:nvSpPr>
        <p:spPr>
          <a:xfrm>
            <a:off x="5897880" y="1234440"/>
            <a:ext cx="48002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FD9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11"/>
          <p:cNvSpPr/>
          <p:nvPr/>
        </p:nvSpPr>
        <p:spPr>
          <a:xfrm>
            <a:off x="6172200" y="1444680"/>
            <a:ext cx="420588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600" b="1" u="none" strike="noStrike">
                <a:solidFill>
                  <a:srgbClr val="CD4A39"/>
                </a:solidFill>
                <a:effectLst/>
                <a:uFillTx/>
                <a:latin typeface="Arial"/>
                <a:ea typeface="Calibri"/>
              </a:rPr>
              <a:t>Пропуск риска: FN = 34</a:t>
            </a:r>
            <a:endParaRPr lang="zxx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12"/>
          <p:cNvSpPr/>
          <p:nvPr/>
        </p:nvSpPr>
        <p:spPr>
          <a:xfrm>
            <a:off x="6172200" y="1874520"/>
            <a:ext cx="4251600" cy="72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zxx" sz="122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• score оказался ниже выбранного порога</a:t>
            </a:r>
            <a:endParaRPr lang="zxx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zxx" sz="122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• сцена близка к границе fixed rule</a:t>
            </a:r>
            <a:endParaRPr lang="zxx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zxx" sz="122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• частичная видимость не всегда дает сильный сигнал</a:t>
            </a:r>
            <a:endParaRPr lang="zxx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Rounded Rectangle 13"/>
          <p:cNvSpPr/>
          <p:nvPr/>
        </p:nvSpPr>
        <p:spPr>
          <a:xfrm>
            <a:off x="685800" y="3886200"/>
            <a:ext cx="10058040" cy="1325520"/>
          </a:xfrm>
          <a:prstGeom prst="roundRect">
            <a:avLst>
              <a:gd name="adj" fmla="val 16667"/>
            </a:avLst>
          </a:prstGeom>
          <a:solidFill>
            <a:srgbClr val="FFECE8"/>
          </a:solidFill>
          <a:ln>
            <a:solidFill>
              <a:srgbClr val="EBBE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14"/>
          <p:cNvSpPr/>
          <p:nvPr/>
        </p:nvSpPr>
        <p:spPr>
          <a:xfrm>
            <a:off x="960120" y="4114800"/>
            <a:ext cx="95094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600" b="1" u="none" strike="noStrike">
                <a:solidFill>
                  <a:srgbClr val="CD4A39"/>
                </a:solidFill>
                <a:effectLst/>
                <a:uFillTx/>
                <a:latin typeface="Arial"/>
                <a:ea typeface="Calibri"/>
              </a:rPr>
              <a:t>Ограничения</a:t>
            </a:r>
            <a:endParaRPr lang="zxx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15"/>
          <p:cNvSpPr/>
          <p:nvPr/>
        </p:nvSpPr>
        <p:spPr>
          <a:xfrm>
            <a:off x="1005840" y="4526280"/>
            <a:ext cx="937224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27360" rIns="45720" bIns="27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50" b="0" u="none" strike="noStrike">
                <a:solidFill>
                  <a:srgbClr val="1C2D41"/>
                </a:solidFill>
                <a:effectLst/>
                <a:uFillTx/>
                <a:latin typeface="Arial"/>
                <a:ea typeface="Calibri"/>
              </a:rPr>
              <a:t>KITTI не содержит radar и готовую ADAS critical label. Текущий эксперимент проверяет scenario-level методику, а не промышленную raw sensor модель.</a:t>
            </a:r>
            <a:endParaRPr lang="zxx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2"/>
          <p:cNvSpPr/>
          <p:nvPr/>
        </p:nvSpPr>
        <p:spPr>
          <a:xfrm>
            <a:off x="594360" y="502920"/>
            <a:ext cx="62355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2600" b="1" u="none" strike="noStrike">
                <a:solidFill>
                  <a:srgbClr val="092C4A"/>
                </a:solidFill>
                <a:effectLst/>
                <a:uFillTx/>
                <a:latin typeface="Aptos Display"/>
                <a:ea typeface="Calibri"/>
              </a:rPr>
              <a:t>Итоговый вывод и вклад работы</a:t>
            </a:r>
            <a:endParaRPr lang="zxx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3"/>
          <p:cNvSpPr/>
          <p:nvPr/>
        </p:nvSpPr>
        <p:spPr>
          <a:xfrm>
            <a:off x="320040" y="137160"/>
            <a:ext cx="851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НИ ТГУ · ИДО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4"/>
          <p:cNvSpPr/>
          <p:nvPr/>
        </p:nvSpPr>
        <p:spPr>
          <a:xfrm>
            <a:off x="11226960" y="137160"/>
            <a:ext cx="29412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10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5"/>
          <p:cNvSpPr/>
          <p:nvPr/>
        </p:nvSpPr>
        <p:spPr>
          <a:xfrm>
            <a:off x="320040" y="6446520"/>
            <a:ext cx="177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ADAS ScenarioGuard · ВКР · 2026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6"/>
          <p:cNvSpPr/>
          <p:nvPr/>
        </p:nvSpPr>
        <p:spPr>
          <a:xfrm>
            <a:off x="11226960" y="6446520"/>
            <a:ext cx="29412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800" b="0" u="none" strike="noStrike">
                <a:solidFill>
                  <a:srgbClr val="747E8C"/>
                </a:solidFill>
                <a:effectLst/>
                <a:uFillTx/>
                <a:latin typeface="Arial"/>
                <a:ea typeface="Calibri"/>
              </a:rPr>
              <a:t>10</a:t>
            </a:r>
            <a:endParaRPr lang="zxx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Rounded Rectangle 7"/>
          <p:cNvSpPr/>
          <p:nvPr/>
        </p:nvSpPr>
        <p:spPr>
          <a:xfrm>
            <a:off x="594360" y="1143000"/>
            <a:ext cx="5394600" cy="1142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1" name="Rectangle 8"/>
          <p:cNvSpPr/>
          <p:nvPr/>
        </p:nvSpPr>
        <p:spPr>
          <a:xfrm>
            <a:off x="594360" y="1143000"/>
            <a:ext cx="72720" cy="1142640"/>
          </a:xfrm>
          <a:prstGeom prst="rect">
            <a:avLst/>
          </a:prstGeom>
          <a:solidFill>
            <a:srgbClr val="15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9"/>
          <p:cNvSpPr/>
          <p:nvPr/>
        </p:nvSpPr>
        <p:spPr>
          <a:xfrm>
            <a:off x="795600" y="1307520"/>
            <a:ext cx="498312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500" b="1" u="none" strike="noStrike">
                <a:solidFill>
                  <a:srgbClr val="155BB5"/>
                </a:solidFill>
                <a:effectLst/>
                <a:uFillTx/>
                <a:latin typeface="Aptos"/>
                <a:ea typeface="Calibri"/>
              </a:rPr>
              <a:t>Научный вклад</a:t>
            </a:r>
            <a:endParaRPr lang="zx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10"/>
          <p:cNvSpPr/>
          <p:nvPr/>
        </p:nvSpPr>
        <p:spPr>
          <a:xfrm>
            <a:off x="795600" y="1673280"/>
            <a:ext cx="4983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5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Критическая сцена рассматривается не как простая ошибка детектора, а как сочетание класса объекта, расстояния, видимости и uncertainty.</a:t>
            </a:r>
            <a:endParaRPr lang="zxx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Rounded Rectangle 11"/>
          <p:cNvSpPr/>
          <p:nvPr/>
        </p:nvSpPr>
        <p:spPr>
          <a:xfrm>
            <a:off x="6263640" y="1143000"/>
            <a:ext cx="5394600" cy="1142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Rectangle 12"/>
          <p:cNvSpPr/>
          <p:nvPr/>
        </p:nvSpPr>
        <p:spPr>
          <a:xfrm>
            <a:off x="6263640" y="1143000"/>
            <a:ext cx="72720" cy="1142640"/>
          </a:xfrm>
          <a:prstGeom prst="rect">
            <a:avLst/>
          </a:prstGeom>
          <a:solidFill>
            <a:srgbClr val="2A84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6" name="TextBox 13"/>
          <p:cNvSpPr/>
          <p:nvPr/>
        </p:nvSpPr>
        <p:spPr>
          <a:xfrm>
            <a:off x="6464880" y="1307520"/>
            <a:ext cx="498312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500" b="1" u="none" strike="noStrike">
                <a:solidFill>
                  <a:srgbClr val="2A8469"/>
                </a:solidFill>
                <a:effectLst/>
                <a:uFillTx/>
                <a:latin typeface="Aptos"/>
                <a:ea typeface="Calibri"/>
              </a:rPr>
              <a:t>Практический результат</a:t>
            </a:r>
            <a:endParaRPr lang="zx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14"/>
          <p:cNvSpPr/>
          <p:nvPr/>
        </p:nvSpPr>
        <p:spPr>
          <a:xfrm>
            <a:off x="6464880" y="1673280"/>
            <a:ext cx="4983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5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Собран воспроизводимый pipeline: KITTI → признаки сцены → модели → метрики → анализ FP/FN. Расчет можно повторить через репозиторий.</a:t>
            </a:r>
            <a:endParaRPr lang="zxx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ounded Rectangle 15"/>
          <p:cNvSpPr/>
          <p:nvPr/>
        </p:nvSpPr>
        <p:spPr>
          <a:xfrm>
            <a:off x="594360" y="2606040"/>
            <a:ext cx="5394600" cy="1142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Rectangle 16"/>
          <p:cNvSpPr/>
          <p:nvPr/>
        </p:nvSpPr>
        <p:spPr>
          <a:xfrm>
            <a:off x="594360" y="2606040"/>
            <a:ext cx="72720" cy="1142640"/>
          </a:xfrm>
          <a:prstGeom prst="rect">
            <a:avLst/>
          </a:prstGeom>
          <a:solidFill>
            <a:srgbClr val="E78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0" name="TextBox 17"/>
          <p:cNvSpPr/>
          <p:nvPr/>
        </p:nvSpPr>
        <p:spPr>
          <a:xfrm>
            <a:off x="795600" y="2770560"/>
            <a:ext cx="498312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500" b="1" u="none" strike="noStrike">
                <a:solidFill>
                  <a:srgbClr val="E78B2C"/>
                </a:solidFill>
                <a:effectLst/>
                <a:uFillTx/>
                <a:latin typeface="Aptos"/>
                <a:ea typeface="Calibri"/>
              </a:rPr>
              <a:t>Подтверждение расчетами</a:t>
            </a:r>
            <a:endParaRPr lang="zx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18"/>
          <p:cNvSpPr/>
          <p:nvPr/>
        </p:nvSpPr>
        <p:spPr>
          <a:xfrm>
            <a:off x="795600" y="3136320"/>
            <a:ext cx="4983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5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На test split основная модель получила recall 0.937, F1 0.911 и FNR 0.063. По сравнению с baseline снизилась доля пропусков.</a:t>
            </a:r>
            <a:endParaRPr lang="zxx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Rounded Rectangle 19"/>
          <p:cNvSpPr/>
          <p:nvPr/>
        </p:nvSpPr>
        <p:spPr>
          <a:xfrm>
            <a:off x="6263640" y="2606040"/>
            <a:ext cx="5394600" cy="1142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6D4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Rectangle 20"/>
          <p:cNvSpPr/>
          <p:nvPr/>
        </p:nvSpPr>
        <p:spPr>
          <a:xfrm>
            <a:off x="6263640" y="2606040"/>
            <a:ext cx="72720" cy="1142640"/>
          </a:xfrm>
          <a:prstGeom prst="rect">
            <a:avLst/>
          </a:prstGeom>
          <a:solidFill>
            <a:srgbClr val="CA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21"/>
          <p:cNvSpPr/>
          <p:nvPr/>
        </p:nvSpPr>
        <p:spPr>
          <a:xfrm>
            <a:off x="6464880" y="2770560"/>
            <a:ext cx="498312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500" b="1" u="none" strike="noStrike">
                <a:solidFill>
                  <a:srgbClr val="CA4646"/>
                </a:solidFill>
                <a:effectLst/>
                <a:uFillTx/>
                <a:latin typeface="Aptos"/>
                <a:ea typeface="Calibri"/>
              </a:rPr>
              <a:t>Смысл для развития ADAS</a:t>
            </a:r>
            <a:endParaRPr lang="zxx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22"/>
          <p:cNvSpPr/>
          <p:nvPr/>
        </p:nvSpPr>
        <p:spPr>
          <a:xfrm>
            <a:off x="6464880" y="3136320"/>
            <a:ext cx="4983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25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Методика добавляет к восприятию слой оценки риска. Он помогает выделять сцены, где нужен осторожный режим или повторная проверка.</a:t>
            </a:r>
            <a:endParaRPr lang="zxx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ounded Rectangle 23"/>
          <p:cNvSpPr/>
          <p:nvPr/>
        </p:nvSpPr>
        <p:spPr>
          <a:xfrm>
            <a:off x="594360" y="4160520"/>
            <a:ext cx="11063880" cy="731160"/>
          </a:xfrm>
          <a:prstGeom prst="roundRect">
            <a:avLst>
              <a:gd name="adj" fmla="val 16667"/>
            </a:avLst>
          </a:prstGeom>
          <a:solidFill>
            <a:srgbClr val="E7F0FD"/>
          </a:solidFill>
          <a:ln>
            <a:solidFill>
              <a:srgbClr val="C2D3E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Box 24"/>
          <p:cNvSpPr/>
          <p:nvPr/>
        </p:nvSpPr>
        <p:spPr>
          <a:xfrm>
            <a:off x="868680" y="4316040"/>
            <a:ext cx="16455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00" b="1" u="none" strike="noStrike">
                <a:solidFill>
                  <a:srgbClr val="155BB5"/>
                </a:solidFill>
                <a:effectLst/>
                <a:uFillTx/>
                <a:latin typeface="Aptos"/>
                <a:ea typeface="Calibri"/>
              </a:rPr>
              <a:t>Следующий этап</a:t>
            </a:r>
            <a:endParaRPr lang="zxx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25"/>
          <p:cNvSpPr/>
          <p:nvPr/>
        </p:nvSpPr>
        <p:spPr>
          <a:xfrm>
            <a:off x="2331720" y="4288680"/>
            <a:ext cx="15998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5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nuScenes / CARLA</a:t>
            </a:r>
            <a:endParaRPr lang="zxx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Connector 26"/>
          <p:cNvCxnSpPr/>
          <p:nvPr/>
        </p:nvCxnSpPr>
        <p:spPr>
          <a:xfrm>
            <a:off x="3812760" y="4434840"/>
            <a:ext cx="238320" cy="360"/>
          </a:xfrm>
          <a:prstGeom prst="straightConnector1">
            <a:avLst/>
          </a:prstGeom>
          <a:ln w="22860">
            <a:solidFill>
              <a:srgbClr val="155BB5"/>
            </a:solidFill>
            <a:round/>
          </a:ln>
        </p:spPr>
      </p:cxnSp>
      <p:sp>
        <p:nvSpPr>
          <p:cNvPr id="310" name="TextBox 27"/>
          <p:cNvSpPr/>
          <p:nvPr/>
        </p:nvSpPr>
        <p:spPr>
          <a:xfrm>
            <a:off x="4160520" y="4288680"/>
            <a:ext cx="1599840" cy="38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5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raw camera + LiDAR + radar</a:t>
            </a:r>
            <a:endParaRPr lang="zxx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1" name="Connector 28"/>
          <p:cNvCxnSpPr/>
          <p:nvPr/>
        </p:nvCxnSpPr>
        <p:spPr>
          <a:xfrm>
            <a:off x="5641560" y="4434840"/>
            <a:ext cx="238320" cy="360"/>
          </a:xfrm>
          <a:prstGeom prst="straightConnector1">
            <a:avLst/>
          </a:prstGeom>
          <a:ln w="22860">
            <a:solidFill>
              <a:srgbClr val="155BB5"/>
            </a:solidFill>
            <a:round/>
          </a:ln>
        </p:spPr>
      </p:cxnSp>
      <p:sp>
        <p:nvSpPr>
          <p:cNvPr id="312" name="TextBox 29"/>
          <p:cNvSpPr/>
          <p:nvPr/>
        </p:nvSpPr>
        <p:spPr>
          <a:xfrm>
            <a:off x="5989320" y="4288680"/>
            <a:ext cx="15998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5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плохая погода</a:t>
            </a:r>
            <a:endParaRPr lang="zxx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3" name="Connector 30"/>
          <p:cNvCxnSpPr/>
          <p:nvPr/>
        </p:nvCxnSpPr>
        <p:spPr>
          <a:xfrm>
            <a:off x="7470360" y="4434840"/>
            <a:ext cx="238320" cy="360"/>
          </a:xfrm>
          <a:prstGeom prst="straightConnector1">
            <a:avLst/>
          </a:prstGeom>
          <a:ln w="22860">
            <a:solidFill>
              <a:srgbClr val="155BB5"/>
            </a:solidFill>
            <a:round/>
          </a:ln>
        </p:spPr>
      </p:cxnSp>
      <p:sp>
        <p:nvSpPr>
          <p:cNvPr id="314" name="TextBox 31"/>
          <p:cNvSpPr/>
          <p:nvPr/>
        </p:nvSpPr>
        <p:spPr>
          <a:xfrm>
            <a:off x="7818120" y="4288680"/>
            <a:ext cx="1599840" cy="38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5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больше critical labels</a:t>
            </a:r>
            <a:endParaRPr lang="zxx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5" name="Connector 32"/>
          <p:cNvCxnSpPr/>
          <p:nvPr/>
        </p:nvCxnSpPr>
        <p:spPr>
          <a:xfrm>
            <a:off x="9299160" y="4434840"/>
            <a:ext cx="238320" cy="360"/>
          </a:xfrm>
          <a:prstGeom prst="straightConnector1">
            <a:avLst/>
          </a:prstGeom>
          <a:ln w="22860">
            <a:solidFill>
              <a:srgbClr val="155BB5"/>
            </a:solidFill>
            <a:round/>
          </a:ln>
        </p:spPr>
      </p:cxnSp>
      <p:sp>
        <p:nvSpPr>
          <p:cNvPr id="316" name="TextBox 33"/>
          <p:cNvSpPr/>
          <p:nvPr/>
        </p:nvSpPr>
        <p:spPr>
          <a:xfrm>
            <a:off x="9646920" y="4288680"/>
            <a:ext cx="1599840" cy="38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150" b="0" u="none" strike="noStrike">
                <a:solidFill>
                  <a:srgbClr val="092C4A"/>
                </a:solidFill>
                <a:effectLst/>
                <a:uFillTx/>
                <a:latin typeface="Aptos"/>
                <a:ea typeface="Calibri"/>
              </a:rPr>
              <a:t>инженерная валидация</a:t>
            </a:r>
            <a:endParaRPr lang="zxx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Rounded Rectangle 34"/>
          <p:cNvSpPr/>
          <p:nvPr/>
        </p:nvSpPr>
        <p:spPr>
          <a:xfrm>
            <a:off x="868680" y="5257800"/>
            <a:ext cx="10469520" cy="685440"/>
          </a:xfrm>
          <a:prstGeom prst="roundRect">
            <a:avLst>
              <a:gd name="adj" fmla="val 16667"/>
            </a:avLst>
          </a:prstGeom>
          <a:solidFill>
            <a:srgbClr val="092C4A"/>
          </a:solidFill>
          <a:ln>
            <a:solidFill>
              <a:srgbClr val="092C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zxx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8" name="TextBox 35"/>
          <p:cNvSpPr/>
          <p:nvPr/>
        </p:nvSpPr>
        <p:spPr>
          <a:xfrm>
            <a:off x="1143000" y="5422320"/>
            <a:ext cx="99208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1836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xx" sz="14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Главный итог: работа показывает проверяемый способ снижать риск пропуска критических сцен.</a:t>
            </a:r>
            <a:endParaRPr lang="zxx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GU ADAS">
  <a:themeElements>
    <a:clrScheme name="TGU ADA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LibreOffice/26.2.4.2$Windows_X86_64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2026-07-08T15:21:56Z</dcterms:created>
  <dc:creator>Walnut Exporter</dc:creator>
  <dc:description/>
  <dc:language>ru-RU</dc:language>
  <cp:lastModifiedBy/>
  <dcterms:modified xsi:type="dcterms:W3CDTF">2026-07-10T03:32:38Z</dcterms:modified>
  <cp:revision>1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