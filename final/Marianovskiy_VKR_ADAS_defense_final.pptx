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b0c88d93f74bef" /><Relationship Type="http://schemas.openxmlformats.org/officeDocument/2006/relationships/extended-properties" Target="/docProps/app.xml" Id="R7e21049a4cb34b7b" /><Relationship Type="http://schemas.openxmlformats.org/officeDocument/2006/relationships/officeDocument" Target="/ppt/presentation.xml" Id="R5374f73eb5ef4c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f8e55b058948f4"/>
  </p:sldMasterIdLst>
  <p:notesMasterIdLst>
    <p:notesMasterId xmlns:r="http://schemas.openxmlformats.org/officeDocument/2006/relationships" r:id="R475b961721e5440e"/>
  </p:notesMasterIdLst>
  <p:sldIdLst>
    <p:sldId xmlns:r="http://schemas.openxmlformats.org/officeDocument/2006/relationships" id="256" r:id="R9148edcf48414e50"/>
    <p:sldId xmlns:r="http://schemas.openxmlformats.org/officeDocument/2006/relationships" id="257" r:id="R8a63e3a958e54bd3"/>
    <p:sldId xmlns:r="http://schemas.openxmlformats.org/officeDocument/2006/relationships" id="258" r:id="R25c0cbd05de64fc8"/>
    <p:sldId xmlns:r="http://schemas.openxmlformats.org/officeDocument/2006/relationships" id="259" r:id="Ra0732a3f6263460a"/>
    <p:sldId xmlns:r="http://schemas.openxmlformats.org/officeDocument/2006/relationships" id="260" r:id="R19fd67e6cca946e8"/>
    <p:sldId xmlns:r="http://schemas.openxmlformats.org/officeDocument/2006/relationships" id="261" r:id="R0eb76f2def0147c1"/>
    <p:sldId xmlns:r="http://schemas.openxmlformats.org/officeDocument/2006/relationships" id="262" r:id="R885d26a2ab0745bf"/>
    <p:sldId xmlns:r="http://schemas.openxmlformats.org/officeDocument/2006/relationships" id="263" r:id="R46881e34d7754891"/>
    <p:sldId xmlns:r="http://schemas.openxmlformats.org/officeDocument/2006/relationships" id="264" r:id="R8bf698a702ca4ba0"/>
    <p:sldId xmlns:r="http://schemas.openxmlformats.org/officeDocument/2006/relationships" id="265" r:id="Rb1397ed07b6246a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031c75bdb745f6" /><Relationship Type="http://schemas.openxmlformats.org/officeDocument/2006/relationships/slideMaster" Target="/ppt/slideMasters/slideMaster1.xml" Id="R00f8e55b058948f4" /><Relationship Type="http://schemas.openxmlformats.org/officeDocument/2006/relationships/notesMaster" Target="/ppt/notesMasters/notesMaster1.xml" Id="R475b961721e5440e" /><Relationship Type="http://schemas.openxmlformats.org/officeDocument/2006/relationships/presProps" Target="/ppt/presProps.xml" Id="R7f816a2ca2df4b42" /><Relationship Type="http://schemas.openxmlformats.org/officeDocument/2006/relationships/tableStyles" Target="/ppt/tableStyles.xml" Id="Rfefbc0600ecc4308" /><Relationship Type="http://schemas.openxmlformats.org/officeDocument/2006/relationships/slide" Target="/ppt/slides/slide1.xml" Id="R9148edcf48414e50" /><Relationship Type="http://schemas.openxmlformats.org/officeDocument/2006/relationships/slide" Target="/ppt/slides/slide2.xml" Id="R8a63e3a958e54bd3" /><Relationship Type="http://schemas.openxmlformats.org/officeDocument/2006/relationships/slide" Target="/ppt/slides/slide3.xml" Id="R25c0cbd05de64fc8" /><Relationship Type="http://schemas.openxmlformats.org/officeDocument/2006/relationships/slide" Target="/ppt/slides/slide4.xml" Id="Ra0732a3f6263460a" /><Relationship Type="http://schemas.openxmlformats.org/officeDocument/2006/relationships/slide" Target="/ppt/slides/slide5.xml" Id="R19fd67e6cca946e8" /><Relationship Type="http://schemas.openxmlformats.org/officeDocument/2006/relationships/slide" Target="/ppt/slides/slide6.xml" Id="R0eb76f2def0147c1" /><Relationship Type="http://schemas.openxmlformats.org/officeDocument/2006/relationships/slide" Target="/ppt/slides/slide7.xml" Id="R885d26a2ab0745bf" /><Relationship Type="http://schemas.openxmlformats.org/officeDocument/2006/relationships/slide" Target="/ppt/slides/slide8.xml" Id="R46881e34d7754891" /><Relationship Type="http://schemas.openxmlformats.org/officeDocument/2006/relationships/slide" Target="/ppt/slides/slide9.xml" Id="R8bf698a702ca4ba0" /><Relationship Type="http://schemas.openxmlformats.org/officeDocument/2006/relationships/slide" Target="/ppt/slides/slide10.xml" Id="Rb1397ed07b6246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0a8d46fdc747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GU ADAS">
  <a:themeElements>
    <a:clrScheme name="TGU ADA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GU ADA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ea9ebe737040bf" /><Relationship Type="http://schemas.openxmlformats.org/officeDocument/2006/relationships/notesMaster" Target="/ppt/notesMasters/notesMaster1.xml" Id="R23d6f62e59ff44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b064e3834149b9" /><Relationship Type="http://schemas.openxmlformats.org/officeDocument/2006/relationships/notesMaster" Target="/ppt/notesMasters/notesMaster1.xml" Id="R5db2ec877e2c45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32d49ff12a4b22" /><Relationship Type="http://schemas.openxmlformats.org/officeDocument/2006/relationships/notesMaster" Target="/ppt/notesMasters/notesMaster1.xml" Id="R3210508dcb0a40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0ff2ba95d74dd5" /><Relationship Type="http://schemas.openxmlformats.org/officeDocument/2006/relationships/notesMaster" Target="/ppt/notesMasters/notesMaster1.xml" Id="R6eca91dfa1cd4e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ab7a76f6ab471f" /><Relationship Type="http://schemas.openxmlformats.org/officeDocument/2006/relationships/notesMaster" Target="/ppt/notesMasters/notesMaster1.xml" Id="R0b18de644cfc45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9b35a5d6004f84" /><Relationship Type="http://schemas.openxmlformats.org/officeDocument/2006/relationships/notesMaster" Target="/ppt/notesMasters/notesMaster1.xml" Id="R74cf93f20c1849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bf90d60e2443e0" /><Relationship Type="http://schemas.openxmlformats.org/officeDocument/2006/relationships/notesMaster" Target="/ppt/notesMasters/notesMaster1.xml" Id="R2f27a08443c844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c090bd12db499c" /><Relationship Type="http://schemas.openxmlformats.org/officeDocument/2006/relationships/notesMaster" Target="/ppt/notesMasters/notesMaster1.xml" Id="R0b6097af9fb84e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75c6614c3d41be" /><Relationship Type="http://schemas.openxmlformats.org/officeDocument/2006/relationships/notesMaster" Target="/ppt/notesMasters/notesMaster1.xml" Id="R02d1626e40fe415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89292fa86145dc" /><Relationship Type="http://schemas.openxmlformats.org/officeDocument/2006/relationships/notesMaster" Target="/ppt/notesMasters/notesMaster1.xml" Id="R3b9c2cd6395347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Здесь важно сразу показать цену ошибки. В обычной задаче можно смотреть на среднюю точность, но для ADAS опаснее пропуск критической сцены.</a:t>
            </a:r>
          </a:p>
          <a:p xmlns:a="http://schemas.openxmlformats.org/drawingml/2006/main">
            <a:r>
              <a:t>False negative в этой работе означает сцену, которую fixed rule относит к critical_scene, но модель не подняла флаг риска. Поэтому recall и FNR важнее одной общей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Этот слайд снимает главный возможный вопрос: речь не о полном автопилоте и не о сертифицированной системе управления.</a:t>
            </a:r>
          </a:p>
          <a:p xmlns:a="http://schemas.openxmlformats.org/drawingml/2006/main">
            <a:r>
              <a:t>Результат работы находится между данными восприятия и инженерной проверкой риска: построены признаки, модели и воспроизводимая оценка на реальных аннотациях.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показывает, что работа опирается на исследования по редким ситуациям, плохой погоде, sensor fusion и деградации сенсоров.</a:t>
            </a:r>
          </a:p>
          <a:p xmlns:a="http://schemas.openxmlformats.org/drawingml/2006/main">
            <a:r>
              <a:t>Важно отделить литературный график от собственного эксперимента. Собственные метрики относятся к KITTI scenario table и logistic regression моделям.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Здесь нужно пройти путь от KITTI-аннотации до решения модели. Каждая сцена превращается в строку таблицы, где есть классы объектов, расстояние, lateral position, occlusion и truncation.</a:t>
            </a:r>
          </a:p>
          <a:p xmlns:a="http://schemas.openxmlformats.org/drawingml/2006/main">
            <a:r>
              <a:t>Метка critical_scene задается фиксированным правилом. Затем proposed model учится воспроизводить эту постановку с учетом reliability, uncertainty и risk prior.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Смысл слайда в том, что это не набор ручных картинок. Есть воспроизводимый путь от исходных KITTI labels до метрик и финальных материалов.</a:t>
            </a:r>
          </a:p>
          <a:p xmlns:a="http://schemas.openxmlformats.org/drawingml/2006/main">
            <a:r>
              <a:t>Текущий эксперимент CPU-based и табличный. Более тяжелая raw sensor версия относится к будущему этапу и не влияет на текущие результаты.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Данные реальные, но целевая метка критичности не является исходной меткой KITTI. Это нужно проговаривать честно.</a:t>
            </a:r>
          </a:p>
          <a:p xmlns:a="http://schemas.openxmlformats.org/drawingml/2006/main">
            <a:r>
              <a:t>Правило fixed rule строится из наблюдаемых признаков. После этого модели обучаются на train split, порог выбирается на validation, финальные метрики считаются на test.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model в results называется proposed_reliability_logreg.</a:t>
            </a:r>
          </a:p>
          <a:p xmlns:a="http://schemas.openxmlformats.org/drawingml/2006/main">
            <a:r>
              <a:t>Сначала показать строку proposed: precision 0.885, recall 0.937, F1 0.911 и FNR 0.063.</a:t>
            </a:r>
          </a:p>
          <a:p xmlns:a="http://schemas.openxmlformats.org/drawingml/2006/main">
            <a:r>
              <a:t>Затем сравнить с baseline и ablation. Proposed лучше удерживает критические сцены, а матрица ошибок показывает 509 TP и 34 FN.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Ошибки сохранены в results/error_cases.csv, поэтому их можно разбирать как конкретные сцены, а не только как числа.</a:t>
            </a:r>
          </a:p>
          <a:p xmlns:a="http://schemas.openxmlformats.org/drawingml/2006/main">
            <a:r>
              <a:t>Ограничения важны для честной защиты: KITTI не дает radar и готовую метку ADAS criticality, а модель работает на scenario-level признаках.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Финальный слайд закрывает доклад по трем линиям: что разработано, что реализовано и где это проверено.</a:t>
            </a:r>
          </a:p>
          <a:p xmlns:a="http://schemas.openxmlformats.org/drawingml/2006/main">
            <a:r>
              <a:t>В конце важно не обещать готовую автомобильную систему. Результат работы дает основу для следующего этапа с raw sensor pipeline и инженерной валидацией.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9c11422cfe4a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bd0bf9a8564c96" /><Relationship Type="http://schemas.openxmlformats.org/officeDocument/2006/relationships/slideLayout" Target="/ppt/slideLayouts/slideLayout1.xml" Id="R376d486a7fa544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6d486a7fa544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GU ADAS">
  <a:themeElements>
    <a:clrScheme name="TGU ADA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GU ADA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767ab1ef24bb8" /><Relationship Type="http://schemas.openxmlformats.org/officeDocument/2006/relationships/image" Target="/ppt/media/image.png" Id="R71373eb853cc4f21" /><Relationship Type="http://schemas.openxmlformats.org/officeDocument/2006/relationships/notesSlide" Target="/ppt/notesSlides/notesSlide1.xml" Id="Rb797dcdf26554f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1c0f416b44d9e" /><Relationship Type="http://schemas.openxmlformats.org/officeDocument/2006/relationships/notesSlide" Target="/ppt/notesSlides/notesSlide2.xml" Id="Re9f91b2976134e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47eb137c654435" /><Relationship Type="http://schemas.openxmlformats.org/officeDocument/2006/relationships/notesSlide" Target="/ppt/notesSlides/notesSlide3.xml" Id="Rcabc5cd74a2047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36f117fe9446b" /><Relationship Type="http://schemas.openxmlformats.org/officeDocument/2006/relationships/notesSlide" Target="/ppt/notesSlides/notesSlide4.xml" Id="R93cf7ff713f04c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0bf7a9c57b4ac7" /><Relationship Type="http://schemas.openxmlformats.org/officeDocument/2006/relationships/notesSlide" Target="/ppt/notesSlides/notesSlide5.xml" Id="R56f839993c4f43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d14b4a4b54d35" /><Relationship Type="http://schemas.openxmlformats.org/officeDocument/2006/relationships/notesSlide" Target="/ppt/notesSlides/notesSlide6.xml" Id="Rd64ebaac4e5846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844655533464d" /><Relationship Type="http://schemas.openxmlformats.org/officeDocument/2006/relationships/notesSlide" Target="/ppt/notesSlides/notesSlide7.xml" Id="Rc302129277454b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2bd781970c490b" /><Relationship Type="http://schemas.openxmlformats.org/officeDocument/2006/relationships/notesSlide" Target="/ppt/notesSlides/notesSlide8.xml" Id="Rd4935b8bd34541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524160dae4bab" /><Relationship Type="http://schemas.openxmlformats.org/officeDocument/2006/relationships/image" Target="/ppt/media/image2.png" Id="Rbd204b056df943f3" /><Relationship Type="http://schemas.openxmlformats.org/officeDocument/2006/relationships/notesSlide" Target="/ppt/notesSlides/notesSlide9.xml" Id="Re8afcf6c4b9542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b0954132e44b1" /><Relationship Type="http://schemas.openxmlformats.org/officeDocument/2006/relationships/notesSlide" Target="/ppt/notesSlides/notesSlide10.xml" Id="R3a8ba9bf2e9f4a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373eb853cc4f21"/>
          <a:srcRect xmlns:a="http://schemas.openxmlformats.org/drawingml/2006/main" l="7" t="0" r="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0703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83F2BD-472C-4786-9961-18AFFE9C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90449-D7DE-43AE-880B-D394840F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77E0D-A970-46F4-8A64-0D4E68C7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730B6"/>
                </a:solidFill>
              </a:defRPr>
            </a:pPr>
            <a:r>
              <a:rPr sz="1200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88190C-1F19-408D-B8F8-89A54E00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4A88EE-2BAA-4EF9-86FB-F8EFAC24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Опасны не средние ошибки, а пропуски критических сцен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A872-3A26-40AE-B673-8268A23F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6EEF6-3E37-485F-ABD7-BDEC531F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756"/>
                </a:solidFill>
              </a:defRPr>
            </a:pPr>
            <a:r>
              <a:rPr sz="2100" b="1">
                <a:solidFill>
                  <a:srgbClr val="101756"/>
                </a:solidFill>
              </a:rPr>
              <a:t>Средняя точность не показывает поведение на редких сценах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93C97E-DFD9-4562-BAA3-9BD9E7B7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Три риска для восприятия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80066B-4D24-42F2-9E92-CD3540C5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730B6"/>
                </a:solidFill>
              </a:defRPr>
            </a:pPr>
            <a:r>
              <a:rPr sz="18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30D2EB-761D-4EA9-A04A-F14E43B9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241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</a:defRPr>
            </a:pPr>
            <a:r>
              <a:rPr sz="1875" b="0">
                <a:solidFill>
                  <a:srgbClr val="0F172A"/>
                </a:solidFill>
              </a:rPr>
              <a:t>туман, ночь, окклюзия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624DFF-05D5-457B-BD76-23C935ED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730B6"/>
                </a:solidFill>
              </a:defRPr>
            </a:pPr>
            <a:r>
              <a:rPr sz="18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F980FB-EA6A-428C-A326-89DC2E20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</a:defRPr>
            </a:pPr>
            <a:r>
              <a:rPr sz="1875" b="0">
                <a:solidFill>
                  <a:srgbClr val="0F172A"/>
                </a:solidFill>
              </a:rPr>
              <a:t>частично видимые объекты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FD2DF-9FA9-4F2F-9C09-D4063C05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290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730B6"/>
                </a:solidFill>
              </a:defRPr>
            </a:pPr>
            <a:r>
              <a:rPr sz="18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1D7764-39BA-4F62-8074-926ED4F0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290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</a:defRPr>
            </a:pPr>
            <a:r>
              <a:rPr sz="1875" b="0">
                <a:solidFill>
                  <a:srgbClr val="0F172A"/>
                </a:solidFill>
              </a:rPr>
              <a:t>близкие уязвимые участники движения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DD775D-60E8-4298-B50E-D38F7940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28750"/>
            <a:ext cx="2857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DB745B-6842-4C9B-80DC-6143039F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38300"/>
            <a:ext cx="255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34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286C14-E2CC-4BB1-B19E-2CFA5B99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145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false negative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79A261-D279-4261-B8F0-B114503C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76550"/>
            <a:ext cx="2857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0478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97D7AC-F51E-43EA-9320-938A6A26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86100"/>
            <a:ext cx="255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0.063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8E1E77-BBC7-4FA4-AD6E-022D938D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623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FNR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FBF178-4D9A-4716-A0FE-152B6BCE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24350"/>
            <a:ext cx="2857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0478">
            <a:solidFill>
              <a:srgbClr val="10B98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1C1AE5-BE71-401C-A8FE-68AB369C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533900"/>
            <a:ext cx="255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0.937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8396CA-AB3E-4A2F-BDA4-E0147A98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0101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Recall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555480-3D2A-41F1-84B8-DF5FF50C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81625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475569"/>
                </a:solidFill>
              </a:defRPr>
            </a:pPr>
            <a:r>
              <a:rPr sz="1650" b="0">
                <a:solidFill>
                  <a:srgbClr val="475569"/>
                </a:solidFill>
              </a:rPr>
              <a:t>FN означает критичную по правилу сцену, которую модель не отметила как риск.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FF0873-A433-4627-A424-DCCE9629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4C885A-57FF-4A4A-A0DE-88E3A42F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160514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04BCA4-B406-4417-BCD9-1F3FE574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F288F-66F7-4942-A00D-64A6DFAB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23EDA9-779D-4DA4-8492-A78BB340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730B6"/>
                </a:solidFill>
              </a:defRPr>
            </a:pPr>
            <a:r>
              <a:rPr sz="1200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2CFBC6-3F9D-43BA-AE5A-1F499836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8B4A05-30A6-4DF2-BACC-F031CFE1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Это не автопилот, а оценка надежности восприятия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866729-6024-495F-B62B-1DDAC72B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15812-49D0-42AC-9E29-C0AE6D82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3143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Объект</a:t>
            </a:r>
          </a:p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мультимодальное</a:t>
            </a:r>
          </a:p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восприятие 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A4A87-87C8-492D-9AEF-CE013BEA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504950"/>
            <a:ext cx="3143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Предмет</a:t>
            </a:r>
          </a:p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critical_scene,</a:t>
            </a:r>
          </a:p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reliability, uncertainty,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0D5479-F8F6-4B98-A192-CC697F6B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04950"/>
            <a:ext cx="3143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0478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Цель</a:t>
            </a:r>
          </a:p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методика оценки риска</a:t>
            </a:r>
          </a:p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на KITTI-аннотациях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246CFB-352F-4048-8C5B-0874F028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76625"/>
            <a:ext cx="96964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Граница</a:t>
            </a:r>
          </a:p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не управление автомобилем, а слой оценки надежности восприятия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8B4DF-4877-4C1D-B8AB-943EB62F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62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Что сделано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D861CD-997B-4C98-A6D3-84F64D7F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62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730B6"/>
                </a:solidFill>
              </a:defRPr>
            </a:pPr>
            <a:r>
              <a:rPr sz="165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ECCBA1-148B-4DFF-BEB6-0CEEA039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625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признаки риска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78EC9B-9165-466C-8C8C-5605EB1A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054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730B6"/>
                </a:solidFill>
              </a:defRPr>
            </a:pPr>
            <a:r>
              <a:rPr sz="165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54F6A2-CE82-4524-98A5-68A0D82C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054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baseline, proposed, ablation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D367E2-AF57-456E-8336-E3C1DB3A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4483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730B6"/>
                </a:solidFill>
              </a:defRPr>
            </a:pPr>
            <a:r>
              <a:rPr sz="165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E010D9-FBB5-445A-8510-5154CFD7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448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воспроизводимый pipeline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7BAA9C-AF62-4AC0-BFF8-A1263DED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F71A7F-0222-4831-B5B0-D57009AD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345548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62423C-E72A-4884-868A-1134E3DC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39A21E-1271-44DF-A210-83D9625C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8FBB9-A65F-4CE5-B3B3-8D6EAFAF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730B6"/>
                </a:solidFill>
              </a:defRPr>
            </a:pPr>
            <a:r>
              <a:rPr sz="1200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E347B-E36C-4979-A81D-F3932120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A8C13E-00DC-45DD-865B-B910875E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Литература задает проблему, эксперимент проверяет метод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9DBB37-E02B-4AEC-A686-48C21DBF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8A1D08-CF43-45EE-BB7A-826635B09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2143125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730B6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75CB60-0C8C-42F8-B38F-19A859CC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95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Источник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A654D-AC7E-42B8-8620-864CEBEF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1381125"/>
            <a:ext cx="3667125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730B6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C52691-4C21-4223-A7ED-433008BC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495425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Что взято в работу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2F823-A71F-4B41-9412-8918E55D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38325"/>
            <a:ext cx="2143125" cy="685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C5DB11-72D5-4402-BEA9-79FD367A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Heidecker et al., 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81174-E8C0-496C-94EA-D4EA4C86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1838325"/>
            <a:ext cx="3667125" cy="685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55151-7697-4CEC-869B-0136CC5D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952625"/>
            <a:ext cx="3476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F172A"/>
                </a:solidFill>
              </a:defRPr>
            </a:pPr>
            <a:r>
              <a:rPr sz="1275" b="0">
                <a:solidFill>
                  <a:srgbClr val="0F172A"/>
                </a:solidFill>
              </a:rPr>
              <a:t>corner cases и редкие ситуации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88E2E-E140-4BBF-A994-7A18A8BF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2143125" cy="685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D3616A-5F94-44D1-A634-92383ACE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Bijelic et al., 2020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47AFF8-6E49-4810-BD44-3DB9AB36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2524125"/>
            <a:ext cx="3667125" cy="685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9A3FCB-33BD-4B50-8D84-EAAFB56C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38425"/>
            <a:ext cx="3476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F172A"/>
                </a:solidFill>
              </a:defRPr>
            </a:pPr>
            <a:r>
              <a:rPr sz="1275" b="0">
                <a:solidFill>
                  <a:srgbClr val="0F172A"/>
                </a:solidFill>
              </a:rPr>
              <a:t>деградация сенсоров в плохую погоду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EE68F7-6C02-4481-A373-1C76F49D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2143125" cy="685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63B040-E79C-4B60-98B7-DACFFB97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Huang et al., 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7CFD00-1C5D-406E-9F3E-DCF2DB16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209925"/>
            <a:ext cx="3667125" cy="685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833F19-2BEF-4435-A727-B21D48EC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24225"/>
            <a:ext cx="3476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F172A"/>
                </a:solidFill>
              </a:defRPr>
            </a:pPr>
            <a:r>
              <a:rPr sz="1275" b="0">
                <a:solidFill>
                  <a:srgbClr val="0F172A"/>
                </a:solidFill>
              </a:rPr>
              <a:t>sensor fusion и виды объединения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2E849A-8D9F-4233-96E8-05869F52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95725"/>
            <a:ext cx="2143125" cy="685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EC3871-FBCB-43D2-A2F4-110033C3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Kumar et al., 2025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FA7C57-03BF-4ED0-BABA-BB18C4F4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895725"/>
            <a:ext cx="3667125" cy="685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0F9B09-8308-4B42-95A9-30140BEE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010025"/>
            <a:ext cx="3476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F172A"/>
                </a:solidFill>
              </a:defRPr>
            </a:pPr>
            <a:r>
              <a:rPr sz="1275" b="0">
                <a:solidFill>
                  <a:srgbClr val="0F172A"/>
                </a:solidFill>
              </a:rPr>
              <a:t>пример падения mAP при деградации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41EEAF-D6B2-48F8-B7A6-A4FAE574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09700"/>
            <a:ext cx="452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BEVFusion при деградации сенсоров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4352F3-B9E7-436C-91A1-F809CC9F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79070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mAP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09FA32-D094-4907-9E83-DB1E3AF4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66900"/>
            <a:ext cx="9525" cy="21145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94A3B8"/>
          </a:solidFill>
          <a:ln xmlns:a="http://schemas.openxmlformats.org/drawingml/2006/main" w="10478">
            <a:solidFill>
              <a:srgbClr val="94A3B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DACD67-8C10-4357-996A-6441C62B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81450"/>
            <a:ext cx="3857625" cy="952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94A3B8"/>
          </a:solidFill>
          <a:ln xmlns:a="http://schemas.openxmlformats.org/drawingml/2006/main" w="10478">
            <a:solidFill>
              <a:srgbClr val="94A3B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C3A41B-8782-4315-BC5D-51F1541F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64180"/>
            <a:ext cx="323850" cy="101727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4C78A8"/>
          </a:solidFill>
          <a:ln xmlns:a="http://schemas.openxmlformats.org/drawingml/2006/main" w="10478">
            <a:solidFill>
              <a:srgbClr val="4C78A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BCDB73-5837-4175-92FE-17EE1AB4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84233"/>
            <a:ext cx="323850" cy="597218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58518"/>
          </a:solidFill>
          <a:ln xmlns:a="http://schemas.openxmlformats.org/drawingml/2006/main" w="10478">
            <a:solidFill>
              <a:srgbClr val="F585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CA6731-40B4-48DE-A35E-90D49FF0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3558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35.6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0796F2-5E0C-4412-B2CA-D3CED3A0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55633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20.9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E6F8E0-AB5F-4E0B-A059-FE72FBCB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11480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Camera-only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occlusion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84BD88-BA6A-4485-9051-5C67F74E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24063"/>
            <a:ext cx="323850" cy="1957388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4C78A8"/>
          </a:solidFill>
          <a:ln xmlns:a="http://schemas.openxmlformats.org/drawingml/2006/main" w="10478">
            <a:solidFill>
              <a:srgbClr val="4C78A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8F53F6-6094-4940-8571-D288348A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104073"/>
            <a:ext cx="323850" cy="1877378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58518"/>
          </a:solidFill>
          <a:ln xmlns:a="http://schemas.openxmlformats.org/drawingml/2006/main" w="10478">
            <a:solidFill>
              <a:srgbClr val="F5851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336362-3674-4427-93A1-6E0AF9C6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95463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68.5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CC8FE2-5E25-4478-9064-BD79946A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75472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65.7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A494B-01A1-40A3-B78D-E10151D8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1480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Fusion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occlusion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39891E-5962-485A-A7C6-563A4B6B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024063"/>
            <a:ext cx="323850" cy="1957388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4C78A8"/>
          </a:solidFill>
          <a:ln xmlns:a="http://schemas.openxmlformats.org/drawingml/2006/main" w="10478">
            <a:solidFill>
              <a:srgbClr val="4C78A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027F78-79FF-4144-912D-5D7B8EDD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2549843"/>
            <a:ext cx="323850" cy="1431608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58518"/>
          </a:solidFill>
          <a:ln xmlns:a="http://schemas.openxmlformats.org/drawingml/2006/main" w="10478">
            <a:solidFill>
              <a:srgbClr val="F5851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69E7EC-6717-470D-BCD9-A8EADD01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795463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68.5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D8CA95B-3AA4-4DC4-8264-F509C994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321243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50.1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8FA98FE-5443-45DC-B514-1D380F2B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1480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Fusion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LiDAR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B16059-7D1A-4CAD-A145-CE69E089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907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4C78A8"/>
          </a:solidFill>
          <a:ln xmlns:a="http://schemas.openxmlformats.org/drawingml/2006/main" w="10478">
            <a:solidFill>
              <a:srgbClr val="4C78A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4CF7F4C-F204-49D3-946F-57333570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76212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до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B2F69C-AB7D-44FF-9DFD-EBB10EC6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8518"/>
          </a:solidFill>
          <a:ln xmlns:a="http://schemas.openxmlformats.org/drawingml/2006/main" w="10478">
            <a:solidFill>
              <a:srgbClr val="F58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2E56A60-A508-482E-B768-79A61C88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62125"/>
            <a:ext cx="714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после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03313F-47C1-48BE-8CA2-17D6BBF1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672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0478">
            <a:solidFill>
              <a:srgbClr val="F973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Литературный пример</a:t>
            </a:r>
          </a:p>
          <a:p xmlns:a="http://schemas.openxmlformats.org/drawingml/2006/main">
            <a:pPr algn="ctr"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не собственный эксперимент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B462A2-C458-4778-A094-3A697553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5E7635-55BC-46C4-BAD8-4D72A790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358858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471E76-BADA-4488-BEA1-9113FD54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FEBE8B-898B-4CC9-9E55-849A3CB6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F4E2B-5073-45AF-8CDE-1D9F9F30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730B6"/>
                </a:solidFill>
              </a:defRPr>
            </a:pPr>
            <a:r>
              <a:rPr sz="1200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2F8CA-4596-4CD9-A0E0-CBD8BE3A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B416F-38FC-42C6-BABE-E329A01F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Разметка сцены превращается в оценку риска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051B8-6797-47D1-8D57-9CF2941B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C6A031-3756-4A5A-9E49-FDD8F7D3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1504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1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KITTI-аннотация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class, bbox,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3D position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A9A92F-5B34-4915-A81B-C82B8ED0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9812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730B6"/>
                </a:solidFill>
              </a:defRPr>
            </a:pPr>
            <a:r>
              <a:rPr sz="2025" b="1">
                <a:solidFill>
                  <a:srgbClr val="2730B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414310-CBF9-4E47-8FB4-859FBF58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04950"/>
            <a:ext cx="1504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2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Scenario table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одна строка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одна сцена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E43CCC-AF1F-480E-BFA4-D697E92C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9812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730B6"/>
                </a:solidFill>
              </a:defRPr>
            </a:pPr>
            <a:r>
              <a:rPr sz="2025" b="1">
                <a:solidFill>
                  <a:srgbClr val="2730B6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3331D-29AA-450D-86E9-1D97DF16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504950"/>
            <a:ext cx="1504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3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Признаки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distance,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lateral, visibility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9E286-FBF3-4B44-9AEC-6A0C3FD9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9812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730B6"/>
                </a:solidFill>
              </a:defRPr>
            </a:pPr>
            <a:r>
              <a:rPr sz="2025" b="1">
                <a:solidFill>
                  <a:srgbClr val="2730B6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7BDE05-60A8-4C8F-BF06-6D65600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04950"/>
            <a:ext cx="1504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4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Reliability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качество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наблюдения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CCD878-E423-4DE1-9C2F-02F38A3B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9812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730B6"/>
                </a:solidFill>
              </a:defRPr>
            </a:pPr>
            <a:r>
              <a:rPr sz="2025" b="1">
                <a:solidFill>
                  <a:srgbClr val="2730B6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BF948F-A422-4FE5-8919-E09A5281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04950"/>
            <a:ext cx="1504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5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Risk score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правило риска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и logreg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9DFC6B-0CBC-4ABB-B79A-0ED6993D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9812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730B6"/>
                </a:solidFill>
              </a:defRPr>
            </a:pPr>
            <a:r>
              <a:rPr sz="2025" b="1">
                <a:solidFill>
                  <a:srgbClr val="2730B6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0EFA85-7729-480B-9EC4-5491C680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504950"/>
            <a:ext cx="1504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0478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6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Решение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critical_scene</a:t>
            </a:r>
          </a:p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или OK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41D507-D834-4397-AB90-592FD409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71875"/>
            <a:ext cx="31432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critical_scene строится фиксированным правилом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0C2D-B2C5-48ED-95F8-201D346A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71875"/>
            <a:ext cx="2857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порог выбирается на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6F35BE-4EFD-4C0A-8A47-A8D57978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71875"/>
            <a:ext cx="31432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0478">
            <a:solidFill>
              <a:srgbClr val="DC262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test split не участвует в настройке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278F78-53A8-4908-B124-D9605BE6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4350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475569"/>
                </a:solidFill>
              </a:defRPr>
            </a:pPr>
            <a:r>
              <a:rPr sz="1650" b="0">
                <a:solidFill>
                  <a:srgbClr val="475569"/>
                </a:solidFill>
              </a:rPr>
              <a:t>Метод не обучает детектор по изображениям. Он оценивает риск сцены по признакам из реальной разметки.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0DB571-D0A0-4AA1-A4CF-EE270399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4B8CD9-7664-412D-9E8E-388C4F3C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52730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D18327-694B-4E33-9C66-2737DE79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985F75-4A0C-4D25-88EF-F91795B6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1FFE4-B8A3-4E6A-8B73-2765EF66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730B6"/>
                </a:solidFill>
              </a:defRPr>
            </a:pPr>
            <a:r>
              <a:rPr sz="1200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E9313F-0D50-403E-9A20-EBB9C25D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74CB4-108B-4008-A83C-388F59BF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Архитектура делает эксперимент повторяемым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573620-CA93-406C-9E1C-73821AB8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5865E-5FA3-4912-A2C4-3B923539A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Программный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24977-B12D-424A-9321-63E5809E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4381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prepare_data.py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053F98-8429-4E39-AC90-4CB51556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574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70FB19-C3E4-4C32-88E1-5E2F56B3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381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train.py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F26FBA-1FFD-433B-AECF-75B06321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1E121-E19F-4A9F-8B74-5B3E05F0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4381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evaluate.py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D67A5B-C37A-49BF-9590-36DCEF50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290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3F3C1B-E1E7-4CE9-B8D6-7D873025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4381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make_figures.py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119F4D-FC20-4586-8222-78E56087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314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AFF9F-5FC6-4A67-B74F-BA011A53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4381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0478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итоговые файлы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4FAF90-FBDF-43DC-BF06-E012519D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Что сохраняется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4608E6-95BA-4083-B297-A875E619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478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D7EC98-70CB-493A-BE98-E49F5B46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478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data/processed/kitti_scenarios.csv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7B06A3-2105-417D-BBFA-71DA46AC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479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E16F20-042D-4CCF-8E0C-F0FD7D69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479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results/metrics.json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AC2CBD-8A3D-443F-8B57-576A4984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ED620B-5B2B-4948-BB42-7B699FE7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479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results/confusion_matrix.csv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C5B95B-A2B7-464C-B8CD-7D1589F9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480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C1CEC3-BA54-4D7C-9DDB-595BBA15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figures/*.png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B691A1-102C-4A1D-94DF-32738EFF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480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611B53-4D2A-4CF5-BBB1-805A1C02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final/*.pdf и *.pptx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3824D2-DFA1-4AD6-BC3F-938E87CF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67200"/>
            <a:ext cx="5048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Все числа в презентации берутся из results/metrics.json.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5DF284-08AC-4BF6-B3D0-6D266D4E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19700"/>
            <a:ext cx="5048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Проверено</a:t>
            </a:r>
          </a:p>
          <a:p xmlns:a="http://schemas.openxmlformats.org/drawingml/2006/main">
            <a:pPr algn="ctr"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unit tests, seed 54, повторяемый split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B35D4A-DB10-4862-93D1-8CB11927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318274-035C-4E9D-8113-0035BCF0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150483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BC894B-EC39-4E33-94E1-74A2CF86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1CBA5A-46CE-43FD-97F6-5FC0521A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C4C49-E333-4258-8296-5D79E3D0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730B6"/>
                </a:solidFill>
              </a:defRPr>
            </a:pPr>
            <a:r>
              <a:rPr sz="1200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1C563D-1647-454D-BF18-61A742EC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2A66D1-7F09-4A59-BE96-690E30D5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Эксперимент построен на реальных аннотациях KITTI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DCB282-CD25-4AE1-B774-268C605D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E5A4A9-EA81-4E94-924F-2FEAC5A6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2238375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26E70-305D-471D-894C-71ABDF25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38300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7481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EDFD72-040D-48E3-82E3-7A6FAD9C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1971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сцен всего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E9CD25-A6E4-42E8-91F4-A68C2BE7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28750"/>
            <a:ext cx="2238375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64748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7E6ADD-A115-4B24-8ED0-0A14C0F1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38300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4488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38E445-DAD4-4E51-8D16-8AAD7426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14550"/>
            <a:ext cx="1971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train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40F9C9-2B5B-4FCA-AA85-0DD58E1E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428750"/>
            <a:ext cx="2238375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64748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419024-D40C-4343-9EE9-0EDA9A1E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38300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1496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1B45D5-FAA6-4259-868B-4B86120D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14550"/>
            <a:ext cx="1971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69DE4A-05E8-4E12-A494-A273506D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428750"/>
            <a:ext cx="2238375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64748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80D4B-8FEB-430A-8CD6-5E035FBD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638300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1497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4759BE-928F-47FE-BB09-682E269A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14550"/>
            <a:ext cx="1971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4A127F-C036-4F8C-9EF5-AF460990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Почему label derived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90A67A-9407-4339-9915-FD1EFF5D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EB38C8-E5E8-4D2B-9444-9A3090CF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KITTI не содержит готовую ADAS critical label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73AAE4-CDB0-409F-8599-FF91132D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8AE94F-543B-41D9-851F-7C44CE35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8145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правило использует class, 3D distance и lateral position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D78AB1-2D5C-4592-BBAD-EF2A358D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D94219-A73D-4068-803C-6536CB11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0055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occlusion и truncation повышают риск сцены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710AF7-658C-4C04-AE76-50E593F9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7185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реальная аннотация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527C2B-D435-4BF8-AA16-AA3089F5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5242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730B6"/>
                </a:solidFill>
              </a:defRPr>
            </a:pPr>
            <a:r>
              <a:rPr sz="2025" b="1">
                <a:solidFill>
                  <a:srgbClr val="2730B6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6C6443-2E0E-4C10-845F-E4606AFF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371850"/>
            <a:ext cx="1333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fixed rule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477271-8E0E-4D68-B3F2-77F34F42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5242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730B6"/>
                </a:solidFill>
              </a:defRPr>
            </a:pPr>
            <a:r>
              <a:rPr sz="2025" b="1">
                <a:solidFill>
                  <a:srgbClr val="2730B6"/>
                </a:solidFill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A88CB2-113E-425B-9726-856C7A81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371850"/>
            <a:ext cx="11239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0478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critical_scene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BC0FED-7139-4BF4-A1C2-CB0E0E32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57700"/>
            <a:ext cx="2000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model training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46F784-8B18-4357-AAC3-8E1CAD8A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0195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BEB96F-B278-4CE3-A1D2-C228D0A0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2CDC91-336A-4018-A820-2BC78BB7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649067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4A5258-AE37-4CA0-9D69-6800D245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7B6BD7-789F-4161-953A-8C73ECE2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552E0-BD01-459D-969B-40096B3D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730B6"/>
                </a:solidFill>
              </a:defRPr>
            </a:pPr>
            <a:r>
              <a:rPr sz="1200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17F5D-DA4F-4D59-B724-F73405E4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34763D-AD7B-4F2C-934D-3C384813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Proposed model лучше удерживает критические сцены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9D5AF-BA09-4216-94CF-89640276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888D10-0D8C-4D05-B1BB-B5028E18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809750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730B6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77BC1E-8BC8-4771-8EDE-FCD7DC01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95425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84500-BB02-407B-84B9-695348B0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381125"/>
            <a:ext cx="1238250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730B6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D90927-7F34-44B9-AB6E-2B410366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495425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E1B5C0-9495-4B39-A62E-DA26187B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381125"/>
            <a:ext cx="1238250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730B6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EE7770-6DB1-4E6B-BA73-7F5227C4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495425"/>
            <a:ext cx="104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DC579B-E215-4926-8606-F6A88D41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381125"/>
            <a:ext cx="1066800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730B6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243483-502E-4350-A5C5-FE4F15BB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495425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92FB7-34E5-4D2E-9577-C3D42F03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81125"/>
            <a:ext cx="952500" cy="457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730B6"/>
          </a:solidFill>
          <a:ln xmlns:a="http://schemas.openxmlformats.org/drawingml/2006/main" w="10478">
            <a:solidFill>
              <a:srgbClr val="2730B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FA123-5C96-4FFF-8562-B10A776A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49542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FNR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8A9D20-727A-4C1F-AD25-BDFA24FD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38325"/>
            <a:ext cx="180975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F65EB4-54B8-4120-B911-6E0A3210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Baseline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6EA9C7-F577-48D6-B625-18DBADD1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38325"/>
            <a:ext cx="123825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09245B-985E-44AC-A06D-83B6EC15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952625"/>
            <a:ext cx="104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0.876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B1CB97-62F2-4AA5-9890-94E9C27F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38325"/>
            <a:ext cx="123825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DEE2BF-5010-49D8-B7BC-DC3FE0DE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952625"/>
            <a:ext cx="104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0.913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8C5E29-336F-4C73-B33F-1C83457C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38325"/>
            <a:ext cx="10668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AD756A-846D-41FC-80F3-EDE3D2D4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952625"/>
            <a:ext cx="876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0.894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0CF3F7-026D-454C-8353-0C8206A7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38325"/>
            <a:ext cx="9525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EDD864-FCFC-4315-9996-AE43EEC7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5262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0.087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DB4B08-785F-44DC-AE6B-ABF188B9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180975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0478">
            <a:solidFill>
              <a:srgbClr val="10B98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E216E2-ACE3-41ED-B483-8DD68DA5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Proposed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1B36C3-3861-4531-9991-CDA5E2C7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428875"/>
            <a:ext cx="123825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0478">
            <a:solidFill>
              <a:srgbClr val="10B98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2BCC68-24D3-4784-AF38-E9F69E3D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543175"/>
            <a:ext cx="104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0.885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13052F-4A66-4EE6-97CE-4523F01B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28875"/>
            <a:ext cx="123825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0478">
            <a:solidFill>
              <a:srgbClr val="10B98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69C18F-F043-45A2-85DC-746BDD3E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43175"/>
            <a:ext cx="104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0.937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353841-539B-42D1-9C43-CA8F7B67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28875"/>
            <a:ext cx="10668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0478">
            <a:solidFill>
              <a:srgbClr val="10B98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CA0DEA-64A1-401A-B4F7-4A757C1D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543175"/>
            <a:ext cx="876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0.911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235FF8-02A3-4382-891B-AB8EBCAB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28875"/>
            <a:ext cx="9525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0478">
            <a:solidFill>
              <a:srgbClr val="10B98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2FEE84-8743-4CF4-B3EF-DE698C14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4317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0.063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D2D99B-5CC1-44F9-B777-7614C554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19425"/>
            <a:ext cx="180975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FDF0BB-6EB8-4B15-B975-29E12044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3372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Ablation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4CFA77-7E05-485B-BB89-5C665AAA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019425"/>
            <a:ext cx="123825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F342CB-F025-4D4E-ABBD-B73C761D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133725"/>
            <a:ext cx="104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0.881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9C2ECB-5FAF-4532-AF64-C724E41C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19425"/>
            <a:ext cx="123825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4EF086D-61A3-4927-8F70-B570962B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33725"/>
            <a:ext cx="104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0.869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C901F4-C0C2-44D6-91CE-04E6E8FF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19425"/>
            <a:ext cx="10668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F05AA7-AACD-40F8-AEDC-2439916C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33725"/>
            <a:ext cx="876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0.875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8860F6-1BDB-48D9-A407-5EDFFFAB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19425"/>
            <a:ext cx="9525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8F6D83A-4CBE-4305-BBFA-6A955350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13372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0.131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4FF3A0-3F8E-461A-9C54-7877C634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Матрица ошибок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055F56-BEC5-402D-B59C-44223845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57375"/>
            <a:ext cx="14287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0478">
            <a:solidFill>
              <a:srgbClr val="10B98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7EFF8F-2168-459F-A78D-EB37A1E5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66925"/>
            <a:ext cx="1123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509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840DE04-135C-4C6A-ACDB-B68828D7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43175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TP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1FE9275-887C-40F6-8E96-BB0F1E8B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57375"/>
            <a:ext cx="14287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0478">
            <a:solidFill>
              <a:srgbClr val="F9731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4719245-7C9E-44AD-B15F-47AC22FB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66925"/>
            <a:ext cx="1123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66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46BB0EC-8291-47DB-A040-E0326AC3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43175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FP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490FF8E-41D6-4CAD-89C5-1A437EC3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28950"/>
            <a:ext cx="14287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4F0ABAD-3A73-4D55-9096-22B79F37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238500"/>
            <a:ext cx="1123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34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8CAA7C-4FBC-4A24-A07A-E91267F8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147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FN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8B68E4-09B1-42F3-A033-6B5541B7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28950"/>
            <a:ext cx="14287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64748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D56031E-20DA-49AA-B2BF-C16DD2B2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38500"/>
            <a:ext cx="1123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888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6141A4B-790B-4860-84DA-6DCB6CFC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147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TN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8D92A2-3156-4665-AF14-226CF79F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5905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0478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Accuracy 0.933 · ROC AUC 0.981 · PR AUC 0.970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4805886-2BFA-4254-94C4-7D308440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86375"/>
            <a:ext cx="962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756"/>
                </a:solidFill>
              </a:defRPr>
            </a:pPr>
            <a:r>
              <a:rPr sz="1800" b="1">
                <a:solidFill>
                  <a:srgbClr val="101756"/>
                </a:solidFill>
              </a:rPr>
              <a:t>Proposed model дает лучший баланс F1 и снижает долю пропусков критических сцен.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F7771F7-DCB7-4564-9995-16D856CB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2A2B1F6-73C9-449A-84E3-6BB7751B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799345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54CC1F-540A-4518-8938-9A4AB105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662CA-C508-49A6-A489-BE70B171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BDD735-3FB3-420E-BD94-688A6AC9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730B6"/>
                </a:solidFill>
              </a:defRPr>
            </a:pPr>
            <a:r>
              <a:rPr sz="1200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46D26-3275-47DB-B020-2A665163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E9C3B9-7452-4CDA-B708-14C374D4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Ошибки связаны с близостью, окклюзией и меткой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20815-472B-40D8-90F1-EAF45791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204b056df943f3"/>
          <a:stretch xmlns:a="http://schemas.openxmlformats.org/drawingml/2006/main"/>
        </p:blipFill>
        <p:spPr>
          <a:xfrm xmlns:a="http://schemas.openxmlformats.org/drawingml/2006/main">
            <a:off x="613495" y="1381125"/>
            <a:ext cx="5040460" cy="30956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957E25-AD1D-44E6-8057-F3336338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811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Ошибки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CDD625-CB99-4431-A15E-F16EF67E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09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EF90FE-6E80-4B18-81E1-9E426F8F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8097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FP: близкий объект делает сцену похожей на опасную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2ADA7E-496B-4B3E-A36F-7F55F2FD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669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BA2999-BA6E-430C-908A-9A2DB768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669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FN: score ниже порога при derived label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4D5C3D-FF58-43D8-A7F8-47530FD1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0FD9C5-63A2-4F23-81E6-9AC9E93F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241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частичная видимость усиливает неопределенность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5BFBEF-57E6-477E-A095-11C7E2FC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Ограничения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A512B3-2FD4-4E7C-9ABB-4E5A6017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433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A00E80-93FD-4663-8236-051E5FD8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143375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KITTI не содержит radar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B345E0-E996-48AF-8E11-52D25879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243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A02813-532F-42EC-8DAF-6FE1B83D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524375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нет готовой ADAS critical label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91570-CA8B-4C46-9A8A-0293D16D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053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D9E556-8B52-4F7E-8306-3DD41DD0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05375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модель scenario-level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CF105A-4358-4250-9A60-FBDD2C3F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863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0BF3F-E9F7-4B8A-A4BD-D82C9908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86375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не сертифицированная система безопасности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8DB3E-3A90-4FB3-8295-65C8DF0A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830330-D23B-4403-AAB8-0185FF59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56731948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AEEDBF-898C-49FD-9E6E-FBAF98F2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645A4-711A-46F8-B825-8FE1BE16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2C1EE7-2B60-4EC7-B219-33ACBDFF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730B6"/>
                </a:solidFill>
              </a:defRPr>
            </a:pPr>
            <a:r>
              <a:rPr sz="1200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01A7DF-6C7C-4BE4-9A92-E4C99939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049DD-79D5-4AD6-9D25-8CF572DA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172A"/>
                </a:solidFill>
              </a:defRPr>
            </a:pPr>
            <a:r>
              <a:rPr sz="2700" b="1">
                <a:solidFill>
                  <a:srgbClr val="0F172A"/>
                </a:solidFill>
              </a:rPr>
              <a:t>Итог: слой оценки критичности ADAS-сцен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C2ACE2-866C-4ED0-BBAF-8A05213C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590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A15D7-F17B-4D2E-AD1A-C67D80A0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3143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Разработано</a:t>
            </a:r>
          </a:p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scenario-level методика</a:t>
            </a:r>
          </a:p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critical_scene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58FB48-552C-4AD0-94FC-D7E07E6E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3143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Реализовано</a:t>
            </a:r>
          </a:p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код, обучение,</a:t>
            </a:r>
          </a:p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метрики и графики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3C3E2B-EBEC-4CEC-AE90-A03B0088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0478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Проверено</a:t>
            </a:r>
          </a:p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KITTI test: 1497 сцен</a:t>
            </a:r>
          </a:p>
          <a:p xmlns:a="http://schemas.openxmlformats.org/drawingml/2006/main">
            <a:pPr algn="ctr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Recall 0.937, F1 0.911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3B6C25-844D-4D63-9777-1E04ADCD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29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Дальнейшее развитие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0E7CAA-BCA3-410C-AA50-F9DDCE4F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862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730B6"/>
                </a:solidFill>
              </a:defRPr>
            </a:pPr>
            <a:r>
              <a:rPr sz="165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427C9-A4BF-4DEA-869E-7B992B20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8620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raw image, LiDAR и radar pipeline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D7A055-0CCF-4B6B-B983-2E60A80E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730B6"/>
                </a:solidFill>
              </a:defRPr>
            </a:pPr>
            <a:r>
              <a:rPr sz="165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97EA22-7147-49D5-9585-F5D41525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481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nuScenes или CARLA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02291-E00F-423F-BE19-D0671FF1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101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730B6"/>
                </a:solidFill>
              </a:defRPr>
            </a:pPr>
            <a:r>
              <a:rPr sz="165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2D7201-98AD-480B-9266-F09A9F47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1010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проверка плохой погоды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80687F-067F-4848-9CE1-EDEC3843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720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730B6"/>
                </a:solidFill>
              </a:defRPr>
            </a:pPr>
            <a:r>
              <a:rPr sz="165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8C059E-A0FC-4174-8F7D-B1260275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720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расширение critical labels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EDF010-BAF9-4BD3-A9CD-08FCE049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730B6"/>
                </a:solidFill>
              </a:defRPr>
            </a:pPr>
            <a:r>
              <a:rPr sz="165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4B64AB-A4EA-436A-9678-D41D615A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33400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инженерная валидация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B60A13-5F61-478B-8820-EE0C0379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1025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1756"/>
                </a:solidFill>
              </a:defRPr>
            </a:pPr>
            <a:r>
              <a:rPr sz="1650" b="1">
                <a:solidFill>
                  <a:srgbClr val="101756"/>
                </a:solidFill>
              </a:rPr>
              <a:t>Текущий результат полезен как проверяемая основа, но не заменяет промышленную ADAS-валидацию.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296242-8F89-41CD-AB33-BED31EAD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DB7C99-83E0-42D5-BA8A-B381A041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2730B6"/>
                </a:solidFill>
              </a:defRPr>
            </a:pPr>
            <a:r>
              <a:rPr sz="1200" b="0">
                <a:solidFill>
                  <a:srgbClr val="2730B6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04483685"/>
      </p:ext>
    </p:extLst>
  </p:cSld>
</p:sld>
</file>

<file path=ppt/theme/theme1.xml><?xml version="1.0" encoding="utf-8"?>
<a:theme xmlns:a="http://schemas.openxmlformats.org/drawingml/2006/main" name="TGU ADAS">
  <a:themeElements>
    <a:clrScheme name="TGU ADA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GU ADA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2026-07-08T15:21:56.3570000Z</dcterms:created>
  <dcterms:modified xsi:type="dcterms:W3CDTF">2026-07-08T15:21:56.3570000Z</dcterms:modified>
</coreProperties>
</file>