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574b5c409a4d48" /><Relationship Type="http://schemas.openxmlformats.org/officeDocument/2006/relationships/extended-properties" Target="/docProps/app.xml" Id="Rccf36267d34b4a73" /><Relationship Type="http://schemas.openxmlformats.org/officeDocument/2006/relationships/officeDocument" Target="/ppt/presentation.xml" Id="Rd98a37c9a21b4b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97611971234bee"/>
  </p:sldMasterIdLst>
  <p:notesMasterIdLst>
    <p:notesMasterId xmlns:r="http://schemas.openxmlformats.org/officeDocument/2006/relationships" r:id="Rf2d6df0bf5bb4530"/>
  </p:notesMasterIdLst>
  <p:sldIdLst>
    <p:sldId xmlns:r="http://schemas.openxmlformats.org/officeDocument/2006/relationships" id="256" r:id="R999b663856ce4b19"/>
    <p:sldId xmlns:r="http://schemas.openxmlformats.org/officeDocument/2006/relationships" id="257" r:id="Rb4cec9bc05854bc3"/>
    <p:sldId xmlns:r="http://schemas.openxmlformats.org/officeDocument/2006/relationships" id="258" r:id="Rce60731ce8fe4c5c"/>
    <p:sldId xmlns:r="http://schemas.openxmlformats.org/officeDocument/2006/relationships" id="259" r:id="Rec9a232d19ed4085"/>
    <p:sldId xmlns:r="http://schemas.openxmlformats.org/officeDocument/2006/relationships" id="260" r:id="Rbaba2930bf0e4f0d"/>
    <p:sldId xmlns:r="http://schemas.openxmlformats.org/officeDocument/2006/relationships" id="261" r:id="Ra9baf7921b64450e"/>
    <p:sldId xmlns:r="http://schemas.openxmlformats.org/officeDocument/2006/relationships" id="262" r:id="R12bc53b5ee214632"/>
    <p:sldId xmlns:r="http://schemas.openxmlformats.org/officeDocument/2006/relationships" id="263" r:id="R5278da47c28545a1"/>
    <p:sldId xmlns:r="http://schemas.openxmlformats.org/officeDocument/2006/relationships" id="264" r:id="R1ef46f9de1574d90"/>
    <p:sldId xmlns:r="http://schemas.openxmlformats.org/officeDocument/2006/relationships" id="265" r:id="R77e0cbb6e4aa41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963629b09c4b86" /><Relationship Type="http://schemas.openxmlformats.org/officeDocument/2006/relationships/slideMaster" Target="/ppt/slideMasters/slideMaster1.xml" Id="Rd397611971234bee" /><Relationship Type="http://schemas.openxmlformats.org/officeDocument/2006/relationships/notesMaster" Target="/ppt/notesMasters/notesMaster1.xml" Id="Rf2d6df0bf5bb4530" /><Relationship Type="http://schemas.openxmlformats.org/officeDocument/2006/relationships/presProps" Target="/ppt/presProps.xml" Id="R7599ef13acff4e09" /><Relationship Type="http://schemas.openxmlformats.org/officeDocument/2006/relationships/tableStyles" Target="/ppt/tableStyles.xml" Id="Reab4b610203143a4" /><Relationship Type="http://schemas.openxmlformats.org/officeDocument/2006/relationships/slide" Target="/ppt/slides/slide1.xml" Id="R999b663856ce4b19" /><Relationship Type="http://schemas.openxmlformats.org/officeDocument/2006/relationships/slide" Target="/ppt/slides/slide2.xml" Id="Rb4cec9bc05854bc3" /><Relationship Type="http://schemas.openxmlformats.org/officeDocument/2006/relationships/slide" Target="/ppt/slides/slide3.xml" Id="Rce60731ce8fe4c5c" /><Relationship Type="http://schemas.openxmlformats.org/officeDocument/2006/relationships/slide" Target="/ppt/slides/slide4.xml" Id="Rec9a232d19ed4085" /><Relationship Type="http://schemas.openxmlformats.org/officeDocument/2006/relationships/slide" Target="/ppt/slides/slide5.xml" Id="Rbaba2930bf0e4f0d" /><Relationship Type="http://schemas.openxmlformats.org/officeDocument/2006/relationships/slide" Target="/ppt/slides/slide6.xml" Id="Ra9baf7921b64450e" /><Relationship Type="http://schemas.openxmlformats.org/officeDocument/2006/relationships/slide" Target="/ppt/slides/slide7.xml" Id="R12bc53b5ee214632" /><Relationship Type="http://schemas.openxmlformats.org/officeDocument/2006/relationships/slide" Target="/ppt/slides/slide8.xml" Id="R5278da47c28545a1" /><Relationship Type="http://schemas.openxmlformats.org/officeDocument/2006/relationships/slide" Target="/ppt/slides/slide9.xml" Id="R1ef46f9de1574d90" /><Relationship Type="http://schemas.openxmlformats.org/officeDocument/2006/relationships/slide" Target="/ppt/slides/slide10.xml" Id="R77e0cbb6e4aa41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09a7234ee543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e6268282ee4f80" /><Relationship Type="http://schemas.openxmlformats.org/officeDocument/2006/relationships/notesMaster" Target="/ppt/notesMasters/notesMaster1.xml" Id="Rb74854867b8f4e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4522f622aa4094" /><Relationship Type="http://schemas.openxmlformats.org/officeDocument/2006/relationships/notesMaster" Target="/ppt/notesMasters/notesMaster1.xml" Id="R1fb21ce6c303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a7a207afeb4fab" /><Relationship Type="http://schemas.openxmlformats.org/officeDocument/2006/relationships/notesMaster" Target="/ppt/notesMasters/notesMaster1.xml" Id="R12af87e541a743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be9830d16c4bd5" /><Relationship Type="http://schemas.openxmlformats.org/officeDocument/2006/relationships/notesMaster" Target="/ppt/notesMasters/notesMaster1.xml" Id="R02c9cd1cb5984b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7856be963d4aaf" /><Relationship Type="http://schemas.openxmlformats.org/officeDocument/2006/relationships/notesMaster" Target="/ppt/notesMasters/notesMaster1.xml" Id="R7e1e9f2f355943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f3473d9d7b44a6" /><Relationship Type="http://schemas.openxmlformats.org/officeDocument/2006/relationships/notesMaster" Target="/ppt/notesMasters/notesMaster1.xml" Id="R8dc1a583ffdb44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518927f0854a5c" /><Relationship Type="http://schemas.openxmlformats.org/officeDocument/2006/relationships/notesMaster" Target="/ppt/notesMasters/notesMaster1.xml" Id="R7174d2f685c440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d602d3452a455d" /><Relationship Type="http://schemas.openxmlformats.org/officeDocument/2006/relationships/notesMaster" Target="/ppt/notesMasters/notesMaster1.xml" Id="R27adcf93b2b848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4f0645df0b408d" /><Relationship Type="http://schemas.openxmlformats.org/officeDocument/2006/relationships/notesMaster" Target="/ppt/notesMasters/notesMaster1.xml" Id="Rd8f013266c7143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c07781f5104cdd" /><Relationship Type="http://schemas.openxmlformats.org/officeDocument/2006/relationships/notesMaster" Target="/ppt/notesMasters/notesMaster1.xml" Id="R37432458a81f4c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Начать с границы темы: работа не про полный автопилот, а про слой надежности восприятия ADAS.</a:t>
            </a:r>
          </a:p>
          <a:p xmlns:a="http://schemas.openxmlformats.org/drawingml/2006/main">
            <a:r>
              <a:t>Сказать, что итогом является воспроизводимый прототип, обученный на реальных KITTI-аннотациях.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 цену ошибки: false negative означает, что сцена опасна по разметке, но модель не выделила ее.</a:t>
            </a:r>
          </a:p>
          <a:p xmlns:a="http://schemas.openxmlformats.org/drawingml/2006/main">
            <a:r>
              <a:t>Подчеркнуть, что recall выбран важной метрикой не случайно.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работа осознанно не претендует на управление автомобилем.</a:t>
            </a:r>
          </a:p>
          <a:p xmlns:a="http://schemas.openxmlformats.org/drawingml/2006/main">
            <a:r>
              <a:t>Цель проверяется через код, данные и метрики, а не только через литературный обзор.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Указать источники: Heidecker по corner cases, Bijelic по погоде, Huang по sensor fusion, BEVFusion и Kumar как пример деградации.</a:t>
            </a:r>
          </a:p>
          <a:p xmlns:a="http://schemas.openxmlformats.org/drawingml/2006/main">
            <a:r>
              <a:t>Отделить чужие опубликованные числа от собственных метрик KITTI.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Пояснить, что признаки считаются из класса объекта, расстояния, lateral position, occlusion и truncation.</a:t>
            </a:r>
          </a:p>
          <a:p xmlns:a="http://schemas.openxmlformats.org/drawingml/2006/main">
            <a:r>
              <a:t>Порог выбирается на validation split, test split остается для финальной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Развести текущий воспроизводимый эксперимент и будущий более тяжелый raw sensor pipeline.</a:t>
            </a:r>
          </a:p>
          <a:p xmlns:a="http://schemas.openxmlformats.org/drawingml/2006/main">
            <a:r>
              <a:t>GPU RX7700XT можно назвать только как ресурс будущего этапа. Текущие метрики получены на табличной модели и не зависят от GPU.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Честно проговорить, что целевая метка derived, потому что KITTI не размечает ADAS criticality.</a:t>
            </a:r>
          </a:p>
          <a:p xmlns:a="http://schemas.openxmlformats.org/drawingml/2006/main">
            <a:r>
              <a:t>Это реальные аннотации дорожных сцен KITTI. Целевая метка получена фиксированным правилом из наблюдаемых признаков.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Пройти по основным числам. Подчеркнуть, что proposed выше baseline по recall и F1 на test split.</a:t>
            </a:r>
          </a:p>
          <a:p xmlns:a="http://schemas.openxmlformats.org/drawingml/2006/main">
            <a:r>
              <a:t>Матрица ошибок показывает 509 TP и 34 FN.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ошибки не скрыты: они сохранены в results/error_cases.csv.</a:t>
            </a:r>
          </a:p>
          <a:p xmlns:a="http://schemas.openxmlformats.org/drawingml/2006/main">
            <a:r>
              <a:t>Ограничение radar важно, поэтому результат не называется промышленной мультимодальной валидацией.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Закрыть доклад по задачам: методика, реализация, реальные данные, метрики, ошибки, ограничения.</a:t>
            </a:r>
          </a:p>
          <a:p xmlns:a="http://schemas.openxmlformats.org/drawingml/2006/main">
            <a:r>
              <a:t>Финальная фраза: работа дает проверяемую основу для дальнейшей промышленной валидации, но не заменяет 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8328c2decd42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3ca8008b654884" /><Relationship Type="http://schemas.openxmlformats.org/officeDocument/2006/relationships/slideLayout" Target="/ppt/slideLayouts/slideLayout1.xml" Id="R37a8570c2bda43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a8570c2bda43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4a98280c14c72" /><Relationship Type="http://schemas.openxmlformats.org/officeDocument/2006/relationships/notesSlide" Target="/ppt/notesSlides/notesSlide1.xml" Id="R4784659847a843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c1cf532834064" /><Relationship Type="http://schemas.openxmlformats.org/officeDocument/2006/relationships/notesSlide" Target="/ppt/notesSlides/notesSlide2.xml" Id="R374967ab1a8341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ff918e4694f3b" /><Relationship Type="http://schemas.openxmlformats.org/officeDocument/2006/relationships/notesSlide" Target="/ppt/notesSlides/notesSlide3.xml" Id="R929f9c7578054b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d34eefcce4080" /><Relationship Type="http://schemas.openxmlformats.org/officeDocument/2006/relationships/image" Target="/ppt/media/image.png" Id="R4c212a5aa42b4f2b" /><Relationship Type="http://schemas.openxmlformats.org/officeDocument/2006/relationships/notesSlide" Target="/ppt/notesSlides/notesSlide4.xml" Id="Re068b3cbda6f43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88e1e5ea54da7" /><Relationship Type="http://schemas.openxmlformats.org/officeDocument/2006/relationships/notesSlide" Target="/ppt/notesSlides/notesSlide5.xml" Id="R7d40c4a724174b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b3c9d15d423c" /><Relationship Type="http://schemas.openxmlformats.org/officeDocument/2006/relationships/notesSlide" Target="/ppt/notesSlides/notesSlide6.xml" Id="R2a0c303b07e94d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1437495a34243" /><Relationship Type="http://schemas.openxmlformats.org/officeDocument/2006/relationships/notesSlide" Target="/ppt/notesSlides/notesSlide7.xml" Id="R9852369d3dd94f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81939b31649ca" /><Relationship Type="http://schemas.openxmlformats.org/officeDocument/2006/relationships/image" Target="/ppt/media/image2.png" Id="R8605fb3f3d6a4c81" /><Relationship Type="http://schemas.openxmlformats.org/officeDocument/2006/relationships/image" Target="/ppt/media/image3.png" Id="R8243dd4cc14f4647" /><Relationship Type="http://schemas.openxmlformats.org/officeDocument/2006/relationships/notesSlide" Target="/ppt/notesSlides/notesSlide8.xml" Id="R47c09043c8a745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7def3856b465c" /><Relationship Type="http://schemas.openxmlformats.org/officeDocument/2006/relationships/image" Target="/ppt/media/image4.png" Id="Rd2a5a6fee06549f8" /><Relationship Type="http://schemas.openxmlformats.org/officeDocument/2006/relationships/image" Target="/ppt/media/image5.png" Id="Radad2be5cc7447e7" /><Relationship Type="http://schemas.openxmlformats.org/officeDocument/2006/relationships/notesSlide" Target="/ppt/notesSlides/notesSlide9.xml" Id="Rf49d95d31e2f4c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fed793ef641c6" /><Relationship Type="http://schemas.openxmlformats.org/officeDocument/2006/relationships/notesSlide" Target="/ppt/notesSlides/notesSlide10.xml" Id="R6f3456f5202447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9F5676-CE82-4A48-AB66-0EBFEC78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11582400" cy="6172200"/>
          </a:xfrm>
          <a:prstGeom xmlns:a="http://schemas.openxmlformats.org/drawingml/2006/main" prst="roundRect">
            <a:avLst>
              <a:gd name="adj" fmla="val 4321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5FA7A-E7BB-4860-AF3F-A417E9A6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38250"/>
            <a:ext cx="2000250" cy="23812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3F49D4"/>
          </a:solidFill>
          <a:ln xmlns:a="http://schemas.openxmlformats.org/drawingml/2006/main" w="9525">
            <a:solidFill>
              <a:srgbClr val="4F58D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C54D3-A6E8-4D5E-A14B-8266258E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14550"/>
            <a:ext cx="1162050" cy="876300"/>
          </a:xfrm>
          <a:prstGeom xmlns:a="http://schemas.openxmlformats.org/drawingml/2006/main" prst="roundRect">
            <a:avLst>
              <a:gd name="adj" fmla="val 2391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3887F0-AEE5-4C1D-93B7-9A4C589F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"/>
            <a:ext cx="876300" cy="552450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ТГУ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0D77C-7E9A-4276-B768-328E7D7D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862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Томский</a:t>
            </a:r>
          </a:p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государственный</a:t>
            </a:r>
          </a:p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университет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0A440D-D255-4C77-A32C-DE91CCB9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0050"/>
            <a:ext cx="876300" cy="552450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IDO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27BBE-81B8-44F3-AAC8-98B0B999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733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Разработка методов обнаружения и обработки редких и критических сценариев в мультимодальном восприятии систем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CE670B-A3ED-4EB9-B844-32F2199D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BEAFE"/>
                </a:solidFill>
              </a:defRPr>
            </a:pPr>
            <a:r>
              <a:rPr sz="1800" b="0">
                <a:solidFill>
                  <a:srgbClr val="DBEAFE"/>
                </a:solidFill>
              </a:rPr>
              <a:t>для повышения безопасности в сложных погодных и дорожных условиях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A0A0A-19C9-4108-A771-9C95E4B2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Марьяновский Владислав Андреевич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Группа 292405-1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09.04.03 Прикладная информатика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43455-B291-4B6C-A4A8-09B690A8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957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НИ ТГУ · Институт дистанционного образования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Профиль: компьютерное зрение и нейронные сети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Томск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9D754-9AC2-4B45-8231-25B06AC3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BEAFE"/>
                </a:solidFill>
              </a:defRPr>
            </a:pPr>
            <a:r>
              <a:rPr sz="975" b="0">
                <a:solidFill>
                  <a:srgbClr val="DBEAFE"/>
                </a:solidFill>
              </a:rPr>
              <a:t>ADAS ScenarioGuard · ВКР ·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CEF874-623E-4B55-B7F5-6D554DC0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BEAFE"/>
                </a:solidFill>
              </a:defRPr>
            </a:pPr>
            <a:r>
              <a:rPr sz="975" b="0">
                <a:solidFill>
                  <a:srgbClr val="DBEAFE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191148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2DFD60-AD61-49CC-A13B-F5F1E7D0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4A9CB-C875-4278-BD4A-6A5DC14B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0B366-BF79-45E5-AB6A-769D126E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50881-C58A-456E-8C0D-0E43D870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8CA72-4A81-4027-9319-05B62F44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Ошибка восприятия опасна именно в редких сценах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6F93D-8B77-4A0C-B099-8D6A58C2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5F87B-6EA7-4C69-9E90-E2E59AF5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CD91D-3A83-454A-BFFF-944AD3C5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192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Средняя точность скрывает поведение модели в тумане, ночью, при окклюзии и усечении объекта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F04BE-8C68-42C8-8771-68467CD2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F7FA8-13F6-44AA-89EC-4906B372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Для ADAS пропуск критической сцены опаснее лишней тревоги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64B88-77A3-4F86-BCB9-246CE8C6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2377A5-CC41-4764-89EA-782EC027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Нужен слой, который оценивает надежность восприятия и риск сцены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19964-EE3E-494C-BB81-3B1FA865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FNR primary model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0.063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65D4A-27ED-4777-8FD8-CAB9F8FE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 на test split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34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E80FE-28F9-4D9E-B400-DE5C03A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143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Recall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0.937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0F818-801D-4E87-99A4-AED38ED3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C7A987-4BEF-484F-A267-5A893BEE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046288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D97BEF-80ED-478E-B033-25F86F59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335AB-2F1D-4DE5-B85A-212113CD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36D4F-982E-486A-A87A-7D1D6562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D2BEF-3A19-4BF6-BC18-E6172141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52C09-D76E-4F7E-A9E8-CE27D493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Объект, предмет и цель задают узкую инженерную границу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49E97-6164-4B9A-BC24-50D75346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4AE34-53ED-431C-B8B6-2CDD98B3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Объект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мультимодальное восприятие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6D586-6611-4194-8D43-9D50B6A2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Предмет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редкие и критические сценарии, uncertainty, reliability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0E6E26-1A58-44A3-8A23-44EF6A13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Цель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методика оценки critical scene и проверка на реальных данных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50B5E-A1F6-43AA-A197-8CD0712F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126A1-1B57-4CF7-BE22-6E3136D8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957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Разработаны признаки качества наблюдения и risk prior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242B9-816F-49AD-8598-0713BC35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17164-8E62-4B65-A1FA-E249DA39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baseline, proposed и ablation модели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805FA4-647C-4373-B262-60300F62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0C278-D3D1-4531-BCDB-A470666E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339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Собран воспроизводимый pipeline с результатами и графиками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B9782-7029-4BDE-8595-B6BBEE44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8B73E-542C-48E2-BB70-EF0E09EA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317476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3DC357-FEE9-4D98-B35D-43099756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89005-8F42-4508-89D4-D6662EB6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F2173-1AE5-4CD2-B6E4-130E7A58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AC7AC-4C70-4B6C-8722-6B9FBE8C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637A4-04F5-4DF0-A422-3EEFB991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Литература показывает, что деградация сенсоров измерима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DDE7A-AB50-47E8-9E0F-2ED51D6A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12a5aa42b4f2b"/>
          <a:stretch xmlns:a="http://schemas.openxmlformats.org/drawingml/2006/main"/>
        </p:blipFill>
        <p:spPr>
          <a:xfrm xmlns:a="http://schemas.openxmlformats.org/drawingml/2006/main">
            <a:off x="666750" y="1524709"/>
            <a:ext cx="5810250" cy="390383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9EB0E-0F6F-4660-9D53-0D0642D4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72125"/>
            <a:ext cx="547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По данным Kumar et al., 2025. Не является собственным экспериментом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EB4A6-08AB-4ED4-BF91-F3F21C88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303E8-86A0-4D89-874F-907742B8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Corner cases требуют отдельного анализа вне средней точности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23E98-4F89-4E15-9ED2-1655C39B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5D864-0FFF-426F-B7B4-7E14B3DD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Плохая погода влияет на сенсоры по-разному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4E214-1077-4B3C-A139-AE1587D4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5EBBDC-A698-4337-A3C1-275241BE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Fusion устойчивее camera-only, но LiDAR degradation все равно заметна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DC992-2AD8-4731-B657-97A6006A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A3EE11-A02A-4596-9E58-0E980DB3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График справа не является собственным экспериментом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49AA4-67EC-4725-A178-E5E8D8BD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24AB9-5883-47EB-AD6C-CD3E09E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70119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DF54F-A03D-4CDA-9CFE-FF93F3A7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EF19C-7C8B-49EF-9BBD-FE82970E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70D7A-9D37-44AD-8D0B-9F8E859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FD223-9A98-403B-AA8D-83172E46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F35FC-F683-4796-81DD-BEEA68FC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Методика связывает наблюдение, надежность и риск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D5B44-422D-4406-986E-309D14F1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00B2B-DCC8-4870-B6AC-C39E2359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9526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Входные наблюдения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class, bbox, 3D position,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occlusion, truncation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0942D-EC11-4A00-8491-7F3035A5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190A7E-5AE4-4514-A27F-6E1A0046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81150"/>
            <a:ext cx="1809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Признаки качества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camera proxy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geometry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CBAE4-8E46-46C8-ACAB-964CF80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F20EE9-36F8-4EEA-9AA1-116F34BC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81150"/>
            <a:ext cx="1809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Reliability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качество наблюдения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как вход модели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0652C4-EBDD-4A00-A251-C8E5FA9E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A612B-E0F4-4538-A111-919E4EA0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81150"/>
            <a:ext cx="166687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Uncertainty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0,55 camera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0,45 geometry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18164-5655-403F-8680-3FE58584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14994-88CF-4E47-9C3B-ED78953F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1581150"/>
            <a:ext cx="15716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Risk score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class, distance,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lateral, occlusion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877F9A-6415-4815-9964-AE5DE2E5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33750"/>
            <a:ext cx="4095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Фиксированное правило critical_scene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уязвимый участник впереди, близкий транспорт, сильная окклюзия или truncation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53FEE7-2291-400C-A2A6-453DDFBF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337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Logistic regression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baseline, proposed, ablation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порог выбирается на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D113B-D3A6-4177-A4EB-2BE49E58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33750"/>
            <a:ext cx="233362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Итог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critical scene или OK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ошибки сохраняются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03B9A3-8300-4D15-8F14-405EA03C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33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A67DB-2F18-47F2-BD18-8F7979E6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33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4DB6B4-DEC5-4F62-93E1-2C932DD7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95875"/>
            <a:ext cx="962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Обучение и метрики строятся на реальных аннотациях KITTI. JSON demo не влияет на test split.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C709C-367E-4086-9971-FD6F1CB1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FBA7E3-C536-492E-AC0C-E0F56F70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545040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2F9C98-ED36-47AE-8A9A-2596BF67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20B87-B818-4D43-B7C3-85ED6171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87DED-C361-4679-8665-C937ED1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EEB86-7815-4424-B9FD-61E52845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AAEB1-957D-4AA5-A822-4E5E952D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Архитектура разделяет подготовку, обучение и отчетность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1522A-2F12-433F-911E-CAD78651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F97BC1-C38B-4140-826D-EA74402C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1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prepare_data.py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KITTI label_2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D75C1-8427-4B2D-B314-ED83AFCE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369AC-5F79-4F0F-A28D-C4DECC88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2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scenario table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features +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AD06C8-CA22-4A33-9E27-944D95AD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423EA-B884-4C41-A2D0-E71BA032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3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train.py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model weights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7E069-A9E2-4FFF-86E3-6E997E65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CACC6E-9B55-4526-8FC9-1F98AB66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4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evaluate.py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metrics +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CF8AD-0F83-440B-83AC-B07C02A3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11B2-F22B-4CD0-A955-293160C9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5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results / figures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JSON, PNG, 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BB3D4-6348-423C-B044-A8DE3991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Документы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ВКР, приложение, презентация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берут числа из results/metrics.json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717AA-F897-407A-A993-27CD374E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Контроль качества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метрики, графики, pytest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подтверждают результат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C684C-64F9-486C-AA65-AF858419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Граница эксперимента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текущая модель scenario-level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raw sensor pipeline вынесен дальше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6E9F5B-C048-4402-87E7-5FF8C8A2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197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Архитектура оставляет проверяемый след: от исходной разметки до финальных PDF и графиков.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57AED-205F-4610-B9A8-108AECC0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C7D61-81B4-404D-BF7A-374D8009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561670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15D809-CB12-4DD7-80DF-04064C8F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B5C88-EA59-4BEA-BB3B-D142A5C3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B1DE4-5C5F-4E58-8F3F-351DD19D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CA6DB-FAEE-4621-9BFE-070B964C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FE6C3-49B3-4B0B-A62A-828BEABF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Эксперимент обучен на реальных аннотациях KITTI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F57643-FB2C-4F5F-BEA6-DA7BD6D7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78003-9C8D-4249-8395-0F651D30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Сцен всего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7481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535099-6B88-45B9-BF09-7CD422FB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Train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4488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997C0-9726-4EF2-8737-21F5753E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Validation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EC0C3-F06B-4E64-BD7B-EAC2818F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Test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2AA9C-F383-40C1-AA15-917DF6CF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3A9DE-C41B-4B12-9FBD-CCDD6810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242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KITTI не содержит готовую метку critical_scene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911A4-5411-4006-84A8-95B7929A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75712-8334-4CF2-A65F-F072846C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195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Метка получена фиксированным правилом из реальных class, distance, occlusion и truncation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48C4CC-E392-4813-9D5A-4F81974D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B42BB-700D-477F-823B-B557B61A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три logistic regression модели на NumPy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13325-3DA4-4EDC-AEAD-113691DF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7DFFD-FE42-4989-A53F-B65F6578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900570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D08D88-B2E9-433C-BDF8-6FDEAB1A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583B8-030D-47D5-BA16-5B52850F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9C7FA-1762-41EB-9D1C-7F6F8370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B1949-160B-4872-AF59-0EAA121F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5DB350-8A47-4FBD-A163-0180D837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Proposed model снижает пропуски критических 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1F65C-E10E-4318-AF4F-A632C39F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5fb3f3d6a4c81"/>
          <a:stretch xmlns:a="http://schemas.openxmlformats.org/drawingml/2006/main"/>
        </p:blipFill>
        <p:spPr>
          <a:xfrm xmlns:a="http://schemas.openxmlformats.org/drawingml/2006/main">
            <a:off x="571500" y="1598477"/>
            <a:ext cx="4953000" cy="2994296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3dd4cc14f4647"/>
          <a:stretch xmlns:a="http://schemas.openxmlformats.org/drawingml/2006/main"/>
        </p:blipFill>
        <p:spPr>
          <a:xfrm xmlns:a="http://schemas.openxmlformats.org/drawingml/2006/main">
            <a:off x="6191250" y="1379493"/>
            <a:ext cx="4095750" cy="343226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879B8-7F07-40EF-8109-4876BD9D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1625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Primary: precision 0.885, recall 0.937, F1 0.911, ROC AUC 0.981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6F1C7-AFF5-4773-A780-A52AD03D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6D069-A154-4EE9-9E02-2C69D6AD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43383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940EC9-F67B-4C1B-B888-F6505A70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A32C2-5C12-46FF-80D1-6C2635ED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5B0EB-BF59-40D5-BE1B-930325F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5932C-E090-44B8-B8B3-0292FD55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3C945-9863-4C55-8271-D30DB4EF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Близкие и частично видимые объекты объясняют ошибки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0D586F-54F9-435F-B637-569141B0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a5a6fee06549f8"/>
          <a:stretch xmlns:a="http://schemas.openxmlformats.org/drawingml/2006/main"/>
        </p:blipFill>
        <p:spPr>
          <a:xfrm xmlns:a="http://schemas.openxmlformats.org/drawingml/2006/main">
            <a:off x="666750" y="1516171"/>
            <a:ext cx="5143500" cy="3158908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d2be5cc7447e7"/>
          <a:stretch xmlns:a="http://schemas.openxmlformats.org/drawingml/2006/main"/>
        </p:blipFill>
        <p:spPr>
          <a:xfrm xmlns:a="http://schemas.openxmlformats.org/drawingml/2006/main">
            <a:off x="6286500" y="1530601"/>
            <a:ext cx="4953000" cy="313004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9E0B8-D1EA-4DB4-8F87-9332D44D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B7B468-7E70-447C-BD5B-CEFDD37E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863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FP: сцена похожа на опасную из-за близкого объекта или высокого risk prior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83EB7B-E984-4633-87CB-DCFC9D0A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147EB-B7C5-4713-86E0-7C6B4070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292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FN: score ниже порога при derived critical label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34437-32CF-4B6C-8635-F389AA29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721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7DADC-93F8-4917-8C29-A4C3A942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9721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Главное ограничение: KITTI не содержит radar и готовую ADAS critical label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063AA-4585-44D6-980B-F8FBC3F0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7E42EE-971C-473A-BC4A-D1800DB9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9051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9129F0-5C86-40BE-B01C-1336466A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C2515-0D5A-4D44-AFA1-E99FB8AB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9B5B4-A54E-4E93-B591-81EA2124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7F382-C580-4F85-95BD-92FAD7D2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43D92-A897-4690-AB52-82663C94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Итог: воспроизводимый слой оценки критичности ADAS-сцен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D39B4-E099-48EA-9C89-8C4008DD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31CF0-CDD8-4D2E-BF16-5249D9A1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Разработано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scenario-level методика риска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A9538-AAC0-4A03-9587-32EBAC82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Реализовано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код, обучение, метрики, графики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9B332-E035-43D4-AAF7-200268C2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Проверено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KITTI test split и unit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668FD-F210-48A6-96C3-D1C8D16E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19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5AE1FB-A980-4035-88BC-C09847B7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195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Прототип пригоден как исследовательский модуль тестирования 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9F70D-911A-4CFB-926B-863508C1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76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4A3E52-0754-450C-8F98-24B0CF95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767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Не является сертифицированной системой безопасности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E9EC82-395C-4A7F-A0A8-0B95E2F2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C0E639-3184-4DB9-B794-EB68E084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339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Дальше: raw image/LiDAR/radar pipeline, nuScenes, CARLA, стресс-тесты, сертификация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883269-DBD2-4815-A187-787FB291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98B29-B008-450E-A4AC-4E482F8C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93856505"/>
      </p:ext>
    </p:extLst>
  </p:cSld>
</p:sld>
</file>

<file path=ppt/theme/theme1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2026-07-07T16:12:51.8530000Z</dcterms:created>
  <dcterms:modified xsi:type="dcterms:W3CDTF">2026-07-07T16:12:51.8530000Z</dcterms:modified>
</coreProperties>
</file>