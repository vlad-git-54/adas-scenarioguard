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7330cc4b6147f3" /><Relationship Type="http://schemas.openxmlformats.org/officeDocument/2006/relationships/extended-properties" Target="/docProps/app.xml" Id="Rf0d588f528244e51" /><Relationship Type="http://schemas.openxmlformats.org/officeDocument/2006/relationships/officeDocument" Target="/ppt/presentation.xml" Id="Rb60aa9e9db0f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ae7d2ba2774388"/>
  </p:sldMasterIdLst>
  <p:notesMasterIdLst>
    <p:notesMasterId xmlns:r="http://schemas.openxmlformats.org/officeDocument/2006/relationships" r:id="R58d3fa63c4e84653"/>
  </p:notesMasterIdLst>
  <p:sldIdLst>
    <p:sldId xmlns:r="http://schemas.openxmlformats.org/officeDocument/2006/relationships" id="256" r:id="R80ec1fc4697545ca"/>
    <p:sldId xmlns:r="http://schemas.openxmlformats.org/officeDocument/2006/relationships" id="257" r:id="R509acdea8d824c4e"/>
    <p:sldId xmlns:r="http://schemas.openxmlformats.org/officeDocument/2006/relationships" id="258" r:id="Rb270e860558445d8"/>
    <p:sldId xmlns:r="http://schemas.openxmlformats.org/officeDocument/2006/relationships" id="259" r:id="Rfcbabc10124d4710"/>
    <p:sldId xmlns:r="http://schemas.openxmlformats.org/officeDocument/2006/relationships" id="260" r:id="Re4ad861c7ff644f6"/>
    <p:sldId xmlns:r="http://schemas.openxmlformats.org/officeDocument/2006/relationships" id="261" r:id="R7c9d3970c6eb43a0"/>
    <p:sldId xmlns:r="http://schemas.openxmlformats.org/officeDocument/2006/relationships" id="262" r:id="R24cc5b64aab04d19"/>
    <p:sldId xmlns:r="http://schemas.openxmlformats.org/officeDocument/2006/relationships" id="263" r:id="R90c5b178f2e64769"/>
    <p:sldId xmlns:r="http://schemas.openxmlformats.org/officeDocument/2006/relationships" id="264" r:id="R2d7907affbd84acd"/>
    <p:sldId xmlns:r="http://schemas.openxmlformats.org/officeDocument/2006/relationships" id="265" r:id="Rd966c30b357844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8b33b8f72e4e45" /><Relationship Type="http://schemas.openxmlformats.org/officeDocument/2006/relationships/slideMaster" Target="/ppt/slideMasters/slideMaster1.xml" Id="R9aae7d2ba2774388" /><Relationship Type="http://schemas.openxmlformats.org/officeDocument/2006/relationships/notesMaster" Target="/ppt/notesMasters/notesMaster1.xml" Id="R58d3fa63c4e84653" /><Relationship Type="http://schemas.openxmlformats.org/officeDocument/2006/relationships/presProps" Target="/ppt/presProps.xml" Id="R9d6cc42f605f46e0" /><Relationship Type="http://schemas.openxmlformats.org/officeDocument/2006/relationships/tableStyles" Target="/ppt/tableStyles.xml" Id="R464a65bde75543e1" /><Relationship Type="http://schemas.openxmlformats.org/officeDocument/2006/relationships/slide" Target="/ppt/slides/slide1.xml" Id="R80ec1fc4697545ca" /><Relationship Type="http://schemas.openxmlformats.org/officeDocument/2006/relationships/slide" Target="/ppt/slides/slide2.xml" Id="R509acdea8d824c4e" /><Relationship Type="http://schemas.openxmlformats.org/officeDocument/2006/relationships/slide" Target="/ppt/slides/slide3.xml" Id="Rb270e860558445d8" /><Relationship Type="http://schemas.openxmlformats.org/officeDocument/2006/relationships/slide" Target="/ppt/slides/slide4.xml" Id="Rfcbabc10124d4710" /><Relationship Type="http://schemas.openxmlformats.org/officeDocument/2006/relationships/slide" Target="/ppt/slides/slide5.xml" Id="Re4ad861c7ff644f6" /><Relationship Type="http://schemas.openxmlformats.org/officeDocument/2006/relationships/slide" Target="/ppt/slides/slide6.xml" Id="R7c9d3970c6eb43a0" /><Relationship Type="http://schemas.openxmlformats.org/officeDocument/2006/relationships/slide" Target="/ppt/slides/slide7.xml" Id="R24cc5b64aab04d19" /><Relationship Type="http://schemas.openxmlformats.org/officeDocument/2006/relationships/slide" Target="/ppt/slides/slide8.xml" Id="R90c5b178f2e64769" /><Relationship Type="http://schemas.openxmlformats.org/officeDocument/2006/relationships/slide" Target="/ppt/slides/slide9.xml" Id="R2d7907affbd84acd" /><Relationship Type="http://schemas.openxmlformats.org/officeDocument/2006/relationships/slide" Target="/ppt/slides/slide10.xml" Id="Rd966c30b357844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b06908b67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GU ADAS">
  <a:themeElements>
    <a:clrScheme name="TGU ADA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GU ADA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925f3dbeb43d5" /><Relationship Type="http://schemas.openxmlformats.org/officeDocument/2006/relationships/notesMaster" Target="/ppt/notesMasters/notesMaster1.xml" Id="Rd0e90edf01714a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22572c88d34af0" /><Relationship Type="http://schemas.openxmlformats.org/officeDocument/2006/relationships/notesMaster" Target="/ppt/notesMasters/notesMaster1.xml" Id="R3c0046a303294c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5c6d0779c94802" /><Relationship Type="http://schemas.openxmlformats.org/officeDocument/2006/relationships/notesMaster" Target="/ppt/notesMasters/notesMaster1.xml" Id="R6e3e4e87fe4342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ef0de409e74dad" /><Relationship Type="http://schemas.openxmlformats.org/officeDocument/2006/relationships/notesMaster" Target="/ppt/notesMasters/notesMaster1.xml" Id="Rb30bd08e651b42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4d9cd90882487a" /><Relationship Type="http://schemas.openxmlformats.org/officeDocument/2006/relationships/notesMaster" Target="/ppt/notesMasters/notesMaster1.xml" Id="Rda4d0d700e0e4b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6194bbdfc14577" /><Relationship Type="http://schemas.openxmlformats.org/officeDocument/2006/relationships/notesMaster" Target="/ppt/notesMasters/notesMaster1.xml" Id="R584d4d79f28f49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719ec528ea4580" /><Relationship Type="http://schemas.openxmlformats.org/officeDocument/2006/relationships/notesMaster" Target="/ppt/notesMasters/notesMaster1.xml" Id="R1d4066370735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3dbb49bdb04740" /><Relationship Type="http://schemas.openxmlformats.org/officeDocument/2006/relationships/notesMaster" Target="/ppt/notesMasters/notesMaster1.xml" Id="Re3e23bb0fa08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e6b39e849f4a69" /><Relationship Type="http://schemas.openxmlformats.org/officeDocument/2006/relationships/notesMaster" Target="/ppt/notesMasters/notesMaster1.xml" Id="Rde8cd984437048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4528e5376a4fce" /><Relationship Type="http://schemas.openxmlformats.org/officeDocument/2006/relationships/notesMaster" Target="/ppt/notesMasters/notesMaster1.xml" Id="R95adc6d9063740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цену ошибки: false negative означает, что сцена опасна по разметке, но модель не выделила ее.</a:t>
            </a:r>
          </a:p>
          <a:p xmlns:a="http://schemas.openxmlformats.org/drawingml/2006/main">
            <a:r>
              <a:t>Подчеркнуть, что recall выбран важной метрикой не случайно.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работа осознанно не претендует на управление автомобилем.</a:t>
            </a:r>
          </a:p>
          <a:p xmlns:a="http://schemas.openxmlformats.org/drawingml/2006/main">
            <a:r>
              <a:t>Цель проверяется через код, данные и метрики, а не только через литературный обзор.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Указать источники: Heidecker по corner cases, Bijelic по погоде, Huang по sensor fusion, BEVFusion и Kumar как пример деградации.</a:t>
            </a:r>
          </a:p>
          <a:p xmlns:a="http://schemas.openxmlformats.org/drawingml/2006/main">
            <a:r>
              <a:t>Отделить чужие опубликованные числа от собственных метрик KITTI.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Пояснить, что признаки считаются из класса объекта, расстояния, lateral position, occlusion и truncation.</a:t>
            </a:r>
          </a:p>
          <a:p xmlns:a="http://schemas.openxmlformats.org/drawingml/2006/main">
            <a:r>
              <a:t>Порог выбирается на validation split, test split остается для финальной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текущий воспроизводимый эксперимент и будущий более тяжелый raw sensor pipeline.</a:t>
            </a:r>
          </a:p>
          <a:p xmlns:a="http://schemas.openxmlformats.org/drawingml/2006/main">
            <a:r>
              <a:t>Текущие метрики получены на табличной модели и не зависят от будущего raw sensor контура.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проговорить, что целевая метка derived, потому что KITTI не размечает ADAS criticality.</a:t>
            </a:r>
          </a:p>
          <a:p xmlns:a="http://schemas.openxmlformats.org/drawingml/2006/main">
            <a:r>
              <a:t>Это реальные аннотации дорожных сцен KITTI. Целевая метка получена фиксированным правилом из наблюдаемых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Пройти по основным числам. Подчеркнуть, что proposed выше baseline по recall и F1 на test split.</a:t>
            </a:r>
          </a:p>
          <a:p xmlns:a="http://schemas.openxmlformats.org/drawingml/2006/main">
            <a:r>
              <a:t>Матрица ошибок показывает 509 TP и 34 FN.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ошибки не скрыты: они сохранены в results/error_cases.csv.</a:t>
            </a:r>
          </a:p>
          <a:p xmlns:a="http://schemas.openxmlformats.org/drawingml/2006/main">
            <a:r>
              <a:t>Ограничение radar важно, поэтому результат не называется промышленной мультимодальной валидацией.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доклад по задачам: методика, реализация, реальные данные, метрики, ошибки, ограничения.</a:t>
            </a:r>
          </a:p>
          <a:p xmlns:a="http://schemas.openxmlformats.org/drawingml/2006/main">
            <a:r>
              <a:t>Финальная фраза: работа дает проверяемую основу для дальнейшей промышленной валидации, но не заменяет 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36b453cd4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36164dfd64b22" /><Relationship Type="http://schemas.openxmlformats.org/officeDocument/2006/relationships/slideLayout" Target="/ppt/slideLayouts/slideLayout1.xml" Id="Rccab59d42afa4d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b59d42afa4d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GU ADAS">
  <a:themeElements>
    <a:clrScheme name="TGU ADA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GU ADA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5726fd7e84957" /><Relationship Type="http://schemas.openxmlformats.org/officeDocument/2006/relationships/image" Target="/ppt/media/image.png" Id="R5fb0730724aa4f55" /><Relationship Type="http://schemas.openxmlformats.org/officeDocument/2006/relationships/notesSlide" Target="/ppt/notesSlides/notesSlide1.xml" Id="Rb1bd7eed1654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23d4c5710422b" /><Relationship Type="http://schemas.openxmlformats.org/officeDocument/2006/relationships/notesSlide" Target="/ppt/notesSlides/notesSlide2.xml" Id="Rcb4a9cb3341a4f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a6d065df94157" /><Relationship Type="http://schemas.openxmlformats.org/officeDocument/2006/relationships/notesSlide" Target="/ppt/notesSlides/notesSlide3.xml" Id="R4c7e68875a0d45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672eb2bdc4666" /><Relationship Type="http://schemas.openxmlformats.org/officeDocument/2006/relationships/image" Target="/ppt/media/image2.png" Id="R862613548af14adc" /><Relationship Type="http://schemas.openxmlformats.org/officeDocument/2006/relationships/notesSlide" Target="/ppt/notesSlides/notesSlide4.xml" Id="Rb3bf26a617bf40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c7069520d4f8a" /><Relationship Type="http://schemas.openxmlformats.org/officeDocument/2006/relationships/notesSlide" Target="/ppt/notesSlides/notesSlide5.xml" Id="R844b7885db6c4b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9cdc299024656" /><Relationship Type="http://schemas.openxmlformats.org/officeDocument/2006/relationships/notesSlide" Target="/ppt/notesSlides/notesSlide6.xml" Id="R5c786cde03a448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f1df20259400d" /><Relationship Type="http://schemas.openxmlformats.org/officeDocument/2006/relationships/notesSlide" Target="/ppt/notesSlides/notesSlide7.xml" Id="R00d61f031bac49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9a7dc50254b97" /><Relationship Type="http://schemas.openxmlformats.org/officeDocument/2006/relationships/image" Target="/ppt/media/image3.png" Id="R4cfa4f85db074f3c" /><Relationship Type="http://schemas.openxmlformats.org/officeDocument/2006/relationships/image" Target="/ppt/media/image4.png" Id="Rdbe8a587b81448e8" /><Relationship Type="http://schemas.openxmlformats.org/officeDocument/2006/relationships/notesSlide" Target="/ppt/notesSlides/notesSlide8.xml" Id="R6ed2c5309d924d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bec07c72944a3" /><Relationship Type="http://schemas.openxmlformats.org/officeDocument/2006/relationships/image" Target="/ppt/media/image5.png" Id="R62922ab8ac7549c2" /><Relationship Type="http://schemas.openxmlformats.org/officeDocument/2006/relationships/image" Target="/ppt/media/image6.png" Id="R7c8371996849453b" /><Relationship Type="http://schemas.openxmlformats.org/officeDocument/2006/relationships/notesSlide" Target="/ppt/notesSlides/notesSlide9.xml" Id="Rc161c2558f3643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b8150743d4c81" /><Relationship Type="http://schemas.openxmlformats.org/officeDocument/2006/relationships/notesSlide" Target="/ppt/notesSlides/notesSlide10.xml" Id="R5025f51ce079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0730724aa4f55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5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22A4A-D1DA-4556-B2FA-6AF6189F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5612-1EB6-4E20-8B70-95ABB2CF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0BABB-0B58-4AFB-8273-FB3A9D5A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AB30-7C65-4868-8633-2999494C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E1DAB-C73A-4AFC-BA06-CA135B09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Ошибка восприятия опасна именно в редких сценах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0F4EC-D114-4E52-95AB-E872CA4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DC212-8253-45FB-900F-C7409276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F3843-0362-4BCC-8052-36C1C559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Средняя точность скрывает поведение модели в тумане, ночью, при окклюзии и усечении объекта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8DEF6-2049-466E-A692-BA43317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6CA52-8DBE-448E-BB4A-D102305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Для ADAS пропуск критической сцены опаснее лишней тревоги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0F8D9-E4AA-4831-ABFD-EB6B1F1E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8FA12-D45B-4EFB-B075-DE1D9D86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Нужен слой, который оценивает надежность восприятия и риск сцены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541A9-820C-47E5-A9AD-D505093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FNR primary model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0.063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7C25D-BF57-46D6-978F-7CCFE0EA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 на test split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7F4F8-1A97-4154-ABB8-CFF636B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Recall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0.937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DC5A1-41EE-4EBF-90C4-7D50D27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581ED-F1A2-4488-91F2-2C345E8A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3309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6B9B3-D44B-4E4E-A756-ADC6EAF7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F91DC-FE2D-4DE4-BFDB-26B44B0C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3EBD8-CF0B-4E64-97E0-4DBCA43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E844D-858F-466A-97AC-E5B63A72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F192D-51B8-488C-B021-DAF62874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Объект, предмет и цель задают узкую инженерную границу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317BF-431D-4C85-8E21-72E020D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B6343-DB89-4575-91A9-7B9352A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Объект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мультимодальное восприятие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70EBA-B403-4B52-9105-9F589D9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Предмет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редкие и критические сценарии, uncertainty,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3120E-F712-4755-9AD5-3E60B445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Цель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методика оценки critical scene и проверка на реальных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5EEDA-DE4C-45AE-89D7-9B9C820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EB18F-B308-4152-B571-6E98B445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Разработаны признаки качества наблюдения и 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AD8C3-9517-48DF-B360-DDF97976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B7E04-5A94-40BB-BA76-167FC95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baseline, proposed и ablation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CFB74-6D47-45E0-8E5C-F410A437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FFD6D-E1E3-418F-834C-F01DDD96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Собран воспроизводимый pipeline с результатами и графиками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5E979-1860-422F-8507-B814348B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A6DA4-D0CB-4CEE-91E8-5702DB1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9634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DC386-FEE1-4681-A0EE-779EB4D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848BA-92B8-4263-8F6E-9DC398C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E1A5E-9DA0-4F76-9293-3361A27D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AEEA4-65D1-44B0-8F40-8AB983AD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E8392-D6A6-412A-9EE2-C73A5E5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Литература показывает, что деградация сенсоров измерима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835A1-03BB-42FB-98D1-37085FB1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13548af14adc"/>
          <a:stretch xmlns:a="http://schemas.openxmlformats.org/drawingml/2006/main"/>
        </p:blipFill>
        <p:spPr>
          <a:xfrm xmlns:a="http://schemas.openxmlformats.org/drawingml/2006/main">
            <a:off x="666750" y="1524709"/>
            <a:ext cx="5810250" cy="39038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E9753-977D-4993-A589-862B6CD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По данным Kumar et al., 2025. Не является собственным экспериментом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8EC7B-BFC1-44EE-99EF-B5A014FA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4B1EF-3513-4FAB-A976-8159B2C3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Corner cases требуют отдельного анализа вне средней точности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BD336-247A-4C1D-8229-85845A4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D604E-1973-4A33-97D1-BF0AC79B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Плохая погода влияет на сенсоры по-разному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88128-AFC6-4F1D-A39C-8502EDB8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CA871-E602-42BD-ABF1-EA7EE84F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Fusion устойчивее camera-only, но LiDAR degradation все равно заметна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34270-284B-42E7-926F-9F3A6568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C05F5-FF39-402C-A7EE-EEDA2FC6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График справа не является собственным экспериментом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CCE21-3CBE-4B79-A9B2-BBB7337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0B7F1-FF12-450D-B249-F1D72358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392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BAFAFD-A81F-493D-B8FA-91E0383D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837F3-D5FF-475E-A157-8CF2210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752B2-F24B-44C9-9873-0000A2ED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CB7A-28EB-4655-A545-E7A71CA7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957B3-5E1D-449E-A05B-9C649363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Методика связывает наблюдение, надежность и риск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A5684-AD94-4678-B4B0-438925B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B6880-9CAC-44F2-9653-E081884C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95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Входные наблюдения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class, bbox, 3D position,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occlusion, truncation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C6773-7307-41BD-931C-A1DC3E3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82808-37B1-4C8A-998F-5913FF75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Признаки качества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camera proxy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geometry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A0D4C-D400-4038-B624-5DA2B16E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0324E-21E6-4235-AF78-BAB2FD1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Reliability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качество наблюдения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как вход модели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F6F84-C1F7-40BA-A6EC-B2DA789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2A2D4-B30E-4A6E-82D0-9FC8D96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Uncertainty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0,55 camera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0,45 geometry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61DFD-D019-4278-8954-5AD067CD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9A33B-6433-4829-A7F8-DBECAACD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81150"/>
            <a:ext cx="1571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Risk score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class, distance,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lateral, occlusion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0C970-77A6-4C97-BFF2-5CC36D8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Фиксированное правило critical_scene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уязвимый участник впереди, близкий транспорт, сильная окклюзия или truncation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8DB4F-E43C-4D76-B27F-4151E6DE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Logistic regression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baseline, proposed, ablation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порог выбирается на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FC31A-6A56-4EEC-987E-DD640996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Итог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critical scene или OK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ошибки сохраняются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00907-6BF4-40FF-A951-7FF43D6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D02A5-0586-494D-8D21-023550C1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E9C9B-48EB-462C-A043-868C025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Обучение и метрики строятся на реальных аннотациях KITTI. JSON demo не влияет на test split.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F71D8-6F6C-413F-A64B-BA60A562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9D85A-D8E0-42B7-92EC-88B39B62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90840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C9683D-C986-4CBC-89FF-A40FEED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4BABE-E17A-4149-9B1E-77C1D4BC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363C9-1B7E-4798-B79E-A4029D66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45FD3-8A9B-4AFB-B86F-0F626D2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8877A-2349-4E08-B27B-13B417CC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Архитектура разделяет подготовку, обучение и отчетность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3DE99-BA82-49D4-9EA9-8C9CBF9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0490E-7EF3-497A-A58A-DFA081D4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prepare_data.py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KITTI label_2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FBB62-F031-4BDC-8E7F-58B79ACA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6F0FF-5EC9-4851-9BC2-226EF51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scenario table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features +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21E17-BA01-4824-90DC-1B5D56B5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3326-54F9-4518-A42A-F44F0211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train.py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model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94867-633F-48BB-83A6-137D3EB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01F8-7C0B-4E2B-8D46-1F702EA0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evaluate.py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metrics +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6B5A2-37CB-4D3B-B021-734307F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F1F6-BCB6-420E-903F-DE1F49C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5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results / figures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JSON, PNG,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4A352-AA76-41B5-A26A-7C647DDB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Документы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ВКР, приложение, презентация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берут числа из results/metrics.json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C8D18-E266-41E2-8326-0D82F94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Контроль качества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метрики, графики, pytest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подтверждают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E9FCE-6F64-4572-B311-7F88567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Граница эксперимента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текущая модель scenario-level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raw sensor pipeline вынесен дальше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E5706-6C48-4157-838F-9B5366C1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Архитектура оставляет проверяемый след: от исходной разметки до финальных PDF и графиков.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20F40-66BC-46DC-A88A-1C76D01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42CF8-1C43-4E88-AA73-F9C03269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9577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793A3-E0EB-42ED-A976-6C14A5B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8A128-AB88-4341-89C1-7DBFC39E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3AE4A-98D3-4311-BF93-D51745C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B5DEC-1C71-4C84-8E9A-EA597B8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2D1AD-7A59-4FA1-BB35-E696B91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Эксперимент обучен на реальных аннотациях KITTI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DDE87-679F-4356-9B7B-1E54E5C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0158D-F532-49CF-AD2E-97084F4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Сцен всего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7481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3B99A-644A-4061-AB7A-F918BCB6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Train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4488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A4888-CBEE-4E7D-8552-1249A122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Validation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2829F-51F0-49A2-8D90-5BF4EE5E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57320-0192-42B3-A939-631E541E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CDA69-A1F9-4882-A8E8-03B0DEE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KITTI не содержит готовую метку critical_scene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F7C8C-018E-4347-B225-0EEBB3A8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FDA7C-0214-49A5-92B0-838AB370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Метка получена фиксированным правилом из реальных class, distance, occlusion и truncation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3114A-7654-4402-BA52-36CC81C6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FF0F6-278F-4420-BA85-3E034E1D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три logistic regression модели на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82F55-B92D-4F3B-A4C8-C8F0D2E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0F625-4DA5-43B9-B2C5-FE8C03F2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5010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9B81D-F01A-4A2E-9815-0CF98B0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7775E-5E99-46DD-B960-270F224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5C710-7D09-4538-87AE-2EE74DD4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209C1-B58C-446F-9D50-E70A985E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F94CD-2A1B-4CA6-B353-017942A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Proposed model снижает пропуски критических 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F2FFE-35C5-4E83-A056-CD528AB0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a4f85db074f3c"/>
          <a:stretch xmlns:a="http://schemas.openxmlformats.org/drawingml/2006/main"/>
        </p:blipFill>
        <p:spPr>
          <a:xfrm xmlns:a="http://schemas.openxmlformats.org/drawingml/2006/main">
            <a:off x="571500" y="1598477"/>
            <a:ext cx="4953000" cy="2994296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8a587b81448e8"/>
          <a:stretch xmlns:a="http://schemas.openxmlformats.org/drawingml/2006/main"/>
        </p:blipFill>
        <p:spPr>
          <a:xfrm xmlns:a="http://schemas.openxmlformats.org/drawingml/2006/main">
            <a:off x="6191250" y="1379493"/>
            <a:ext cx="4095750" cy="34322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1B977-87C8-448E-A8FA-E2576DA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Primary: precision 0.885, recall 0.937, F1 0.911, ROC AUC 0.981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C7251-BDF7-4079-AEFF-3EE0FF46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2DB02-530C-4444-A0E8-1DA436B8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62943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277A7-C8E3-4F3B-90BE-2BE745C4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93852-9D08-41A3-9502-E2675EA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372B-A1CF-4161-ADF2-750EB73B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FD37E-DEA5-42C4-BDC7-2A9C0BA8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6D4DD-0503-47B9-94E0-3F6D0482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Близкие и частично видимые объекты объясняют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EC82F-B0A3-47A4-8B7E-6FC9EB2F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22ab8ac7549c2"/>
          <a:stretch xmlns:a="http://schemas.openxmlformats.org/drawingml/2006/main"/>
        </p:blipFill>
        <p:spPr>
          <a:xfrm xmlns:a="http://schemas.openxmlformats.org/drawingml/2006/main">
            <a:off x="666750" y="1516171"/>
            <a:ext cx="5143500" cy="3158908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371996849453b"/>
          <a:stretch xmlns:a="http://schemas.openxmlformats.org/drawingml/2006/main"/>
        </p:blipFill>
        <p:spPr>
          <a:xfrm xmlns:a="http://schemas.openxmlformats.org/drawingml/2006/main">
            <a:off x="6286500" y="1530601"/>
            <a:ext cx="4953000" cy="313004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2933A-FE25-4815-A4CF-BB6F9A8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EACE2-C480-4CFE-B9AD-D6A9390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FP: сцена похожа на опасную из-за близкого объекта или высокого risk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FDD17-8947-496F-96C2-DCCD1DC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C0B45-DB6B-45F4-B2E1-694B65C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292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FN: score ниже порога при derived critical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3C7B5-4DC3-483A-BC59-16380720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6914E-2E43-498F-B8E8-037A4D5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721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Главное ограничение: KITTI не содержит radar и готовую ADAS critical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F5DD0-8C54-4C69-854D-C94867BB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B0680-4A43-4E0B-8E32-51247430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694733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CED7F-AFCA-42AF-8B92-B1A88BA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8074D-F152-4DEE-929A-3D49824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CFE7F-1637-4ECE-B4A1-4DEE4F7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9C5B-A52B-43A2-90E6-7A7B68A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8285B-0668-43AF-A81B-C980E27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Итог: воспроизводимый слой оценки критичности ADAS-сцен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0CE78-054A-4059-BE53-B9AED83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5613-4572-438F-9B70-46D1D94A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Разработано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scenario-level методика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32431-AAC2-47E4-9BE9-1C5BA906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Реализовано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код, обучение, метрики, графики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1EC74-94C5-4942-B803-858BB4E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Проверено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KITTI test split и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A14EE-0FED-452C-837A-0F9F525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F8937-FD4E-4391-809F-B73834F0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195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Прототип пригоден как исследовательский модуль тестирования 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0BED1-C639-45AB-9D30-76619213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7A4AE-BC34-491F-8F51-41E3CB4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767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Не является сертифицированной системой безопасности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2014A-1489-4A9C-94A3-4706B212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2B7DB-FFE5-4B23-80EE-61AD5AEF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339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Дальше: raw image/LiDAR/radar pipeline, nuScenes, CARLA, стресс-тесты, сертификация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AF20D-365D-4AC9-8224-21AA37BD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AD8AC-A301-445E-B3E9-09879E83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2850923"/>
      </p:ext>
    </p:extLst>
  </p:cSld>
</p:sld>
</file>

<file path=ppt/theme/theme1.xml><?xml version="1.0" encoding="utf-8"?>
<a:theme xmlns:a="http://schemas.openxmlformats.org/drawingml/2006/main" name="TGU ADAS">
  <a:themeElements>
    <a:clrScheme name="TGU ADA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GU ADA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2026-07-07T18:41:25.2970000Z</dcterms:created>
  <dcterms:modified xsi:type="dcterms:W3CDTF">2026-07-07T18:41:25.2970000Z</dcterms:modified>
</coreProperties>
</file>