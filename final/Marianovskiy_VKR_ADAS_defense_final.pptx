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47d9c7c441e45a4" /><Relationship Type="http://schemas.openxmlformats.org/officeDocument/2006/relationships/extended-properties" Target="/docProps/app.xml" Id="R4040076601584fde" /><Relationship Type="http://schemas.openxmlformats.org/officeDocument/2006/relationships/officeDocument" Target="/ppt/presentation.xml" Id="R9d2a5741b085485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644b56182c14b82"/>
  </p:sldMasterIdLst>
  <p:notesMasterIdLst>
    <p:notesMasterId xmlns:r="http://schemas.openxmlformats.org/officeDocument/2006/relationships" r:id="R76a472fe55ab4dc5"/>
  </p:notesMasterIdLst>
  <p:sldIdLst>
    <p:sldId xmlns:r="http://schemas.openxmlformats.org/officeDocument/2006/relationships" id="256" r:id="R8478e05eb7bf4a5e"/>
    <p:sldId xmlns:r="http://schemas.openxmlformats.org/officeDocument/2006/relationships" id="257" r:id="R48ec1ddf62704bf6"/>
    <p:sldId xmlns:r="http://schemas.openxmlformats.org/officeDocument/2006/relationships" id="258" r:id="Raa3e6aa1e31743eb"/>
    <p:sldId xmlns:r="http://schemas.openxmlformats.org/officeDocument/2006/relationships" id="259" r:id="R524177e72786411b"/>
    <p:sldId xmlns:r="http://schemas.openxmlformats.org/officeDocument/2006/relationships" id="260" r:id="Ra516421690064d4a"/>
    <p:sldId xmlns:r="http://schemas.openxmlformats.org/officeDocument/2006/relationships" id="261" r:id="R5e591596bf1847d5"/>
    <p:sldId xmlns:r="http://schemas.openxmlformats.org/officeDocument/2006/relationships" id="262" r:id="R0142a38768f6466c"/>
    <p:sldId xmlns:r="http://schemas.openxmlformats.org/officeDocument/2006/relationships" id="263" r:id="R3aebc35854fc4d43"/>
    <p:sldId xmlns:r="http://schemas.openxmlformats.org/officeDocument/2006/relationships" id="264" r:id="Ref4c0801adc64b1d"/>
    <p:sldId xmlns:r="http://schemas.openxmlformats.org/officeDocument/2006/relationships" id="265" r:id="Raae73d58eed74dd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58ed3c28534d2a" /><Relationship Type="http://schemas.openxmlformats.org/officeDocument/2006/relationships/slideMaster" Target="/ppt/slideMasters/slideMaster1.xml" Id="Ra644b56182c14b82" /><Relationship Type="http://schemas.openxmlformats.org/officeDocument/2006/relationships/notesMaster" Target="/ppt/notesMasters/notesMaster1.xml" Id="R76a472fe55ab4dc5" /><Relationship Type="http://schemas.openxmlformats.org/officeDocument/2006/relationships/presProps" Target="/ppt/presProps.xml" Id="Rff0596ebf1ba44c5" /><Relationship Type="http://schemas.openxmlformats.org/officeDocument/2006/relationships/tableStyles" Target="/ppt/tableStyles.xml" Id="Reccd4939e6124ebd" /><Relationship Type="http://schemas.openxmlformats.org/officeDocument/2006/relationships/slide" Target="/ppt/slides/slide1.xml" Id="R8478e05eb7bf4a5e" /><Relationship Type="http://schemas.openxmlformats.org/officeDocument/2006/relationships/slide" Target="/ppt/slides/slide2.xml" Id="R48ec1ddf62704bf6" /><Relationship Type="http://schemas.openxmlformats.org/officeDocument/2006/relationships/slide" Target="/ppt/slides/slide3.xml" Id="Raa3e6aa1e31743eb" /><Relationship Type="http://schemas.openxmlformats.org/officeDocument/2006/relationships/slide" Target="/ppt/slides/slide4.xml" Id="R524177e72786411b" /><Relationship Type="http://schemas.openxmlformats.org/officeDocument/2006/relationships/slide" Target="/ppt/slides/slide5.xml" Id="Ra516421690064d4a" /><Relationship Type="http://schemas.openxmlformats.org/officeDocument/2006/relationships/slide" Target="/ppt/slides/slide6.xml" Id="R5e591596bf1847d5" /><Relationship Type="http://schemas.openxmlformats.org/officeDocument/2006/relationships/slide" Target="/ppt/slides/slide7.xml" Id="R0142a38768f6466c" /><Relationship Type="http://schemas.openxmlformats.org/officeDocument/2006/relationships/slide" Target="/ppt/slides/slide8.xml" Id="R3aebc35854fc4d43" /><Relationship Type="http://schemas.openxmlformats.org/officeDocument/2006/relationships/slide" Target="/ppt/slides/slide9.xml" Id="Ref4c0801adc64b1d" /><Relationship Type="http://schemas.openxmlformats.org/officeDocument/2006/relationships/slide" Target="/ppt/slides/slide10.xml" Id="Raae73d58eed74dd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0f20b9cf4c6471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TGU ADAS">
  <a:themeElements>
    <a:clrScheme name="TGU ADAS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GU ADAS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f8ca6d4d9df496c" /><Relationship Type="http://schemas.openxmlformats.org/officeDocument/2006/relationships/notesMaster" Target="/ppt/notesMasters/notesMaster1.xml" Id="Rb2653183293345b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20e82a689064a39" /><Relationship Type="http://schemas.openxmlformats.org/officeDocument/2006/relationships/notesMaster" Target="/ppt/notesMasters/notesMaster1.xml" Id="R444f1b25b087424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93e8397514d403f" /><Relationship Type="http://schemas.openxmlformats.org/officeDocument/2006/relationships/notesMaster" Target="/ppt/notesMasters/notesMaster1.xml" Id="R46c1fa16efe0432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fca04ce25049d7" /><Relationship Type="http://schemas.openxmlformats.org/officeDocument/2006/relationships/notesMaster" Target="/ppt/notesMasters/notesMaster1.xml" Id="Rb2eda8adf2b6457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d4c6195a7dd4c89" /><Relationship Type="http://schemas.openxmlformats.org/officeDocument/2006/relationships/notesMaster" Target="/ppt/notesMasters/notesMaster1.xml" Id="Re7825112b9564ec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d215d142b12425f" /><Relationship Type="http://schemas.openxmlformats.org/officeDocument/2006/relationships/notesMaster" Target="/ppt/notesMasters/notesMaster1.xml" Id="R13ada1d2e1684ca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2051e3eab5743aa" /><Relationship Type="http://schemas.openxmlformats.org/officeDocument/2006/relationships/notesMaster" Target="/ppt/notesMasters/notesMaster1.xml" Id="R45522f738d104ba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3177c61572c48f9" /><Relationship Type="http://schemas.openxmlformats.org/officeDocument/2006/relationships/notesMaster" Target="/ppt/notesMasters/notesMaster1.xml" Id="R7c49a670e352452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283b11548724139" /><Relationship Type="http://schemas.openxmlformats.org/officeDocument/2006/relationships/notesMaster" Target="/ppt/notesMasters/notesMaster1.xml" Id="R8d285b8740eb426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e3dadc9053a4db3" /><Relationship Type="http://schemas.openxmlformats.org/officeDocument/2006/relationships/notesMaster" Target="/ppt/notesMasters/notesMaster1.xml" Id="Rd6bf67ac601247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Пояснить цену ошибки: false negative означает, что сцена опасна по разметке, но модель не выделила ее.</a:t>
            </a:r>
          </a:p>
          <a:p xmlns:a="http://schemas.openxmlformats.org/drawingml/2006/main">
            <a:r>
              <a:t>Подчеркнуть, что recall выбран важной метрикой не случайно.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Сказать, что работа осознанно не претендует на управление автомобилем.</a:t>
            </a:r>
          </a:p>
          <a:p xmlns:a="http://schemas.openxmlformats.org/drawingml/2006/main">
            <a:r>
              <a:t>Цель проверяется через код, данные и метрики, а не только через литературный обзор.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Указать источники: Heidecker по corner cases, Bijelic по погоде, Huang по sensor fusion, BEVFusion и Kumar как пример деградации.</a:t>
            </a:r>
          </a:p>
          <a:p xmlns:a="http://schemas.openxmlformats.org/drawingml/2006/main">
            <a:r>
              <a:t>Отделить чужие опубликованные числа от собственных метрик KITTI.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Пояснить, что признаки считаются из класса объекта, расстояния, lateral position, occlusion и truncation.</a:t>
            </a:r>
          </a:p>
          <a:p xmlns:a="http://schemas.openxmlformats.org/drawingml/2006/main">
            <a:r>
              <a:t>Порог выбирается на validation split, test split остается для финальной оценки.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Развести текущий воспроизводимый эксперимент и будущий более тяжелый raw sensor pipeline.</a:t>
            </a:r>
          </a:p>
          <a:p xmlns:a="http://schemas.openxmlformats.org/drawingml/2006/main">
            <a:r>
              <a:t>GPU RX7700XT можно назвать только как ресурс будущего этапа. Текущие метрики получены на табличной модели и не зависят от GPU.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Честно проговорить, что целевая метка derived, потому что KITTI не размечает ADAS criticality.</a:t>
            </a:r>
          </a:p>
          <a:p xmlns:a="http://schemas.openxmlformats.org/drawingml/2006/main">
            <a:r>
              <a:t>Это реальные аннотации дорожных сцен KITTI. Целевая метка получена фиксированным правилом из наблюдаемых признаков.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Пройти по основным числам. Подчеркнуть, что proposed выше baseline по recall и F1 на test split.</a:t>
            </a:r>
          </a:p>
          <a:p xmlns:a="http://schemas.openxmlformats.org/drawingml/2006/main">
            <a:r>
              <a:t>Матрица ошибок показывает 509 TP и 34 FN.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Сказать, что ошибки не скрыты: они сохранены в results/error_cases.csv.</a:t>
            </a:r>
          </a:p>
          <a:p xmlns:a="http://schemas.openxmlformats.org/drawingml/2006/main">
            <a:r>
              <a:t>Ограничение radar важно, поэтому результат не называется промышленной мультимодальной валидацией.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Закрыть доклад по задачам: методика, реализация, реальные данные, метрики, ошибки, ограничения.</a:t>
            </a:r>
          </a:p>
          <a:p xmlns:a="http://schemas.openxmlformats.org/drawingml/2006/main">
            <a:r>
              <a:t>Финальная фраза: работа дает проверяемую основу для дальнейшей промышленной валидации, но не заменяет ее.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4e2adb7d8446e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fd4549f5da74a98" /><Relationship Type="http://schemas.openxmlformats.org/officeDocument/2006/relationships/slideLayout" Target="/ppt/slideLayouts/slideLayout1.xml" Id="R422659b84faf413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22659b84faf413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TGU ADAS">
  <a:themeElements>
    <a:clrScheme name="TGU ADAS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GU ADAS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e4878e9cf3435e" /><Relationship Type="http://schemas.openxmlformats.org/officeDocument/2006/relationships/image" Target="/ppt/media/image.png" Id="R3c6034a429e14509" /><Relationship Type="http://schemas.openxmlformats.org/officeDocument/2006/relationships/notesSlide" Target="/ppt/notesSlides/notesSlide1.xml" Id="R2b6934851d4f4b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d35977f8e94eef" /><Relationship Type="http://schemas.openxmlformats.org/officeDocument/2006/relationships/notesSlide" Target="/ppt/notesSlides/notesSlide2.xml" Id="Re4ac138fffbb4cc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1395e7a59b4d66" /><Relationship Type="http://schemas.openxmlformats.org/officeDocument/2006/relationships/notesSlide" Target="/ppt/notesSlides/notesSlide3.xml" Id="Ra4b6034a72e14e7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ab6299c3b7414d" /><Relationship Type="http://schemas.openxmlformats.org/officeDocument/2006/relationships/image" Target="/ppt/media/image2.png" Id="Rc70bd3169750469f" /><Relationship Type="http://schemas.openxmlformats.org/officeDocument/2006/relationships/notesSlide" Target="/ppt/notesSlides/notesSlide4.xml" Id="R34057ca7331e4d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fca5ee366b492d" /><Relationship Type="http://schemas.openxmlformats.org/officeDocument/2006/relationships/notesSlide" Target="/ppt/notesSlides/notesSlide5.xml" Id="Rabe28073315040c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cd0a8981f24dbf" /><Relationship Type="http://schemas.openxmlformats.org/officeDocument/2006/relationships/notesSlide" Target="/ppt/notesSlides/notesSlide6.xml" Id="R0dcee4621a52414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21cdffe972407d" /><Relationship Type="http://schemas.openxmlformats.org/officeDocument/2006/relationships/notesSlide" Target="/ppt/notesSlides/notesSlide7.xml" Id="R039d8b00c752444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21e25091bc4061" /><Relationship Type="http://schemas.openxmlformats.org/officeDocument/2006/relationships/image" Target="/ppt/media/image3.png" Id="Rbae0463816004ce6" /><Relationship Type="http://schemas.openxmlformats.org/officeDocument/2006/relationships/image" Target="/ppt/media/image4.png" Id="R4680dce22fea4f87" /><Relationship Type="http://schemas.openxmlformats.org/officeDocument/2006/relationships/notesSlide" Target="/ppt/notesSlides/notesSlide8.xml" Id="R094396ec43ca415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85e79118fc4310" /><Relationship Type="http://schemas.openxmlformats.org/officeDocument/2006/relationships/image" Target="/ppt/media/image5.png" Id="Rb8c43e95394a46c4" /><Relationship Type="http://schemas.openxmlformats.org/officeDocument/2006/relationships/image" Target="/ppt/media/image6.png" Id="R932d2cc19c0c4bd9" /><Relationship Type="http://schemas.openxmlformats.org/officeDocument/2006/relationships/notesSlide" Target="/ppt/notesSlides/notesSlide9.xml" Id="Re037819869fc4bc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cdc477ced04c2a" /><Relationship Type="http://schemas.openxmlformats.org/officeDocument/2006/relationships/notesSlide" Target="/ppt/notesSlides/notesSlide10.xml" Id="R777e848046e1465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6034a429e14509"/>
          <a:srcRect xmlns:a="http://schemas.openxmlformats.org/drawingml/2006/main" l="7" t="0" r="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2128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D47186-A17F-40E4-ACD2-DF1434EEC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E3202C-FB8D-41C1-946D-555723A4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F78C84-554F-443B-8E45-2909B94E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7E438D-5E49-43FF-8F7E-848DE330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AA012F-0B95-47A2-8DC3-05C4E259A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Ошибка восприятия опасна именно в редких сценах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48B235-5F84-4AC4-B144-0F3C40260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B77D43-0204-40D2-B593-171844EB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730B6"/>
                </a:solidFill>
              </a:defRPr>
            </a:pPr>
            <a:r>
              <a:rPr sz="18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241DA1-92C6-46B3-81F4-99ABD451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19250"/>
            <a:ext cx="607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Средняя точность скрывает поведение модели в тумане, ночью, при окклюзии и усечении объекта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5696A6-FA74-4278-8D6B-D08D4B27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717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730B6"/>
                </a:solidFill>
              </a:defRPr>
            </a:pPr>
            <a:r>
              <a:rPr sz="18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5E46EA-BC4A-4A21-8A27-7AE90F887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71700"/>
            <a:ext cx="607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Для ADAS пропуск критической сцены опаснее лишней тревоги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90F92D-FEE0-4BC8-8D1B-64BC2624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730B6"/>
                </a:solidFill>
              </a:defRPr>
            </a:pPr>
            <a:r>
              <a:rPr sz="18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CF1A67-A177-4EE9-B94A-1261F9A0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24150"/>
            <a:ext cx="607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Нужен слой, который оценивает надежность восприятия и риск сцены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D9B112-1BD7-4C86-9676-C199955E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24000"/>
            <a:ext cx="2476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1430">
            <a:solidFill>
              <a:srgbClr val="F9731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FNR primary model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0.063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EBCE89-46D3-41DA-ABDF-3468B70F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52750"/>
            <a:ext cx="2476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1143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FN на test split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34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23E719-65D1-44C8-98C4-827F31FDB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81500"/>
            <a:ext cx="2476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1143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Recall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0.937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957105-7793-4BFD-8CDB-E8FF1DBB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2A2E24-99D7-4936-9D8F-3BEBA87E6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8394563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553D68-94C7-433F-A307-051F495A1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F06E3-27D8-4D0F-8266-348C4995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8F740A-8CAC-4E7B-9253-08000B151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DDAE4D-FDF1-48BA-A8E0-D055E8BC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E2DD2B-8F83-4100-9431-A9C7B15B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Объект, предмет и цель задают узкую инженерную границу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A46BC2-B3F5-4EE5-8368-F49BE73F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C9F0BD-0C5F-4F74-8560-0647907AB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71625"/>
            <a:ext cx="3143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Объект</a:t>
            </a:r>
          </a:p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мультимодальное восприятие ADAS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10B215-69D9-42DF-946D-0E69B3347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571625"/>
            <a:ext cx="3143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11430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Предмет</a:t>
            </a:r>
          </a:p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редкие и критические сценарии, uncertainty, reliability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976134-2839-4008-B655-66E07271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571625"/>
            <a:ext cx="3143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1430">
            <a:solidFill>
              <a:srgbClr val="EA580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Цель</a:t>
            </a:r>
          </a:p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методика оценки critical scene и проверка на реальных данных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A99BDA-01CC-4E39-99AD-A8D3C7ED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95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555291-DFA3-45C3-9C73-435FFDE7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095750"/>
            <a:ext cx="864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Разработаны признаки качества наблюдения и risk prior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E67281-A453-47C8-AE8F-8697DC39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148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BB40F2-691E-4304-8856-76A2E7B1B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514850"/>
            <a:ext cx="864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Обучены baseline, proposed и ablation модели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A1E794-E240-4098-AA94-2EA5E4324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339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EB625B-2050-4FEB-A632-3915D4CF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33950"/>
            <a:ext cx="864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Собран воспроизводимый pipeline с результатами и графиками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08A541-1B74-4D85-BFF7-E77CE6D6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4B2408-73BA-4E6D-99ED-05DEB51B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9222359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E1561A-C8B2-460E-B2C5-3E3C66B71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1003EC-5ED7-4F0C-B80A-C6AFC6DDA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8786B5-A18C-49B6-BDB9-8CEE7DD2C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C3455-1E11-458B-BFE5-2E6983020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D85349-9BDA-4C71-95BD-D7806CE42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Литература показывает, что деградация сенсоров измерима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143179-F7CB-4828-A75A-88586BE0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0bd3169750469f"/>
          <a:stretch xmlns:a="http://schemas.openxmlformats.org/drawingml/2006/main"/>
        </p:blipFill>
        <p:spPr>
          <a:xfrm xmlns:a="http://schemas.openxmlformats.org/drawingml/2006/main">
            <a:off x="666750" y="1524709"/>
            <a:ext cx="5810250" cy="3903833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B605EF-0151-4B20-8C30-2605D7512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72125"/>
            <a:ext cx="5476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</a:rPr>
              <a:t>По данным Kumar et al., 2025. Не является собственным экспериментом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3D7919-6985-4E25-BA20-5002B17F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19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30B6"/>
                </a:solidFill>
              </a:defRPr>
            </a:pPr>
            <a:r>
              <a:rPr sz="157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0B543C-27BD-4BCC-930B-4A208C88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619250"/>
            <a:ext cx="417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Corner cases требуют отдельного анализа вне средней точности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82BE6D-5664-4498-AD04-4755C765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0955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30B6"/>
                </a:solidFill>
              </a:defRPr>
            </a:pPr>
            <a:r>
              <a:rPr sz="157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1533AB-CE9D-41EE-830E-93B7FD5E9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095500"/>
            <a:ext cx="417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Плохая погода влияет на сенсоры по-разному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2410E0-A920-456E-A766-CBF8723AD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71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30B6"/>
                </a:solidFill>
              </a:defRPr>
            </a:pPr>
            <a:r>
              <a:rPr sz="157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BF1E3E-DB6F-462F-86C6-2D13BFAB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71750"/>
            <a:ext cx="417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Fusion устойчивее camera-only, но LiDAR degradation все равно заметна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99A53D-0F3A-4A86-B079-26D5D1615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730B6"/>
                </a:solidFill>
              </a:defRPr>
            </a:pPr>
            <a:r>
              <a:rPr sz="157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06AF41-D583-449E-8CD5-A59B77EA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48000"/>
            <a:ext cx="417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График справа не является собственным экспериментом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ADDDEB-7FD6-4F63-9818-482DB5EA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E10190-13C1-4049-B787-0DC1FB592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74026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453478-6457-4280-9BF2-A39B2AB37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250C83-045C-49DB-8E1B-13BD02062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EA3AD7-4D1B-43DC-A6E3-A37C250CF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DB0A88-47CD-4F48-9D97-E9BD9912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5D623F-FA86-49EA-B672-B4481525C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Методика связывает наблюдение, надежность и риск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490944-1577-41AB-B0BB-67E533BC3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F32574-0B27-4B66-A833-088358CEC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952625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Входные наблюдения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class, bbox, 3D position,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occlusion, truncation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9F3F67-CD12-4354-8C0A-C9E300DA4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34155"/>
                </a:solidFill>
              </a:defRPr>
            </a:pPr>
            <a:r>
              <a:rPr sz="2100" b="1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94D913-D19B-44C4-91BD-EA8B19C5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581150"/>
            <a:ext cx="1809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11430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Признаки качества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camera proxy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geometry proxy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8383DC-ACF6-4B66-843D-22093241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34155"/>
                </a:solidFill>
              </a:defRPr>
            </a:pPr>
            <a:r>
              <a:rPr sz="2100" b="1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6B4FAB-05FA-4DD0-B386-EE4141BD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581150"/>
            <a:ext cx="1809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11430">
            <a:solidFill>
              <a:srgbClr val="0891B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Reliability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качество наблюдения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как вход модели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CF3BBB-6349-4D57-99AC-B48B6DA6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34155"/>
                </a:solidFill>
              </a:defRPr>
            </a:pPr>
            <a:r>
              <a:rPr sz="2100" b="1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42C6AE-0F4B-4788-83AF-FC021C31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581150"/>
            <a:ext cx="1666875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1430">
            <a:solidFill>
              <a:srgbClr val="EA580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Uncertainty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0,55 camera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0,45 geometry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1F2F27-40A4-42B1-89FB-E22269A8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34155"/>
                </a:solidFill>
              </a:defRPr>
            </a:pPr>
            <a:r>
              <a:rPr sz="2100" b="1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7023EF-26DA-41DB-B0C4-3A11735A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1581150"/>
            <a:ext cx="1571625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11430">
            <a:solidFill>
              <a:srgbClr val="DC262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Risk score</a:t>
            </a:r>
          </a:p>
          <a:p xmlns:a="http://schemas.openxmlformats.org/drawingml/2006/main"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class, distance,</a:t>
            </a:r>
          </a:p>
          <a:p xmlns:a="http://schemas.openxmlformats.org/drawingml/2006/main">
            <a:pPr algn="ctr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lateral, occlusion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E31584-63A3-41BD-8E6B-E106EC1BA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333750"/>
            <a:ext cx="4095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Фиксированное правило critical_scene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уязвимый участник впереди, близкий транспорт, сильная окклюзия или truncation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D7C889-0C25-45F2-A9D6-8DF4802C1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333750"/>
            <a:ext cx="2857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11430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Logistic regression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baseline, proposed, ablation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порог выбирается на validation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559EFA-2C06-4101-BC1D-EB4F8257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333750"/>
            <a:ext cx="2333625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1430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Итог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critical scene или OK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ошибки сохраняются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9FAC79-1617-45E4-81B1-B6A371FC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7338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34155"/>
                </a:solidFill>
              </a:defRPr>
            </a:pPr>
            <a:r>
              <a:rPr sz="2100" b="1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6F98FC-74C7-470B-92AA-D2B96282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338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34155"/>
                </a:solidFill>
              </a:defRPr>
            </a:pPr>
            <a:r>
              <a:rPr sz="2100" b="1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20E410-FAEE-4560-92F1-504D9120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095875"/>
            <a:ext cx="962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Обучение и метрики строятся на реальных аннотациях KITTI. JSON demo не влияет на test split.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A3716D-6D13-467A-84AF-73673535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3BB4B5-DAE1-465A-9CF2-DF40B84E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8366387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A1E04F-1218-4B3C-BED4-2B49A2F3E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F50ECC-5E22-4D9D-9DF1-49F84360D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895B87-0BB4-428E-868B-9DCCFE8B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2F3859-BB02-4279-94EF-15489B668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1AFB68-8FF7-486C-9853-5B304BED3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Архитектура разделяет подготовку, обучение и отчетность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3E2E16-7558-4624-99A2-B08D2983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104EBF-CD1E-4617-9030-1D80B26A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714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1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prepare_data.py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KITTI label_2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3BEEEB-6ABD-4DC1-823F-7273C510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857375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34155"/>
                </a:solidFill>
              </a:defRPr>
            </a:pPr>
            <a:r>
              <a:rPr sz="2100" b="1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9CCFC4-32BA-4B95-966D-8883D12D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476375"/>
            <a:ext cx="1714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11430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2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scenario table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features + split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D90D0D-A08D-40EC-8B2D-09B7FFCE1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857375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34155"/>
                </a:solidFill>
              </a:defRPr>
            </a:pPr>
            <a:r>
              <a:rPr sz="2100" b="1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5E672A-B6EE-48B9-B4B3-B3FB1B9B4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476375"/>
            <a:ext cx="1714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11430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3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train.py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model weights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8C794C-AFC5-4115-8350-76EF89BA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1857375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34155"/>
                </a:solidFill>
              </a:defRPr>
            </a:pPr>
            <a:r>
              <a:rPr sz="2100" b="1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125E12-4432-4DA3-AF96-FF4F21A23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476375"/>
            <a:ext cx="1714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1430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4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evaluate.py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metrics + errors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CCF3B1-CF28-4431-92BE-5DB84329B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1857375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34155"/>
                </a:solidFill>
              </a:defRPr>
            </a:pPr>
            <a:r>
              <a:rPr sz="2100" b="1">
                <a:solidFill>
                  <a:srgbClr val="334155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F88C9A-47CC-4B7B-8B08-E260C8F2E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476375"/>
            <a:ext cx="1714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11430">
            <a:solidFill>
              <a:srgbClr val="DC262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5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results / figures</a:t>
            </a:r>
          </a:p>
          <a:p xmlns:a="http://schemas.openxmlformats.org/drawingml/2006/main">
            <a:pPr algn="ctr"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JSON, PNG, CSV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E25DCA-FD46-4E2C-A587-5DE478133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429000"/>
            <a:ext cx="2905125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Документы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ВКР, приложение, презентация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берут числа из results/metrics.json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47D6AF-208E-4E1A-AB69-876373E2F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29000"/>
            <a:ext cx="2905125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11430">
            <a:solidFill>
              <a:srgbClr val="0891B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Контроль качества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метрики, графики, pytest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подтверждают результат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C59324-A3E1-457D-BBFF-4524787E1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429000"/>
            <a:ext cx="2905125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1430">
            <a:solidFill>
              <a:srgbClr val="EA580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Граница эксперимента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текущая модель scenario-level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raw sensor pipeline вынесен дальше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358FED-A60E-4081-90E8-EF89A48C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1970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</a:defRPr>
            </a:pPr>
            <a:r>
              <a:rPr sz="1650" b="0">
                <a:solidFill>
                  <a:srgbClr val="334155"/>
                </a:solidFill>
              </a:rPr>
              <a:t>Архитектура оставляет проверяемый след: от исходной разметки до финальных PDF и графиков.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1B00AD-6195-4082-9872-C1B3A708D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F1328F-4205-49A4-A52E-DC87E78E1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971314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CA5B21-AF06-4BFB-8718-12328EFDF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DEF52D-8C06-4AFA-8662-6239C4FB6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762E20-73F5-487B-AC72-B7F02A67F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5CFB0-12FA-47F0-BA62-04604DB8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1507D1-1CB4-452A-8640-A45FB31AE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Эксперимент обучен на реальных аннотациях KITTI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BD4D97-792E-46B3-8741-B9760BDCD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AFB348-A953-440E-B6D4-1732DAF9F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2190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Сцен всего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7481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CC40F0-1D64-450B-85D2-09CCC4AE2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19250"/>
            <a:ext cx="2190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Train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4488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9E6C39-A8E2-4A2F-A1A3-117F298EA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19250"/>
            <a:ext cx="2190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Validation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1496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A3A819-9AC4-4A04-93EA-D7E79433D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19250"/>
            <a:ext cx="2190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Test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1497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1A3423-3CAB-4F80-8A21-F5A37F18C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24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72A28B-BE1D-4630-8C32-E8617A551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524250"/>
            <a:ext cx="8839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KITTI не содержит готовую метку critical_scene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7BFC6A-30DF-4F2E-887E-27DD4DD5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195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6D1AFC-E109-4244-8678-28A061994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019550"/>
            <a:ext cx="8839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Метка получена фиксированным правилом из реальных class, distance, occlusion и truncation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4A1466-73EC-47D1-8E0E-AC42199E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148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23D8FC-CB4C-4FF2-A26B-E919C2C05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514850"/>
            <a:ext cx="8839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Обучены три logistic regression модели на NumPy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A56ECC-F66D-4B69-B478-F9480E456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F659C3-91BE-459D-95AF-7747D6AA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8403705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BB204B-B51F-48AF-9D5B-CDFB80220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DB763A-B72D-4F9A-B9EB-80FC8346A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44F04C-904A-4622-A5BC-3D66C0678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0BDB90-49ED-431B-B276-333D7E81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09E167-849B-4E76-9ED6-532053FD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Proposed model снижает пропуски критических сцен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CDE3F1-3851-4A1B-A30D-2751959D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e0463816004ce6"/>
          <a:stretch xmlns:a="http://schemas.openxmlformats.org/drawingml/2006/main"/>
        </p:blipFill>
        <p:spPr>
          <a:xfrm xmlns:a="http://schemas.openxmlformats.org/drawingml/2006/main">
            <a:off x="571500" y="1598477"/>
            <a:ext cx="4953000" cy="2994296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80dce22fea4f87"/>
          <a:stretch xmlns:a="http://schemas.openxmlformats.org/drawingml/2006/main"/>
        </p:blipFill>
        <p:spPr>
          <a:xfrm xmlns:a="http://schemas.openxmlformats.org/drawingml/2006/main">
            <a:off x="6191250" y="1379493"/>
            <a:ext cx="4095750" cy="3432264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BE6B27-622C-4304-B8CD-E026D1842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81625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Primary: precision 0.885, recall 0.937, F1 0.911, ROC AUC 0.981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875317-F603-4AAB-8589-363757D1E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1CAB95-2734-4012-84C5-4227A4DF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02746034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F27E282-E35B-4425-A9BA-F2615A77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F28BC0-ABC9-4B87-84EB-78313CC6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33269A-9448-4CBD-9D0D-E7E971DF1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C4D69C-E2CF-463C-803B-466A05A01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989576-EB8A-42E7-B839-350AD591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Близкие и частично видимые объекты объясняют ошибки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217F6C-CA62-4A06-A44A-F61ADD922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c43e95394a46c4"/>
          <a:stretch xmlns:a="http://schemas.openxmlformats.org/drawingml/2006/main"/>
        </p:blipFill>
        <p:spPr>
          <a:xfrm xmlns:a="http://schemas.openxmlformats.org/drawingml/2006/main">
            <a:off x="666750" y="1516171"/>
            <a:ext cx="5143500" cy="3158908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2d2cc19c0c4bd9"/>
          <a:stretch xmlns:a="http://schemas.openxmlformats.org/drawingml/2006/main"/>
        </p:blipFill>
        <p:spPr>
          <a:xfrm xmlns:a="http://schemas.openxmlformats.org/drawingml/2006/main">
            <a:off x="6286500" y="1530601"/>
            <a:ext cx="4953000" cy="3130048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BFA49F-F4C7-4840-B585-28D016A4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8637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730B6"/>
                </a:solidFill>
              </a:defRPr>
            </a:pPr>
            <a:r>
              <a:rPr sz="15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681A35-0E0B-4028-918D-87EAE7116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86375"/>
            <a:ext cx="902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FP: сцена похожа на опасную из-за близкого объекта или высокого risk prior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F41270-5A5B-4A6F-BF70-8E7CA6626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2927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730B6"/>
                </a:solidFill>
              </a:defRPr>
            </a:pPr>
            <a:r>
              <a:rPr sz="15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EDA2AA-04E3-4D3E-8B24-E15B7B44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629275"/>
            <a:ext cx="902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FN: score ниже порога при derived critical label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2A2AF4-F476-49ED-94BA-42A65E1D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7217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730B6"/>
                </a:solidFill>
              </a:defRPr>
            </a:pPr>
            <a:r>
              <a:rPr sz="1500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94488B-9748-4F2D-B6F1-ECA94E77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972175"/>
            <a:ext cx="902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Главное ограничение: KITTI не содержит radar и готовую ADAS critical label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3CA7FC-57CA-4206-8AFE-9B0D9DB7D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08F80C-E6CA-459A-A48E-2DFB04BB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49662849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3F390F-CE89-460F-B094-F63FE9758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E4F2B6-F9F1-453D-B2D2-188C13704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0B6"/>
          </a:solidFill>
          <a:ln xmlns:a="http://schemas.openxmlformats.org/drawingml/2006/main" w="0">
            <a:solidFill>
              <a:srgbClr val="2730B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A6B097-EFFD-41E7-A9FC-240F0DE8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0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730B6"/>
                </a:solidFill>
              </a:defRPr>
            </a:pPr>
            <a:r>
              <a:rPr sz="975" b="1">
                <a:solidFill>
                  <a:srgbClr val="2730B6"/>
                </a:solidFill>
              </a:rPr>
              <a:t>НИ ТГУ · ИДО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670AC9-716D-4A7A-90B7-D4B5F39B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4000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600F8E-8B29-41F9-B8C7-C362F066B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Итог: воспроизводимый слой оценки критичности ADAS-сцен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E5A1A3-10BD-4D02-AA69-3F5722DCC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2CF"/>
          </a:solidFill>
          <a:ln xmlns:a="http://schemas.openxmlformats.org/drawingml/2006/main" w="0">
            <a:solidFill>
              <a:srgbClr val="36D2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26F67C-26B6-4B3C-9679-AEB8D8C70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2952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Разработано</a:t>
            </a:r>
          </a:p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scenario-level методика риска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FA06B1-C7B8-44F0-A9CA-99AA97D69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571625"/>
            <a:ext cx="2952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11430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Реализовано</a:t>
            </a:r>
          </a:p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код, обучение, метрики, графики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00AF00-A6DA-42C5-ADE7-61CCDBB7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571625"/>
            <a:ext cx="2952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1430">
            <a:solidFill>
              <a:srgbClr val="EA580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Проверено</a:t>
            </a:r>
          </a:p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KITTI test split и unit tests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152A31-5B13-48EF-A677-5F715927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6195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0221D7-32F9-4B41-AAE5-ECBE8632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619500"/>
            <a:ext cx="8743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Прототип пригоден как исследовательский модуль тестирования ADAS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002555-7FA2-4283-9D8F-409F3EBE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767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B87548-4B95-4BED-8715-F9F12A5EC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076700"/>
            <a:ext cx="8743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Не является сертифицированной системой безопасности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523F2D-A24A-4CE6-ABA8-D96647E5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339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730B6"/>
                </a:solidFill>
              </a:defRPr>
            </a:pPr>
            <a:r>
              <a:rPr sz="1725" b="1">
                <a:solidFill>
                  <a:srgbClr val="2730B6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3BBDE1-0F16-4D8B-9BD8-D9D60413A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533900"/>
            <a:ext cx="8743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Дальше: raw image/LiDAR/radar pipeline, nuScenes, CARLA, стресс-тесты, сертификация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0D0954-3B77-4A1B-A9BF-4F73C7F1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ADAS ScenarioGuard · ВКР ·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A248C2-D0AA-43B3-8D9A-6A5B63BD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2730B6"/>
                </a:solidFill>
              </a:defRPr>
            </a:pPr>
            <a:r>
              <a:rPr sz="975" b="0">
                <a:solidFill>
                  <a:srgbClr val="2730B6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7410639"/>
      </p:ext>
    </p:extLst>
  </p:cSld>
</p:sld>
</file>

<file path=ppt/theme/theme1.xml><?xml version="1.0" encoding="utf-8"?>
<a:theme xmlns:a="http://schemas.openxmlformats.org/drawingml/2006/main" name="TGU ADAS">
  <a:themeElements>
    <a:clrScheme name="TGU ADAS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GU ADAS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2026-07-07T17:43:08.2740000Z</dcterms:created>
  <dcterms:modified xsi:type="dcterms:W3CDTF">2026-07-07T17:43:08.2740000Z</dcterms:modified>
</coreProperties>
</file>