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e17cc13e8e4e7b" /><Relationship Type="http://schemas.openxmlformats.org/officeDocument/2006/relationships/extended-properties" Target="/docProps/app.xml" Id="Ra6b8308d1f3c4d9e" /><Relationship Type="http://schemas.openxmlformats.org/officeDocument/2006/relationships/officeDocument" Target="/ppt/presentation.xml" Id="Rf13a5928396e4b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87330488cf4fa5"/>
  </p:sldMasterIdLst>
  <p:notesMasterIdLst>
    <p:notesMasterId xmlns:r="http://schemas.openxmlformats.org/officeDocument/2006/relationships" r:id="R42649ebea3dd468c"/>
  </p:notesMasterIdLst>
  <p:sldIdLst>
    <p:sldId xmlns:r="http://schemas.openxmlformats.org/officeDocument/2006/relationships" id="256" r:id="R8a3b186a2cc6428f"/>
    <p:sldId xmlns:r="http://schemas.openxmlformats.org/officeDocument/2006/relationships" id="257" r:id="R719be5a3d5514e71"/>
    <p:sldId xmlns:r="http://schemas.openxmlformats.org/officeDocument/2006/relationships" id="258" r:id="R5a6195c305b2439f"/>
    <p:sldId xmlns:r="http://schemas.openxmlformats.org/officeDocument/2006/relationships" id="259" r:id="Rfc79b74de1bf4a5a"/>
    <p:sldId xmlns:r="http://schemas.openxmlformats.org/officeDocument/2006/relationships" id="260" r:id="R77cdec860e9d4539"/>
    <p:sldId xmlns:r="http://schemas.openxmlformats.org/officeDocument/2006/relationships" id="261" r:id="R9743b05b5cb8413c"/>
    <p:sldId xmlns:r="http://schemas.openxmlformats.org/officeDocument/2006/relationships" id="262" r:id="Rf6587125cea9480d"/>
    <p:sldId xmlns:r="http://schemas.openxmlformats.org/officeDocument/2006/relationships" id="263" r:id="R6831e1be734842f2"/>
    <p:sldId xmlns:r="http://schemas.openxmlformats.org/officeDocument/2006/relationships" id="264" r:id="Reb9d94f8590748bb"/>
    <p:sldId xmlns:r="http://schemas.openxmlformats.org/officeDocument/2006/relationships" id="265" r:id="Rb28b589a982243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ba34f92f50467f" /><Relationship Type="http://schemas.openxmlformats.org/officeDocument/2006/relationships/slideMaster" Target="/ppt/slideMasters/slideMaster1.xml" Id="Ra687330488cf4fa5" /><Relationship Type="http://schemas.openxmlformats.org/officeDocument/2006/relationships/notesMaster" Target="/ppt/notesMasters/notesMaster1.xml" Id="R42649ebea3dd468c" /><Relationship Type="http://schemas.openxmlformats.org/officeDocument/2006/relationships/presProps" Target="/ppt/presProps.xml" Id="Re4fdfd67b9584aa2" /><Relationship Type="http://schemas.openxmlformats.org/officeDocument/2006/relationships/tableStyles" Target="/ppt/tableStyles.xml" Id="R72145059396e4e1c" /><Relationship Type="http://schemas.openxmlformats.org/officeDocument/2006/relationships/slide" Target="/ppt/slides/slide1.xml" Id="R8a3b186a2cc6428f" /><Relationship Type="http://schemas.openxmlformats.org/officeDocument/2006/relationships/slide" Target="/ppt/slides/slide2.xml" Id="R719be5a3d5514e71" /><Relationship Type="http://schemas.openxmlformats.org/officeDocument/2006/relationships/slide" Target="/ppt/slides/slide3.xml" Id="R5a6195c305b2439f" /><Relationship Type="http://schemas.openxmlformats.org/officeDocument/2006/relationships/slide" Target="/ppt/slides/slide4.xml" Id="Rfc79b74de1bf4a5a" /><Relationship Type="http://schemas.openxmlformats.org/officeDocument/2006/relationships/slide" Target="/ppt/slides/slide5.xml" Id="R77cdec860e9d4539" /><Relationship Type="http://schemas.openxmlformats.org/officeDocument/2006/relationships/slide" Target="/ppt/slides/slide6.xml" Id="R9743b05b5cb8413c" /><Relationship Type="http://schemas.openxmlformats.org/officeDocument/2006/relationships/slide" Target="/ppt/slides/slide7.xml" Id="Rf6587125cea9480d" /><Relationship Type="http://schemas.openxmlformats.org/officeDocument/2006/relationships/slide" Target="/ppt/slides/slide8.xml" Id="R6831e1be734842f2" /><Relationship Type="http://schemas.openxmlformats.org/officeDocument/2006/relationships/slide" Target="/ppt/slides/slide9.xml" Id="Reb9d94f8590748bb" /><Relationship Type="http://schemas.openxmlformats.org/officeDocument/2006/relationships/slide" Target="/ppt/slides/slide10.xml" Id="Rb28b589a982243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00dcc8691c49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97a720396469a" /><Relationship Type="http://schemas.openxmlformats.org/officeDocument/2006/relationships/notesMaster" Target="/ppt/notesMasters/notesMaster1.xml" Id="Rc67cd5a7b7924a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f592d33fec4090" /><Relationship Type="http://schemas.openxmlformats.org/officeDocument/2006/relationships/notesMaster" Target="/ppt/notesMasters/notesMaster1.xml" Id="Rb8b4f40d184a42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ba088da1624056" /><Relationship Type="http://schemas.openxmlformats.org/officeDocument/2006/relationships/notesMaster" Target="/ppt/notesMasters/notesMaster1.xml" Id="Rda22fe29fe4d40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4dd27dd39f4dce" /><Relationship Type="http://schemas.openxmlformats.org/officeDocument/2006/relationships/notesMaster" Target="/ppt/notesMasters/notesMaster1.xml" Id="Rc0af9468f04846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f0850bd6b34d15" /><Relationship Type="http://schemas.openxmlformats.org/officeDocument/2006/relationships/notesMaster" Target="/ppt/notesMasters/notesMaster1.xml" Id="Rafea8ff8f88b45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5f3d9049944f9f" /><Relationship Type="http://schemas.openxmlformats.org/officeDocument/2006/relationships/notesMaster" Target="/ppt/notesMasters/notesMaster1.xml" Id="R574aa84a03524a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0d83d0610546fe" /><Relationship Type="http://schemas.openxmlformats.org/officeDocument/2006/relationships/notesMaster" Target="/ppt/notesMasters/notesMaster1.xml" Id="Ra1ecdaa943e145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13ed5e72d04eea" /><Relationship Type="http://schemas.openxmlformats.org/officeDocument/2006/relationships/notesMaster" Target="/ppt/notesMasters/notesMaster1.xml" Id="Rcdcd5b1272ea4c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f81e02c7ab4faf" /><Relationship Type="http://schemas.openxmlformats.org/officeDocument/2006/relationships/notesMaster" Target="/ppt/notesMasters/notesMaster1.xml" Id="Re45e49fac15f4c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3b39e119504472" /><Relationship Type="http://schemas.openxmlformats.org/officeDocument/2006/relationships/notesMaster" Target="/ppt/notesMasters/notesMaster1.xml" Id="R8eaf6f9784974d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Начать с границы темы: работа не про полный автопилот, а про слой надежности восприятия ADAS.</a:t>
            </a:r>
          </a:p>
          <a:p xmlns:a="http://schemas.openxmlformats.org/drawingml/2006/main">
            <a:r>
              <a:t>Сказать, что итогом является воспроизводимый прототип, обученный на реальных KITTI-аннотациях.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 цену ошибки: false negative означает, что сцена опасна по разметке, но модель не выделила ее.</a:t>
            </a:r>
          </a:p>
          <a:p xmlns:a="http://schemas.openxmlformats.org/drawingml/2006/main">
            <a:r>
              <a:t>Подчеркнуть, что recall выбран важной метрикой не случайно.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Сказать, что работа осознанно не претендует на управление автомобилем.</a:t>
            </a:r>
          </a:p>
          <a:p xmlns:a="http://schemas.openxmlformats.org/drawingml/2006/main">
            <a:r>
              <a:t>Цель проверяется через код, данные и метрики, а не только через литературный обзор.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Указать источники: Heidecker по corner cases, Bijelic по погоде, Huang по sensor fusion, BEVFusion и Kumar как пример деградации.</a:t>
            </a:r>
          </a:p>
          <a:p xmlns:a="http://schemas.openxmlformats.org/drawingml/2006/main">
            <a:r>
              <a:t>Отделить чужие опубликованные числа от собственных метрик KITTI.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Пояснить, что признаки считаются из класса объекта, расстояния, lateral position, occlusion и truncation.</a:t>
            </a:r>
          </a:p>
          <a:p xmlns:a="http://schemas.openxmlformats.org/drawingml/2006/main">
            <a:r>
              <a:t>Порог выбирается на validation split, test split остается для финальной оценки.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Развести текущий воспроизводимый эксперимент и будущий более тяжелый raw sensor pipeline.</a:t>
            </a:r>
          </a:p>
          <a:p xmlns:a="http://schemas.openxmlformats.org/drawingml/2006/main">
            <a:r>
              <a:t>GPU RX7700XT можно назвать только как ресурс будущего этапа. Текущие метрики получены на табличной модели и не зависят от GPU.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Честно проговорить, что целевая метка derived, потому что KITTI не размечает ADAS criticality.</a:t>
            </a:r>
          </a:p>
          <a:p xmlns:a="http://schemas.openxmlformats.org/drawingml/2006/main">
            <a:r>
              <a:t>Это реальные аннотации дорожных сцен KITTI. Целевая метка получена фиксированным правилом из наблюдаемых признаков.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Пройти по основным числам. Подчеркнуть, что proposed выше baseline по recall и F1 на test split.</a:t>
            </a:r>
          </a:p>
          <a:p xmlns:a="http://schemas.openxmlformats.org/drawingml/2006/main">
            <a:r>
              <a:t>Матрица ошибок показывает 509 TP и 34 FN.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Сказать, что ошибки не скрыты: они сохранены в results/error_cases.csv.</a:t>
            </a:r>
          </a:p>
          <a:p xmlns:a="http://schemas.openxmlformats.org/drawingml/2006/main">
            <a:r>
              <a:t>Ограничение radar важно, поэтому результат не называется промышленной мультимодальной валидацией.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доклад по задачам: методика, реализация, реальные данные, метрики, ошибки, ограничения.</a:t>
            </a:r>
          </a:p>
          <a:p xmlns:a="http://schemas.openxmlformats.org/drawingml/2006/main">
            <a:r>
              <a:t>Финальная фраза: работа дает проверяемую основу для дальнейшей промышленной валидации, но не заменяет 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80ddbaf7044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36c43aba724e15" /><Relationship Type="http://schemas.openxmlformats.org/officeDocument/2006/relationships/slideLayout" Target="/ppt/slideLayouts/slideLayout1.xml" Id="R1d65630420bd40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65630420bd40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ae99f1cac4753" /><Relationship Type="http://schemas.openxmlformats.org/officeDocument/2006/relationships/notesSlide" Target="/ppt/notesSlides/notesSlide1.xml" Id="R5a33c3bc30084f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43d0090504121" /><Relationship Type="http://schemas.openxmlformats.org/officeDocument/2006/relationships/notesSlide" Target="/ppt/notesSlides/notesSlide2.xml" Id="Rfc82368b03554e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9eaefbeab402d" /><Relationship Type="http://schemas.openxmlformats.org/officeDocument/2006/relationships/notesSlide" Target="/ppt/notesSlides/notesSlide3.xml" Id="Rec48b942880245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07e6efea04bcb" /><Relationship Type="http://schemas.openxmlformats.org/officeDocument/2006/relationships/image" Target="/ppt/media/image.png" Id="Rac30d681481a4ed0" /><Relationship Type="http://schemas.openxmlformats.org/officeDocument/2006/relationships/notesSlide" Target="/ppt/notesSlides/notesSlide4.xml" Id="R293bbf5f30b743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a4ccb52a647ec" /><Relationship Type="http://schemas.openxmlformats.org/officeDocument/2006/relationships/notesSlide" Target="/ppt/notesSlides/notesSlide5.xml" Id="R7b5da21f38f046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49bd4b31b4795" /><Relationship Type="http://schemas.openxmlformats.org/officeDocument/2006/relationships/notesSlide" Target="/ppt/notesSlides/notesSlide6.xml" Id="Rc6a29399909b41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80c802bc14bf7" /><Relationship Type="http://schemas.openxmlformats.org/officeDocument/2006/relationships/notesSlide" Target="/ppt/notesSlides/notesSlide7.xml" Id="Re0724e45d89541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2242094d142a7" /><Relationship Type="http://schemas.openxmlformats.org/officeDocument/2006/relationships/image" Target="/ppt/media/image2.png" Id="R812bce0c6806468e" /><Relationship Type="http://schemas.openxmlformats.org/officeDocument/2006/relationships/image" Target="/ppt/media/image3.png" Id="R5a8af62afcb24ff3" /><Relationship Type="http://schemas.openxmlformats.org/officeDocument/2006/relationships/notesSlide" Target="/ppt/notesSlides/notesSlide8.xml" Id="R318671fc20d44c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4115656b2421a" /><Relationship Type="http://schemas.openxmlformats.org/officeDocument/2006/relationships/image" Target="/ppt/media/image4.png" Id="R07f5a1cac5bb4f29" /><Relationship Type="http://schemas.openxmlformats.org/officeDocument/2006/relationships/image" Target="/ppt/media/image5.png" Id="R6c86860a6b4842c9" /><Relationship Type="http://schemas.openxmlformats.org/officeDocument/2006/relationships/notesSlide" Target="/ppt/notesSlides/notesSlide9.xml" Id="Rf3e53691543f4d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ee9aa75b54f5f" /><Relationship Type="http://schemas.openxmlformats.org/officeDocument/2006/relationships/notesSlide" Target="/ppt/notesSlides/notesSlide10.xml" Id="R2f0f383030f14d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B00AD-97B0-4E98-AFB4-19DC6F7A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1582400" cy="6172200"/>
          </a:xfrm>
          <a:prstGeom xmlns:a="http://schemas.openxmlformats.org/drawingml/2006/main" prst="roundRect">
            <a:avLst>
              <a:gd name="adj" fmla="val 4321"/>
            </a:avLst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F03CE-B742-4523-863A-C2FAA7AA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000250" cy="2381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3F49D4"/>
          </a:solidFill>
          <a:ln xmlns:a="http://schemas.openxmlformats.org/drawingml/2006/main" w="9525">
            <a:solidFill>
              <a:srgbClr val="4F58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89FF6-0FA1-418B-A481-5DCDF30D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14550"/>
            <a:ext cx="1162050" cy="876300"/>
          </a:xfrm>
          <a:prstGeom xmlns:a="http://schemas.openxmlformats.org/drawingml/2006/main" prst="roundRect">
            <a:avLst>
              <a:gd name="adj" fmla="val 2391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4E453-4A38-415E-822E-C9B4BF59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76300" cy="55245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ТГУ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B9DEB-C20D-468E-83D5-38B87E44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862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Томский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государственный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университет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B954F-EC55-4137-8384-86BB56E8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0050"/>
            <a:ext cx="876300" cy="55245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C28B6-B7FE-4D7D-8703-7E922A1C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Разработка методов обнаружения и обработки редких и критических сценариев в мультимодальном восприятии систем 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AC3B1-BD32-4612-903B-B15C3F38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AFE"/>
                </a:solidFill>
              </a:defRPr>
            </a:pPr>
            <a:r>
              <a:rPr sz="1800" b="0">
                <a:solidFill>
                  <a:srgbClr val="DBEAFE"/>
                </a:solidFill>
              </a:rPr>
              <a:t>для повышения безопасности в сложных погодных и дорожных условиях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CB090-E15D-435B-9F9F-E48A2454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Марьяновский Владислав Андреевич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Группа 292405-1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09.04.03 Прикладная информатика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E44D5-5FBA-4DC4-A452-1DA8A85D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НИ ТГУ · Институт дистанционного образования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Профиль: компьютерное зрение и нейронные сети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Томск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79868-289B-4528-A060-572FA6E1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BEAFE"/>
                </a:solidFill>
              </a:defRPr>
            </a:pPr>
            <a:r>
              <a:rPr sz="975" b="0">
                <a:solidFill>
                  <a:srgbClr val="DBEAFE"/>
                </a:solidFill>
              </a:rPr>
              <a:t>ADAS ScenarioGuard · ВКР ·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37CD3-C787-4050-9993-EF695095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</a:defRPr>
            </a:pPr>
            <a:r>
              <a:rPr sz="975" b="0">
                <a:solidFill>
                  <a:srgbClr val="DBEAFE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19014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EF851D-2D6F-42BD-8397-86586CCB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9584D-0B00-40EF-8124-612C8A7E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42612-7FBA-4FC3-A5F8-41155E6A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E3EE8-D247-4C37-82EA-FA91FEE4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3F299-0989-4C86-AD1A-8224C036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Ошибка восприятия опасна именно в редких сценах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F52A7-CD8F-444D-BB8C-B93DCF1D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05484-46EA-4E2F-A36E-DC5D6FEA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EA738-CEF5-4DAD-AEFB-0A463335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Средняя точность скрывает поведение модели в тумане, ночью, при окклюзии и усечении объекта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501B2-244C-479D-A57F-C07B5472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E93F6-47AB-4FC3-B35B-EF5E28D6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Для ADAS пропуск критической сцены опаснее лишней тревоги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11A7B-83C5-40A6-AEA1-0308E697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A1599-64BE-4ABB-BA72-FEA2E12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Нужен слой, который оценивает надежность восприятия и риск сцены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1CEE5-0FCC-460E-9268-F53CC193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FNR primary model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0.063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051F6-E5FD-4BE5-B8D4-886A0632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FN на test split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FCF51-29ED-40B5-90B7-222CF0C9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Recall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0.937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740BA-8747-46E5-9548-F2D7A845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F9AED-A029-4105-89D1-23CAF509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9913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23F51D-E950-44FD-8EB4-CEABEA3C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846BE-0DFA-43A9-9004-D3714093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90CEC-1079-4CD7-943A-D7D6A64B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D1F72-4B44-49C3-A531-89612433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8D3E9-338F-4E3B-8B89-0DDA2BE0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Объект, предмет и цель задают узкую инженерную границу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FA0E9-B81E-457E-B708-FB297EE2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7D593-98FB-4EBB-86B4-1503D116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Объект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мультимодальное восприятие 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80C9A-ADF5-4A81-8DAA-24E24D33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Предмет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редкие и критические сценарии, uncertainty,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1E973-72DD-4CC6-9CE3-D18C02CB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Цель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методика оценки critical scene и проверка на реальных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3081A-C20F-4F00-B36A-2DC360EB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DB3C3-F271-4E9B-B14B-7F0C0D42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Разработаны признаки качества наблюдения и risk prior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0E5B0-2825-4F22-B817-09B15B99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27A66-768F-440F-8D91-7A6B5DB6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Обучены baseline, proposed и ablation модели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65315-97B2-4C1A-8391-ACB5BD74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CFCC2-B352-4B70-8201-FCCF798E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Собран воспроизводимый pipeline с результатами и графиками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99451-1071-41E3-B7B1-54C49920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152A0-4B8B-444B-BF5B-4C798CD2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93091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8C6258-DC9F-4C5D-8B2B-3C2F647D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388FD-B510-4A7E-AA08-0C7CBB32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80C40-33CD-48B6-B09A-C4F1FC53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21D24-B4C5-413F-AFF2-1C97FBE2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B65C8-EB84-43F6-B6F3-16738A66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Литература показывает, что деградация сенсоров измерима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A140A-F762-45BB-A14E-E0C8D8AA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0d681481a4ed0"/>
          <a:stretch xmlns:a="http://schemas.openxmlformats.org/drawingml/2006/main"/>
        </p:blipFill>
        <p:spPr>
          <a:xfrm xmlns:a="http://schemas.openxmlformats.org/drawingml/2006/main">
            <a:off x="666750" y="1524709"/>
            <a:ext cx="5810250" cy="39038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C25F9-DF81-418A-9120-F9EA5C24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547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По данным Kumar et al., 2025. Не является собственным экспериментом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04CAE-1238-4EEC-9F26-54C6C534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8ACC5-7B5F-460F-AF00-AA015EC2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Corner cases требуют отдельного анализа вне средней точности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3AAC5-B134-4C0C-9FC0-E5B6D075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C5DDC-27AC-4916-8AD4-A78D0DD6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Плохая погода влияет на сенсоры по-разному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F2A1A-6623-4BD0-B226-EC1CA844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7B9AF-16C5-4084-9D15-9E22B641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Fusion устойчивее camera-only, но LiDAR degradation все равно заметна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A227F-C5BB-431F-8B0C-1B3750BF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4AD67-25F4-451B-A201-CBBE21E0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График справа не является собственным экспериментом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9EEF0-F02E-420F-B08C-9031CF16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0925E-0760-4093-9D5D-60B8F75A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3650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A9D404-BEAB-4392-9DFF-B8E199D0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8F028-D282-4DD6-8DCF-0D2EE849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48A5B-5E53-4154-BE10-34C7C309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95535-B6F8-4C3F-9640-58BB5BBF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B58A5-6986-4B81-9F1C-22C8AB93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Методика связывает наблюдение, надежность и риск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1897F-5C60-4289-A9E6-F1B59A5D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752E1-DAA4-45D8-B7DF-31FFE871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952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Входные наблюдения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class, bbox, 3D position,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occlusion, truncation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7DF55-4AE8-4017-AFC9-33D5BF97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920AF-9898-4800-9F19-6CB620B9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811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Признаки качества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camera proxy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geometry proxy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4E5AD-1DD1-4D4D-9B97-BBE6C1CD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4A5A7-0BAD-4140-9B08-76F36F40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Reliability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качество наблюдения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как вход модели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97F31-983E-4702-8428-195D4EF1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85576-6D62-4B99-825D-A0AF2E8A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1666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Uncertainty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0,55 camera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0,45 geometry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8BE5D-F316-4041-9193-BEBFBFC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A4802-431A-47D1-ABBA-EFF1279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81150"/>
            <a:ext cx="1571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Risk score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class, distance,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lateral, occlusion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71B6E-FD23-49B8-82DE-5EB23FD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4095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Фиксированное правило critical_scene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уязвимый участник впереди, близкий транспорт, сильная окклюзия или truncation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4026B-C7D2-4E39-83BC-D455E4BC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337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Logistic regression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baseline, proposed, ablation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порог выбирается на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4303D-1DF8-4708-B362-EBCEB980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Итог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critical scene или OK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ошибки сохраняются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CC934-F2FE-4020-93ED-4F64B392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D1075-44D2-4396-A354-5812732D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F5862-23E0-460D-A773-BBA9F845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Обучение и метрики строятся на реальных аннотациях KITTI. JSON demo не влияет на test split.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3A240-DD3E-4BBF-B2CD-A42FABD1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73E1D-3155-4C46-A8FE-8EFA2238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87798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929B8-979B-4508-91C4-627B8414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4251E-6E3D-4B5A-98A2-B1DC8518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10EE6-925B-4201-AE97-A505A616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32660-43E9-444F-BD8B-84D8A70D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73AEE-0491-44F8-97C5-B7D20E56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Архитектура разделяет подготовку, обучение и отчетность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6488C-3916-440C-87E1-CD94EF61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9AC07-1BD5-430B-B86F-9266CFF3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prepare_data.py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KITTI label_2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4A7A3-EF81-4B2A-B24F-B48145E4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9F45B-A9F3-435E-975E-88FC82AD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scenario table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features +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E9D5E-7BC9-4826-9D71-77D05FF6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66B68-1207-4958-90BE-F8F21658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train.py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model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AA8BB-8286-4303-9D9A-917F9E27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90A16-10C0-42DD-B33C-843C0896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4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evaluate.py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metrics + errors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4BD79-D905-41E8-B359-D19F0F7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43A11-3AFD-46EE-AEA2-6BB211CF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5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results / figures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JSON, PNG, 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86079-967C-4A23-95E7-BE214706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2905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Документы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ВКР, приложение, презентация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берут числа из results/metrics.json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3E751-6768-4DCB-B568-D901A7A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05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Проверки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style, consistency, pytest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отдельно фиксируют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286C1-A6B8-4A03-9F9E-0C47C4B4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29000"/>
            <a:ext cx="2905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Граница эксперимента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текущая модель scenario-level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raw sensor pipeline вынесен дальше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2619A-B4F9-47A7-AFA3-B50EFBE9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19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Архитектура оставляет проверяемый след: от исходной разметки до финальных PDF и графиков.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BF1A0-A9A4-403D-B453-3B6E536D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7627E-7D2F-4E2B-969E-249FD26C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64736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6688AA-6D95-494C-A80E-9969E28D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26213-06C1-49A5-B792-86A85AA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0CCD4-A8D8-4FA8-A1F6-825BF01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BD027-4DBA-4F11-A9C3-45BD220F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BF528-D2E1-4989-AB4E-AB6A5244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Эксперимент обучен на реальных аннотациях KITTI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5835D-A8D2-4AF7-A553-47765A2B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9F6F2-2222-41DD-9C54-15E8B3C2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Сцен всего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7481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BA5BD-5E48-470B-A6F6-046B8DC1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Train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4488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7509D-4C52-423C-B476-7A8B69B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Validation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1496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0692A-21FB-4639-873B-96A267DD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Test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1497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3E6FA-C09F-4222-8E2E-C7DB276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BA033-55EC-4617-A155-3618A4C8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KITTI не содержит готовую метку critical_scene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81E8E-043B-463A-BAD2-181FB31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70D26-140C-4BC4-8F0A-37EE7109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Метка получена фиксированным правилом из реальных class, distance, occlusion и truncation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64969-D1C1-444E-9E25-B83030D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24243-AF74-440F-90FB-67CA692F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Обучены три logistic regression модели на NumPy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27E9A-44E3-4A2B-AD6F-E04B4125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84BD7-9551-47D7-ACE2-CE388692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039618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E59584-E815-45EB-BA14-ACF190CF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3621D-1EEF-4D61-A863-C4D0DA24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0E5FB-76A7-4129-80F5-394CE497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2CB57-C37F-4117-9E4E-00D59A93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D4929-E4D0-4E19-ABEE-D48E9F81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Proposed model снижает пропуски критических сцен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40037-4CA5-49C4-9D86-34566539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bce0c6806468e"/>
          <a:stretch xmlns:a="http://schemas.openxmlformats.org/drawingml/2006/main"/>
        </p:blipFill>
        <p:spPr>
          <a:xfrm xmlns:a="http://schemas.openxmlformats.org/drawingml/2006/main">
            <a:off x="571500" y="1598477"/>
            <a:ext cx="4953000" cy="2994296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af62afcb24ff3"/>
          <a:stretch xmlns:a="http://schemas.openxmlformats.org/drawingml/2006/main"/>
        </p:blipFill>
        <p:spPr>
          <a:xfrm xmlns:a="http://schemas.openxmlformats.org/drawingml/2006/main">
            <a:off x="6191250" y="1379493"/>
            <a:ext cx="4095750" cy="343226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5181B-3BAC-46BD-A898-FEF56F10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Primary: precision 0.885, recall 0.937, F1 0.911, ROC AUC 0.981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6AA6C-ED05-404A-A04E-DE40CB63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52485-AEC7-4B57-9685-25192D20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70438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013FE9-DBF7-429A-AA7B-C92002BA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C3E12-061C-4B80-8CBE-01372B5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0EF05-31BC-49A3-A4B1-BDD1DF71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DF9FC-762A-47B4-BF82-7DB9FD3E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A786D-F2EF-4A18-BA16-80C337DA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Близкие и частично видимые объекты объясняют ошибки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0E1B4-AAFA-407F-912C-12B623A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5a1cac5bb4f29"/>
          <a:stretch xmlns:a="http://schemas.openxmlformats.org/drawingml/2006/main"/>
        </p:blipFill>
        <p:spPr>
          <a:xfrm xmlns:a="http://schemas.openxmlformats.org/drawingml/2006/main">
            <a:off x="666750" y="1516171"/>
            <a:ext cx="5143500" cy="3158908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6860a6b4842c9"/>
          <a:stretch xmlns:a="http://schemas.openxmlformats.org/drawingml/2006/main"/>
        </p:blipFill>
        <p:spPr>
          <a:xfrm xmlns:a="http://schemas.openxmlformats.org/drawingml/2006/main">
            <a:off x="6286500" y="1530601"/>
            <a:ext cx="4953000" cy="313004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F4AFD-14A8-4BD6-A52F-ADC018DD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A1C78-8731-405A-806F-2D26FF30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863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FP: сцена похожа на опасную из-за близкого объекта или высокого risk prior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239F8-C766-4EF5-BE9D-307948E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6B191-C05F-4280-A79B-F617E9EC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292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FN: score ниже порога при derived critical 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12513-9395-4A6F-A07E-1557A050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72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19653-41BE-482F-9E3A-4ED98DF9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721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Главное ограничение: KITTI не содержит radar и готовую ADAS critical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280A9-E345-4C7C-91D5-032AE57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CB267-79B5-4E40-BE19-E25C6953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206568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9BA129-83C1-452D-A870-3EC7C58D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A9BD3-4A32-4D0E-A0F7-5CFDFA4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15D2A-65AE-4FB8-AA14-AE20DF64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76C9E-DA7C-4CA3-BC46-4B9C0F01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60C10-72FE-49C6-9EA5-3BAB5D66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Итог: воспроизводимый слой оценки критичности ADAS-сцен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54569-6A73-4E4A-BBDC-42A23C15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52BC2-DB53-4862-A003-E20BA560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Разработано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scenario-level методика риска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58C40-DB2E-4EDB-B2C6-D27551A1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Реализовано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код, обучение, метрики, графики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9BD5B-F7BE-40DC-8DBD-29BCB9D6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Проверено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KITTI test split и unit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1AFD9-9D62-4CCF-9A4F-84DD6B78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717B9-E1D5-4206-8D48-FD269EA7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195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Прототип пригоден как исследовательский модуль тестирования 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741C7-739E-4654-883D-E68B6683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10298-FEA3-4EED-9E14-FD63853F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767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Не является сертифицированной системой безопасности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C74AB-7B8C-4960-A262-E32A022A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77BDB-98B4-4D8D-8AE3-4617DD7E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339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Дальше: raw image/LiDAR/radar pipeline, nuScenes, CARLA, стресс-тесты, сертификация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E64BF-4FB6-4EF3-AB57-5F7B86A4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CF2E6-3447-4122-BB8C-698F7F52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0891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2026-07-07T15:16:48.3070000Z</dcterms:created>
  <dcterms:modified xsi:type="dcterms:W3CDTF">2026-07-07T15:16:48.3070000Z</dcterms:modified>
</coreProperties>
</file>