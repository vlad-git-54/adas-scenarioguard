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c1690fdf0c4df8" /><Relationship Type="http://schemas.openxmlformats.org/officeDocument/2006/relationships/extended-properties" Target="/docProps/app.xml" Id="R8807d42430604bd3" /><Relationship Type="http://schemas.openxmlformats.org/officeDocument/2006/relationships/officeDocument" Target="/ppt/presentation.xml" Id="Rcee4d844cde549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c31258162e481a"/>
  </p:sldMasterIdLst>
  <p:notesMasterIdLst>
    <p:notesMasterId xmlns:r="http://schemas.openxmlformats.org/officeDocument/2006/relationships" r:id="Rf31ddbe3b87a4c08"/>
  </p:notesMasterIdLst>
  <p:sldIdLst>
    <p:sldId xmlns:r="http://schemas.openxmlformats.org/officeDocument/2006/relationships" id="256" r:id="R8d3c74fd541d40f4"/>
    <p:sldId xmlns:r="http://schemas.openxmlformats.org/officeDocument/2006/relationships" id="257" r:id="Ra06e380a755e42e0"/>
    <p:sldId xmlns:r="http://schemas.openxmlformats.org/officeDocument/2006/relationships" id="258" r:id="R0a7b14b522ae41c8"/>
    <p:sldId xmlns:r="http://schemas.openxmlformats.org/officeDocument/2006/relationships" id="259" r:id="R109d16877d3d4fa2"/>
    <p:sldId xmlns:r="http://schemas.openxmlformats.org/officeDocument/2006/relationships" id="260" r:id="R03787181e82143c9"/>
    <p:sldId xmlns:r="http://schemas.openxmlformats.org/officeDocument/2006/relationships" id="261" r:id="R332cbb47db5b481c"/>
    <p:sldId xmlns:r="http://schemas.openxmlformats.org/officeDocument/2006/relationships" id="262" r:id="Rbe5e01bd05304399"/>
    <p:sldId xmlns:r="http://schemas.openxmlformats.org/officeDocument/2006/relationships" id="263" r:id="R7af4180d21454208"/>
    <p:sldId xmlns:r="http://schemas.openxmlformats.org/officeDocument/2006/relationships" id="264" r:id="R754dd0386ace487d"/>
    <p:sldId xmlns:r="http://schemas.openxmlformats.org/officeDocument/2006/relationships" id="265" r:id="Ra463b0f9042044c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1063e433b74206" /><Relationship Type="http://schemas.openxmlformats.org/officeDocument/2006/relationships/slideMaster" Target="/ppt/slideMasters/slideMaster1.xml" Id="R4dc31258162e481a" /><Relationship Type="http://schemas.openxmlformats.org/officeDocument/2006/relationships/notesMaster" Target="/ppt/notesMasters/notesMaster1.xml" Id="Rf31ddbe3b87a4c08" /><Relationship Type="http://schemas.openxmlformats.org/officeDocument/2006/relationships/presProps" Target="/ppt/presProps.xml" Id="R07424f5a12bf4b80" /><Relationship Type="http://schemas.openxmlformats.org/officeDocument/2006/relationships/tableStyles" Target="/ppt/tableStyles.xml" Id="R93b36af3a2b943f2" /><Relationship Type="http://schemas.openxmlformats.org/officeDocument/2006/relationships/slide" Target="/ppt/slides/slide1.xml" Id="R8d3c74fd541d40f4" /><Relationship Type="http://schemas.openxmlformats.org/officeDocument/2006/relationships/slide" Target="/ppt/slides/slide2.xml" Id="Ra06e380a755e42e0" /><Relationship Type="http://schemas.openxmlformats.org/officeDocument/2006/relationships/slide" Target="/ppt/slides/slide3.xml" Id="R0a7b14b522ae41c8" /><Relationship Type="http://schemas.openxmlformats.org/officeDocument/2006/relationships/slide" Target="/ppt/slides/slide4.xml" Id="R109d16877d3d4fa2" /><Relationship Type="http://schemas.openxmlformats.org/officeDocument/2006/relationships/slide" Target="/ppt/slides/slide5.xml" Id="R03787181e82143c9" /><Relationship Type="http://schemas.openxmlformats.org/officeDocument/2006/relationships/slide" Target="/ppt/slides/slide6.xml" Id="R332cbb47db5b481c" /><Relationship Type="http://schemas.openxmlformats.org/officeDocument/2006/relationships/slide" Target="/ppt/slides/slide7.xml" Id="Rbe5e01bd05304399" /><Relationship Type="http://schemas.openxmlformats.org/officeDocument/2006/relationships/slide" Target="/ppt/slides/slide8.xml" Id="R7af4180d21454208" /><Relationship Type="http://schemas.openxmlformats.org/officeDocument/2006/relationships/slide" Target="/ppt/slides/slide9.xml" Id="R754dd0386ace487d" /><Relationship Type="http://schemas.openxmlformats.org/officeDocument/2006/relationships/slide" Target="/ppt/slides/slide10.xml" Id="Ra463b0f9042044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ae0d94ae4a4b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b897054e784b2e" /><Relationship Type="http://schemas.openxmlformats.org/officeDocument/2006/relationships/notesMaster" Target="/ppt/notesMasters/notesMaster1.xml" Id="Rc2301316ff824d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af2f8a26754a28" /><Relationship Type="http://schemas.openxmlformats.org/officeDocument/2006/relationships/notesMaster" Target="/ppt/notesMasters/notesMaster1.xml" Id="R51ef7dca124641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6df119c5d54bd7" /><Relationship Type="http://schemas.openxmlformats.org/officeDocument/2006/relationships/notesMaster" Target="/ppt/notesMasters/notesMaster1.xml" Id="R0092ba15e29c44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f04b53d42b4d71" /><Relationship Type="http://schemas.openxmlformats.org/officeDocument/2006/relationships/notesMaster" Target="/ppt/notesMasters/notesMaster1.xml" Id="Re96e4f83bab04a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3064e6dd7b4b85" /><Relationship Type="http://schemas.openxmlformats.org/officeDocument/2006/relationships/notesMaster" Target="/ppt/notesMasters/notesMaster1.xml" Id="Rf8f2200e44f24a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2824655cb14bcc" /><Relationship Type="http://schemas.openxmlformats.org/officeDocument/2006/relationships/notesMaster" Target="/ppt/notesMasters/notesMaster1.xml" Id="R5896e502ce5c44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066d73c96c4ec7" /><Relationship Type="http://schemas.openxmlformats.org/officeDocument/2006/relationships/notesMaster" Target="/ppt/notesMasters/notesMaster1.xml" Id="R8a06be38ef5946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9d5c7bab434752" /><Relationship Type="http://schemas.openxmlformats.org/officeDocument/2006/relationships/notesMaster" Target="/ppt/notesMasters/notesMaster1.xml" Id="R8bbbadec480b4e1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9aa578e85a8476e" /><Relationship Type="http://schemas.openxmlformats.org/officeDocument/2006/relationships/notesMaster" Target="/ppt/notesMasters/notesMaster1.xml" Id="R646d7c050c9b4ed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4927432a79c4d8f" /><Relationship Type="http://schemas.openxmlformats.org/officeDocument/2006/relationships/notesMaster" Target="/ppt/notesMasters/notesMaster1.xml" Id="R8774a6b1ab704e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Начать с границы темы: работа не про полный автопилот, а про слой надежности восприятия ADAS.</a:t>
            </a:r>
          </a:p>
          <a:p xmlns:a="http://schemas.openxmlformats.org/drawingml/2006/main">
            <a:r>
              <a:t>Сказать, что итогом является воспроизводимый прототип, обученный на реальных KITTI-аннотациях.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Пояснить цену ошибки: false negative означает, что сцена опасна по разметке, но модель не выделила ее.</a:t>
            </a:r>
          </a:p>
          <a:p xmlns:a="http://schemas.openxmlformats.org/drawingml/2006/main">
            <a:r>
              <a:t>Подчеркнуть, что recall выбран важной метрикой не случайно.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Сказать, что работа осознанно не претендует на управление автомобилем.</a:t>
            </a:r>
          </a:p>
          <a:p xmlns:a="http://schemas.openxmlformats.org/drawingml/2006/main">
            <a:r>
              <a:t>Цель проверяется через код, данные и метрики, а не только через литературный обзор.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Указать источники: Heidecker по corner cases, Bijelic по погоде, Huang по sensor fusion, BEVFusion и Kumar как пример деградации.</a:t>
            </a:r>
          </a:p>
          <a:p xmlns:a="http://schemas.openxmlformats.org/drawingml/2006/main">
            <a:r>
              <a:t>Отделить чужие опубликованные числа от собственных метрик KITTI.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Пояснить, что признаки считаются из класса объекта, расстояния, lateral position, occlusion и truncation.</a:t>
            </a:r>
          </a:p>
          <a:p xmlns:a="http://schemas.openxmlformats.org/drawingml/2006/main">
            <a:r>
              <a:t>Порог выбирается на validation split, test split остается для финальной оценки.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Развести текущий воспроизводимый эксперимент и будущий более тяжелый raw sensor pipeline.</a:t>
            </a:r>
          </a:p>
          <a:p xmlns:a="http://schemas.openxmlformats.org/drawingml/2006/main">
            <a:r>
              <a:t>Показать, что результаты лежат в results, а рисунки в figures.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Честно проговорить, что целевая метка derived, потому что KITTI не размечает ADAS criticality.</a:t>
            </a:r>
          </a:p>
          <a:p xmlns:a="http://schemas.openxmlformats.org/drawingml/2006/main">
            <a:r>
              <a:t>Это реальные аннотации дорожных сцен KITTI; целевая метка получена фиксированным правилом из наблюдаемых признаков.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Пройти по основным числам. Подчеркнуть, что proposed выше baseline по recall и F1 на test split.</a:t>
            </a:r>
          </a:p>
          <a:p xmlns:a="http://schemas.openxmlformats.org/drawingml/2006/main">
            <a:r>
              <a:t>Матрица ошибок показывает 509 TP и 34 FN.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Сказать, что ошибки не скрыты: они сохранены в results/error_cases.csv.</a:t>
            </a:r>
          </a:p>
          <a:p xmlns:a="http://schemas.openxmlformats.org/drawingml/2006/main">
            <a:r>
              <a:t>Ограничение radar важно, поэтому результат не называется промышленной мультимодальной валидацией.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Закрыть доклад по задачам: методика, реализация, реальные данные, метрики, ошибки, ограничения.</a:t>
            </a:r>
          </a:p>
          <a:p xmlns:a="http://schemas.openxmlformats.org/drawingml/2006/main">
            <a:r>
              <a:t>Финальная фраза: работа дает проверяемую основу для дальнейшей промышленной валидации, но не заменяет ее.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a3530f30404a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be15c10a4c4412" /><Relationship Type="http://schemas.openxmlformats.org/officeDocument/2006/relationships/slideLayout" Target="/ppt/slideLayouts/slideLayout1.xml" Id="R47c6706ccead4d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c6706ccead4d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5381644de4581" /><Relationship Type="http://schemas.openxmlformats.org/officeDocument/2006/relationships/notesSlide" Target="/ppt/notesSlides/notesSlide1.xml" Id="R76bf852e7ba842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663094e54b4717" /><Relationship Type="http://schemas.openxmlformats.org/officeDocument/2006/relationships/notesSlide" Target="/ppt/notesSlides/notesSlide2.xml" Id="Radcd584274fa4b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b790fb8194a2a" /><Relationship Type="http://schemas.openxmlformats.org/officeDocument/2006/relationships/notesSlide" Target="/ppt/notesSlides/notesSlide3.xml" Id="Rb21e90b4681e47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0eabdccd7b4944" /><Relationship Type="http://schemas.openxmlformats.org/officeDocument/2006/relationships/image" Target="/ppt/media/image.png" Id="R3352b43cb6074a62" /><Relationship Type="http://schemas.openxmlformats.org/officeDocument/2006/relationships/notesSlide" Target="/ppt/notesSlides/notesSlide4.xml" Id="Rd002deaf207a49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d00f9c65f4864" /><Relationship Type="http://schemas.openxmlformats.org/officeDocument/2006/relationships/image" Target="/ppt/media/image2.png" Id="R504377e047334db1" /><Relationship Type="http://schemas.openxmlformats.org/officeDocument/2006/relationships/notesSlide" Target="/ppt/notesSlides/notesSlide5.xml" Id="R36d1d39aa4704e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32739549a747f7" /><Relationship Type="http://schemas.openxmlformats.org/officeDocument/2006/relationships/image" Target="/ppt/media/image3.png" Id="R9edca48b077f4d66" /><Relationship Type="http://schemas.openxmlformats.org/officeDocument/2006/relationships/image" Target="/ppt/media/image4.png" Id="Rdcfd348f0028437f" /><Relationship Type="http://schemas.openxmlformats.org/officeDocument/2006/relationships/notesSlide" Target="/ppt/notesSlides/notesSlide6.xml" Id="R5715e6e14f104f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d221725e2b47ab" /><Relationship Type="http://schemas.openxmlformats.org/officeDocument/2006/relationships/notesSlide" Target="/ppt/notesSlides/notesSlide7.xml" Id="R843899adc0b24f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1ad99671d41d6" /><Relationship Type="http://schemas.openxmlformats.org/officeDocument/2006/relationships/image" Target="/ppt/media/image5.png" Id="R20bbd78c792246a0" /><Relationship Type="http://schemas.openxmlformats.org/officeDocument/2006/relationships/image" Target="/ppt/media/image6.png" Id="R726bca1c976642d7" /><Relationship Type="http://schemas.openxmlformats.org/officeDocument/2006/relationships/notesSlide" Target="/ppt/notesSlides/notesSlide8.xml" Id="R963c3ca0942c4db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95c8f8a674acb" /><Relationship Type="http://schemas.openxmlformats.org/officeDocument/2006/relationships/image" Target="/ppt/media/image7.png" Id="Rf2ba5c52b13e4e3e" /><Relationship Type="http://schemas.openxmlformats.org/officeDocument/2006/relationships/image" Target="/ppt/media/image8.png" Id="R90a97a42b822453e" /><Relationship Type="http://schemas.openxmlformats.org/officeDocument/2006/relationships/notesSlide" Target="/ppt/notesSlides/notesSlide9.xml" Id="R82b414e2716b49a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ae226630f43ab" /><Relationship Type="http://schemas.openxmlformats.org/officeDocument/2006/relationships/notesSlide" Target="/ppt/notesSlides/notesSlide10.xml" Id="Rcb4a9ef7a45344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661015-C37C-43A8-988B-25569D19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1582400" cy="6172200"/>
          </a:xfrm>
          <a:prstGeom xmlns:a="http://schemas.openxmlformats.org/drawingml/2006/main" prst="roundRect">
            <a:avLst>
              <a:gd name="adj" fmla="val 4321"/>
            </a:avLst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F0661C-A3FF-457A-AE5B-85785F6D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238250"/>
            <a:ext cx="2000250" cy="2381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3F49D4"/>
          </a:solidFill>
          <a:ln xmlns:a="http://schemas.openxmlformats.org/drawingml/2006/main" w="9525">
            <a:solidFill>
              <a:srgbClr val="4F58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9A0F1E-E0A8-4749-BCAF-CEF588D6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114550"/>
            <a:ext cx="1162050" cy="876300"/>
          </a:xfrm>
          <a:prstGeom xmlns:a="http://schemas.openxmlformats.org/drawingml/2006/main" prst="roundRect">
            <a:avLst>
              <a:gd name="adj" fmla="val 2391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A04997-B55C-41F7-A052-AE669662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876300" cy="552450"/>
          </a:xfrm>
          <a:prstGeom xmlns:a="http://schemas.openxmlformats.org/drawingml/2006/main" prst="roundRect">
            <a:avLst>
              <a:gd name="adj" fmla="val 10345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ТГУ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15A6A-E0B8-4DFE-9975-99D2891B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8625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Томский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государственный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университет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31054B-61AC-465C-9B53-D793D91A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0050"/>
            <a:ext cx="876300" cy="552450"/>
          </a:xfrm>
          <a:prstGeom xmlns:a="http://schemas.openxmlformats.org/drawingml/2006/main" prst="roundRect">
            <a:avLst>
              <a:gd name="adj" fmla="val 10345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IDO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6E44C4-3942-471A-8BFB-F08866BA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733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Разработка методов обнаружения и обработки редких и критических сценариев в мультимодальном восприятии систем ADAS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883303-47A1-4457-B1FF-B169FCBC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BEAFE"/>
                </a:solidFill>
              </a:defRPr>
            </a:pPr>
            <a:r>
              <a:rPr sz="1800" b="0">
                <a:solidFill>
                  <a:srgbClr val="DBEAFE"/>
                </a:solidFill>
              </a:rPr>
              <a:t>для повышения безопасности в сложных погодных и дорожных условиях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460222-989A-4CE3-AAC6-A52D6509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4762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Марьяновский Владислав Андреевич</a:t>
            </a:r>
          </a:p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Группа 292405-1</a:t>
            </a:r>
          </a:p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09.04.03 Прикладная информатика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7FC421-B56E-4D58-90DB-B0E33D3F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95750"/>
            <a:ext cx="4953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НИ ТГУ · Институт дистанционного образования</a:t>
            </a:r>
          </a:p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Профиль: компьютерное зрение и нейронные сети</a:t>
            </a:r>
          </a:p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Томск ·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2FE122-A648-47FD-B6C6-E505A7BA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BEAFE"/>
                </a:solidFill>
              </a:defRPr>
            </a:pPr>
            <a:r>
              <a:rPr sz="975" b="0">
                <a:solidFill>
                  <a:srgbClr val="DBEAFE"/>
                </a:solidFill>
              </a:rPr>
              <a:t>ADAS ScenarioGuard · ВКР ·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833A05-E742-47DA-A8A8-91294165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BEAFE"/>
                </a:solidFill>
              </a:defRPr>
            </a:pPr>
            <a:r>
              <a:rPr sz="975" b="0">
                <a:solidFill>
                  <a:srgbClr val="DBEAFE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48970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BA8D0D-B6D7-430C-A69B-12981852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B966C2-9274-49C5-9288-F8874915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EB5014-34E7-4C1F-B01F-C3FF2E32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30B6"/>
                </a:solidFill>
              </a:defRPr>
            </a:pPr>
            <a:r>
              <a:rPr sz="975" b="1">
                <a:solidFill>
                  <a:srgbClr val="2730B6"/>
                </a:solidFill>
              </a:rPr>
              <a:t>НИ ТГУ · ИДО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86DE5F-67A1-47C8-BF06-C114756C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00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92A329-3FFF-4751-8CF9-51768123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Ошибка восприятия опасна именно в редких сценах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C996B4-DE3C-48E2-A938-286428B6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609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2CF"/>
          </a:solidFill>
          <a:ln xmlns:a="http://schemas.openxmlformats.org/drawingml/2006/main" w="0">
            <a:solidFill>
              <a:srgbClr val="36D2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1F3796-F607-4BDD-9917-1862FF10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30B6"/>
                </a:solidFill>
              </a:defRPr>
            </a:pPr>
            <a:r>
              <a:rPr sz="1800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C27D36-7906-4795-A366-18C227F3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19250"/>
            <a:ext cx="607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Средняя точность скрывает поведение модели в тумане, ночью, при окклюзии и усечении объекта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2ED9CC-B3E5-41CB-B89E-2EE90BC2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30B6"/>
                </a:solidFill>
              </a:defRPr>
            </a:pPr>
            <a:r>
              <a:rPr sz="1800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DB65FA-0B2B-4876-8784-588EEE52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71700"/>
            <a:ext cx="607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Для ADAS пропуск критической сцены опаснее лишней тревоги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8D625B-0AAA-461F-B8A1-F4A7F9E6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30B6"/>
                </a:solidFill>
              </a:defRPr>
            </a:pPr>
            <a:r>
              <a:rPr sz="1800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C0BE6F-37DC-48C0-923D-124D6D9A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607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Нужен слой, который оценивает надежность восприятия и риск сцены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BEACC9-37FC-4ECA-94BF-E7D2DD5B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F9731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FNR primary model</a:t>
            </a:r>
          </a:p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0.063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357397-4162-4768-B7BC-1040FED2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5275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1143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FN на test split</a:t>
            </a:r>
          </a:p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34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EC5208-0D8E-465E-8736-A2275B51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8150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Recall</a:t>
            </a:r>
          </a:p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0.937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5A04A0-0F4C-427E-AE5D-3D6734FF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ADAS ScenarioGuard · ВКР ·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2A3BFA-436E-4EC1-9754-E5A0F60D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538621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5B6BF6-4D0E-42DF-A9B1-64B2D77C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AA7661-001C-4F2F-96A6-30EE3DC8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71D86E-3C19-4C91-9423-3FDC7F32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30B6"/>
                </a:solidFill>
              </a:defRPr>
            </a:pPr>
            <a:r>
              <a:rPr sz="975" b="1">
                <a:solidFill>
                  <a:srgbClr val="2730B6"/>
                </a:solidFill>
              </a:rPr>
              <a:t>НИ ТГУ · ИДО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9D56BB-F527-492B-9E46-FC3021A8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00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E004EE-33B7-441F-8B1F-632B8A98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Объект, предмет и цель задают узкую инженерную границу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192084-384F-4A7F-8104-F9AE1E2E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609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2CF"/>
          </a:solidFill>
          <a:ln xmlns:a="http://schemas.openxmlformats.org/drawingml/2006/main" w="0">
            <a:solidFill>
              <a:srgbClr val="36D2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2B9D4B-3DDC-4F8C-A742-1D6CB4FE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3143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Объект</a:t>
            </a:r>
          </a:p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мультимодальное восприятие ADAS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994AF1-4E6D-4BAD-B861-74DC67B5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71625"/>
            <a:ext cx="3143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Предмет</a:t>
            </a:r>
          </a:p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редкие и критические сценарии, uncertainty, reliability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5E759C-90F4-449C-BC86-1EA9FCA0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71625"/>
            <a:ext cx="3143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EA58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Цель</a:t>
            </a:r>
          </a:p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методика оценки critical scene и проверка на реальных данных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245AA1-8752-4528-BE75-669EC81F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30B6"/>
                </a:solidFill>
              </a:defRPr>
            </a:pPr>
            <a:r>
              <a:rPr sz="172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CBFF6B-246C-451B-A573-21A917B2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95750"/>
            <a:ext cx="864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Разработаны признаки качества наблюдения и risk prior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989DEC-90F6-437A-8533-2331A51E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148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30B6"/>
                </a:solidFill>
              </a:defRPr>
            </a:pPr>
            <a:r>
              <a:rPr sz="172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3D8C74-B97E-4E71-9DFF-6AB6BDD5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14850"/>
            <a:ext cx="864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Обучены baseline, proposed и ablation модели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BB242F-A181-4027-B89C-3C3FC73B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339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30B6"/>
                </a:solidFill>
              </a:defRPr>
            </a:pPr>
            <a:r>
              <a:rPr sz="172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B3EE94-FA73-4564-8FC2-05CAC8FF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33950"/>
            <a:ext cx="864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Собран воспроизводимый pipeline с результатами и графиками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CBF681-2D80-4EA3-B1E0-CFEAC7B0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ADAS ScenarioGuard · ВКР ·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B3CC9D-087C-4444-B081-8003AF6B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284215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282C81-7E78-491A-AC5A-6D6B9555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D6BEC-ECAC-4AEB-9769-A07C7E04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5F7C8C-4744-4354-AF8F-B60B94F2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30B6"/>
                </a:solidFill>
              </a:defRPr>
            </a:pPr>
            <a:r>
              <a:rPr sz="975" b="1">
                <a:solidFill>
                  <a:srgbClr val="2730B6"/>
                </a:solidFill>
              </a:rPr>
              <a:t>НИ ТГУ · ИДО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6781EE-68AA-476C-94F0-2A6461B3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00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41FEE9-CCCC-4B92-AABD-276E48E5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Литература показывает, что деградация сенсоров измерима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C3A445-30CB-4091-9380-9154ABAB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609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2CF"/>
          </a:solidFill>
          <a:ln xmlns:a="http://schemas.openxmlformats.org/drawingml/2006/main" w="0">
            <a:solidFill>
              <a:srgbClr val="36D2CF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52b43cb6074a62"/>
          <a:stretch xmlns:a="http://schemas.openxmlformats.org/drawingml/2006/main"/>
        </p:blipFill>
        <p:spPr>
          <a:xfrm xmlns:a="http://schemas.openxmlformats.org/drawingml/2006/main">
            <a:off x="666750" y="1524709"/>
            <a:ext cx="5810250" cy="390383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F9CA5D-F623-4AF6-B15D-1CF33080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192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730B6"/>
                </a:solidFill>
              </a:defRPr>
            </a:pPr>
            <a:r>
              <a:rPr sz="157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4E7528-F049-4DC7-BEF9-971FDB62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619250"/>
            <a:ext cx="417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Corner cases требуют отдельного анализа вне средней точности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693F84-0BF1-4C49-A4F0-D9DB26AD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955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730B6"/>
                </a:solidFill>
              </a:defRPr>
            </a:pPr>
            <a:r>
              <a:rPr sz="157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E444E3-1F2B-43E2-AB3E-5F00973B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95500"/>
            <a:ext cx="417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Плохая погода влияет на сенсоры по-разному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0E767C-BD28-408F-BE35-95B055A1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717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730B6"/>
                </a:solidFill>
              </a:defRPr>
            </a:pPr>
            <a:r>
              <a:rPr sz="157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1FB18F-E4B7-42DE-8005-2CE29B46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571750"/>
            <a:ext cx="417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Fusion устойчивее camera-only, но LiDAR degradation все равно заметна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25F4AE-CA0F-4F4B-B620-3558C6C9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730B6"/>
                </a:solidFill>
              </a:defRPr>
            </a:pPr>
            <a:r>
              <a:rPr sz="157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394569-5125-431C-BC32-91DBE424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48000"/>
            <a:ext cx="417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График справа не является собственным экспериментом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70DFC5-A678-4701-A7FA-2B04EABA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ADAS ScenarioGuard · ВКР ·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4CECBB-2360-4FF4-A011-D44EFD08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364115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D410C2-9564-4574-B4B0-3B36EC0D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A6E2C6-2A2A-443D-A262-3F7C71A1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81B355-18B6-4737-B2D8-3CF0EF0B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30B6"/>
                </a:solidFill>
              </a:defRPr>
            </a:pPr>
            <a:r>
              <a:rPr sz="975" b="1">
                <a:solidFill>
                  <a:srgbClr val="2730B6"/>
                </a:solidFill>
              </a:rPr>
              <a:t>НИ ТГУ · ИДО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8B193E-58A8-43C2-9011-34739F11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00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B750EA-0757-421E-9621-93F17BC2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Методика превращает сцену в признаки риска и надежности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225F6D-F860-4029-B769-6363FB7D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609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2CF"/>
          </a:solidFill>
          <a:ln xmlns:a="http://schemas.openxmlformats.org/drawingml/2006/main" w="0">
            <a:solidFill>
              <a:srgbClr val="36D2CF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4377e047334db1"/>
          <a:stretch xmlns:a="http://schemas.openxmlformats.org/drawingml/2006/main"/>
        </p:blipFill>
        <p:spPr>
          <a:xfrm xmlns:a="http://schemas.openxmlformats.org/drawingml/2006/main">
            <a:off x="2747320" y="1381125"/>
            <a:ext cx="6316360" cy="2952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D38148-1BC7-4953-BA24-3B72286E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10125"/>
            <a:ext cx="2476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camera quality proxy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E1C6EF-F1E1-4490-AFE7-AE3BD5E1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10125"/>
            <a:ext cx="2476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3D geometry quality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B18F08-B861-4864-92BF-B332142C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810125"/>
            <a:ext cx="2476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EA58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uncertainty proxy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9CB2E7-4E3A-43AA-BE5F-0988E900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810125"/>
            <a:ext cx="1524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11430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risk prior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091297-B8C3-431F-A594-0E06A2BE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ADAS ScenarioGuard · ВКР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6B7F07-2B92-4E4F-AFBE-071DC8BD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6648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1DB4CA-A22F-4094-9928-FCC3ADE2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2F635-3FD5-43A9-8E92-4510D4C7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84A295-51C7-4636-B81F-D3234549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30B6"/>
                </a:solidFill>
              </a:defRPr>
            </a:pPr>
            <a:r>
              <a:rPr sz="975" b="1">
                <a:solidFill>
                  <a:srgbClr val="2730B6"/>
                </a:solidFill>
              </a:rPr>
              <a:t>НИ ТГУ · ИДО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A225A9-56ED-49F6-A1B3-FDAC9ED3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00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DE9349-A77F-4CEF-941D-A2DEC28B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Архитектура разделяет данные, обучение и оценку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8AB903-6190-4143-B3EC-356FF0C9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609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2CF"/>
          </a:solidFill>
          <a:ln xmlns:a="http://schemas.openxmlformats.org/drawingml/2006/main" w="0">
            <a:solidFill>
              <a:srgbClr val="36D2CF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dca48b077f4d66"/>
          <a:stretch xmlns:a="http://schemas.openxmlformats.org/drawingml/2006/main"/>
        </p:blipFill>
        <p:spPr>
          <a:xfrm xmlns:a="http://schemas.openxmlformats.org/drawingml/2006/main">
            <a:off x="666750" y="1957253"/>
            <a:ext cx="5334000" cy="2562494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fd348f0028437f"/>
          <a:stretch xmlns:a="http://schemas.openxmlformats.org/drawingml/2006/main"/>
        </p:blipFill>
        <p:spPr>
          <a:xfrm xmlns:a="http://schemas.openxmlformats.org/drawingml/2006/main">
            <a:off x="6286500" y="1957253"/>
            <a:ext cx="5334000" cy="2562494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AAB7FF-4D69-423D-89B5-70E3D6AC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76875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GPU RX7700XT указан как ресурс для будущего raw-sensor обучения. Текущий KITTI scenario-level эксперимент выполняется на CPU.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9E02A4-13CB-4C87-8D9A-8CF03C48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ADAS ScenarioGuard · ВКР ·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441E1A-6CBA-4F3A-8D2B-E51865CB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746643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46114C-1FC6-4FBB-AB88-DAB80D87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F66E9B-1C65-44D3-BF49-FAEDA52D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633B6-FF80-4D84-8C8A-C1ADE68B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30B6"/>
                </a:solidFill>
              </a:defRPr>
            </a:pPr>
            <a:r>
              <a:rPr sz="975" b="1">
                <a:solidFill>
                  <a:srgbClr val="2730B6"/>
                </a:solidFill>
              </a:rPr>
              <a:t>НИ ТГУ · ИДО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834B00-C253-4111-890D-DB43D7ED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00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971D1A-3D29-469A-A224-8E5C16BD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Эксперимент обучен на реальных аннотациях KITTI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3CF4B3-A301-47D0-B517-8E380F61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609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2CF"/>
          </a:solidFill>
          <a:ln xmlns:a="http://schemas.openxmlformats.org/drawingml/2006/main" w="0">
            <a:solidFill>
              <a:srgbClr val="36D2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256230-DE70-461B-B538-96361BC7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19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Сцен всего</a:t>
            </a:r>
          </a:p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7481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8EB0FC-739E-4DE4-AA54-9218050D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19250"/>
            <a:ext cx="219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Train</a:t>
            </a:r>
          </a:p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4488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DB42A4-4A88-42BB-BD9C-A354E221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219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Validation</a:t>
            </a:r>
          </a:p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1496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AD3ED4-F763-4792-B54A-0E2CAD06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19250"/>
            <a:ext cx="219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Test</a:t>
            </a:r>
          </a:p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1497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033968-89A9-4F70-AA0A-C2401B51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30B6"/>
                </a:solidFill>
              </a:defRPr>
            </a:pPr>
            <a:r>
              <a:rPr sz="172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44BBA2-4AA5-43DF-8693-B5BA182E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24250"/>
            <a:ext cx="883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KITTI не содержит готовую метку critical_scene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8C1F11-5669-44AB-A2F2-F9FCA945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30B6"/>
                </a:solidFill>
              </a:defRPr>
            </a:pPr>
            <a:r>
              <a:rPr sz="172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354452-6A12-4AD4-820E-E35AE217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19550"/>
            <a:ext cx="883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Метка получена фиксированным правилом из реальных class, distance, occlusion и truncation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084D4A-A54E-491E-87CA-CF8012CD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148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30B6"/>
                </a:solidFill>
              </a:defRPr>
            </a:pPr>
            <a:r>
              <a:rPr sz="172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F63919-392E-4948-94F9-C3EF9613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14850"/>
            <a:ext cx="883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Обучены три logistic regression модели на NumPy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3A596B-614C-44ED-B222-23E85173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ADAS ScenarioGuard · ВКР ·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AD1B1E-FFDD-4C59-BBF5-1A8AA4A7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656465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7A027D-BADA-4A64-9459-5A7938B5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62B50E-61FE-461E-AD0C-467B77F1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01F28-179F-42A0-88DA-E868EBE2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30B6"/>
                </a:solidFill>
              </a:defRPr>
            </a:pPr>
            <a:r>
              <a:rPr sz="975" b="1">
                <a:solidFill>
                  <a:srgbClr val="2730B6"/>
                </a:solidFill>
              </a:rPr>
              <a:t>НИ ТГУ · ИДО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8B883-CA40-461C-AFBB-5D137677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00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00C5A2-6EB1-4A4C-84E7-51ABDA03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Proposed model снижает пропуски критических сцен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4A89F0-398C-44AC-BDFC-3B3FE9A8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609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2CF"/>
          </a:solidFill>
          <a:ln xmlns:a="http://schemas.openxmlformats.org/drawingml/2006/main" w="0">
            <a:solidFill>
              <a:srgbClr val="36D2CF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bbd78c792246a0"/>
          <a:stretch xmlns:a="http://schemas.openxmlformats.org/drawingml/2006/main"/>
        </p:blipFill>
        <p:spPr>
          <a:xfrm xmlns:a="http://schemas.openxmlformats.org/drawingml/2006/main">
            <a:off x="571500" y="1598477"/>
            <a:ext cx="4953000" cy="2994296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6bca1c976642d7"/>
          <a:stretch xmlns:a="http://schemas.openxmlformats.org/drawingml/2006/main"/>
        </p:blipFill>
        <p:spPr>
          <a:xfrm xmlns:a="http://schemas.openxmlformats.org/drawingml/2006/main">
            <a:off x="6191250" y="1379493"/>
            <a:ext cx="4095750" cy="3432264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DA3C2B-A5DD-4079-951C-F5DAC47C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Primary: precision 0.885, recall 0.937, F1 0.911, ROC AUC 0.981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472FBF-408C-48D7-B5EE-2F47DE01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ADAS ScenarioGuard · ВКР ·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3902B5-1780-4950-AB1B-A7B7E184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491651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23C60D-87CB-4736-86AA-CFC93D2D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0820E-4339-4B7F-A443-C900164B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AB6944-C818-4CFC-8C1C-FC9BE5F2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30B6"/>
                </a:solidFill>
              </a:defRPr>
            </a:pPr>
            <a:r>
              <a:rPr sz="975" b="1">
                <a:solidFill>
                  <a:srgbClr val="2730B6"/>
                </a:solidFill>
              </a:rPr>
              <a:t>НИ ТГУ · ИДО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F989B4-B515-4927-9319-351C89BA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00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F9D580-507A-4B39-AA1A-9AB839CA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Близкие и частично видимые объекты объясняют ошибки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0F1FC9-D54F-48A3-AEFC-419F985F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609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2CF"/>
          </a:solidFill>
          <a:ln xmlns:a="http://schemas.openxmlformats.org/drawingml/2006/main" w="0">
            <a:solidFill>
              <a:srgbClr val="36D2CF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ba5c52b13e4e3e"/>
          <a:stretch xmlns:a="http://schemas.openxmlformats.org/drawingml/2006/main"/>
        </p:blipFill>
        <p:spPr>
          <a:xfrm xmlns:a="http://schemas.openxmlformats.org/drawingml/2006/main">
            <a:off x="666750" y="1516171"/>
            <a:ext cx="5143500" cy="3158908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a97a42b822453e"/>
          <a:stretch xmlns:a="http://schemas.openxmlformats.org/drawingml/2006/main"/>
        </p:blipFill>
        <p:spPr>
          <a:xfrm xmlns:a="http://schemas.openxmlformats.org/drawingml/2006/main">
            <a:off x="6286500" y="1530601"/>
            <a:ext cx="4953000" cy="3130048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F8D38F-E16E-464E-A031-B56D90AE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30B6"/>
                </a:solidFill>
              </a:defRPr>
            </a:pPr>
            <a:r>
              <a:rPr sz="1500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6530FC-DC17-4FC2-A13D-7093FC76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86375"/>
            <a:ext cx="902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FP: сцена похожа на опасную из-за близкого объекта или высокого risk prior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4A25FE-9858-4362-A361-8609BC3D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292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30B6"/>
                </a:solidFill>
              </a:defRPr>
            </a:pPr>
            <a:r>
              <a:rPr sz="1500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CD75B3-2299-47D2-9DC8-3D4095CE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629275"/>
            <a:ext cx="902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FN: score ниже порога при derived critical label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A99822-3376-43F6-B681-F4A6E488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721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30B6"/>
                </a:solidFill>
              </a:defRPr>
            </a:pPr>
            <a:r>
              <a:rPr sz="1500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E9E1C0-11B0-4EEF-A0F4-2D3CD28B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972175"/>
            <a:ext cx="902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Главное ограничение: KITTI не содержит radar и готовую ADAS critical label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F88DD0-55CC-41FC-AF2C-305FCFBF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ADAS ScenarioGuard · ВКР ·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B285AF-E2B5-4C5A-A27D-F3A39DDB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0824435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BFC507-F3DD-4C28-A6D9-A9F0755D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C209E-7E43-4627-BD9C-3CC70532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D1DD5E-C81C-4442-86DE-3A92ACF3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30B6"/>
                </a:solidFill>
              </a:defRPr>
            </a:pPr>
            <a:r>
              <a:rPr sz="975" b="1">
                <a:solidFill>
                  <a:srgbClr val="2730B6"/>
                </a:solidFill>
              </a:rPr>
              <a:t>НИ ТГУ · ИДО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79E88A-C2CC-4AB4-9024-6B57C7DC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00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E42283-3A80-49AB-A59B-0E280184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Итог: воспроизводимый слой оценки критичности ADAS-сцен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1192FA-92B3-43E8-BD37-7EC5CBFD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609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2CF"/>
          </a:solidFill>
          <a:ln xmlns:a="http://schemas.openxmlformats.org/drawingml/2006/main" w="0">
            <a:solidFill>
              <a:srgbClr val="36D2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7495C2-D783-43CD-9651-BB1227C2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2952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Разработано</a:t>
            </a:r>
          </a:p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scenario-level методика риска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CA1AD6-02BD-4713-9455-37D3561E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571625"/>
            <a:ext cx="2952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Реализовано</a:t>
            </a:r>
          </a:p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код, обучение, метрики, графики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8F1D0F-2B39-4D4B-B5DF-C4E32F13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71625"/>
            <a:ext cx="2952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EA58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Проверено</a:t>
            </a:r>
          </a:p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KITTI test split и unit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46EDD6-C107-415C-952B-F44E70E7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195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30B6"/>
                </a:solidFill>
              </a:defRPr>
            </a:pPr>
            <a:r>
              <a:rPr sz="172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2847E0-2178-4B14-A375-E4081796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619500"/>
            <a:ext cx="874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Прототип пригоден как исследовательский модуль тестирования ADAS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E33A0D-4198-421D-9F29-D0745CA0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767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30B6"/>
                </a:solidFill>
              </a:defRPr>
            </a:pPr>
            <a:r>
              <a:rPr sz="172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9AA1CF-7DC2-4717-B9A3-18C7B9DD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076700"/>
            <a:ext cx="874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Не является сертифицированной системой безопасности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713F26-6955-45D8-AF3C-63C6B325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339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30B6"/>
                </a:solidFill>
              </a:defRPr>
            </a:pPr>
            <a:r>
              <a:rPr sz="172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560D4C-CAD0-42A2-A60D-78FAEA34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533900"/>
            <a:ext cx="874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Дальше: raw image/LiDAR/radar pipeline, nuScenes, CARLA, стресс-тесты, сертификация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7F6B83-0261-4824-B951-FE67C167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ADAS ScenarioGuard · ВКР ·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0E6FA5-BCD4-4329-9E74-4914065E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443403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2026-07-07T13:12:27.5570000Z</dcterms:created>
  <dcterms:modified xsi:type="dcterms:W3CDTF">2026-07-07T13:12:27.5570000Z</dcterms:modified>
</coreProperties>
</file>