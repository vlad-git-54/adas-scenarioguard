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824c2abed549f7" /><Relationship Type="http://schemas.openxmlformats.org/officeDocument/2006/relationships/extended-properties" Target="/docProps/app.xml" Id="R92a786d202554c03" /><Relationship Type="http://schemas.openxmlformats.org/officeDocument/2006/relationships/officeDocument" Target="/ppt/presentation.xml" Id="R8b6e09d1578c4d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7c8182f339485e"/>
  </p:sldMasterIdLst>
  <p:notesMasterIdLst>
    <p:notesMasterId xmlns:r="http://schemas.openxmlformats.org/officeDocument/2006/relationships" r:id="R69b8e030752c4424"/>
  </p:notesMasterIdLst>
  <p:sldIdLst>
    <p:sldId xmlns:r="http://schemas.openxmlformats.org/officeDocument/2006/relationships" id="256" r:id="R855488cc4aeb4544"/>
    <p:sldId xmlns:r="http://schemas.openxmlformats.org/officeDocument/2006/relationships" id="257" r:id="Re708335d81224520"/>
    <p:sldId xmlns:r="http://schemas.openxmlformats.org/officeDocument/2006/relationships" id="258" r:id="R44b4ce55b5264440"/>
    <p:sldId xmlns:r="http://schemas.openxmlformats.org/officeDocument/2006/relationships" id="259" r:id="Re7a7bfedf0784349"/>
    <p:sldId xmlns:r="http://schemas.openxmlformats.org/officeDocument/2006/relationships" id="260" r:id="Re29fb0b412614d40"/>
    <p:sldId xmlns:r="http://schemas.openxmlformats.org/officeDocument/2006/relationships" id="261" r:id="R76a5c03ff7b74b04"/>
    <p:sldId xmlns:r="http://schemas.openxmlformats.org/officeDocument/2006/relationships" id="262" r:id="R2b4c3e507972454c"/>
    <p:sldId xmlns:r="http://schemas.openxmlformats.org/officeDocument/2006/relationships" id="263" r:id="R6f6b60c153964d80"/>
    <p:sldId xmlns:r="http://schemas.openxmlformats.org/officeDocument/2006/relationships" id="264" r:id="R6961545e462f40d4"/>
    <p:sldId xmlns:r="http://schemas.openxmlformats.org/officeDocument/2006/relationships" id="265" r:id="Recf23ab030c945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c28c2edfff438f" /><Relationship Type="http://schemas.openxmlformats.org/officeDocument/2006/relationships/slideMaster" Target="/ppt/slideMasters/slideMaster1.xml" Id="R3d7c8182f339485e" /><Relationship Type="http://schemas.openxmlformats.org/officeDocument/2006/relationships/notesMaster" Target="/ppt/notesMasters/notesMaster1.xml" Id="R69b8e030752c4424" /><Relationship Type="http://schemas.openxmlformats.org/officeDocument/2006/relationships/presProps" Target="/ppt/presProps.xml" Id="R768d7bdafac54094" /><Relationship Type="http://schemas.openxmlformats.org/officeDocument/2006/relationships/tableStyles" Target="/ppt/tableStyles.xml" Id="R601f843dbbfc4d38" /><Relationship Type="http://schemas.openxmlformats.org/officeDocument/2006/relationships/slide" Target="/ppt/slides/slide1.xml" Id="R855488cc4aeb4544" /><Relationship Type="http://schemas.openxmlformats.org/officeDocument/2006/relationships/slide" Target="/ppt/slides/slide2.xml" Id="Re708335d81224520" /><Relationship Type="http://schemas.openxmlformats.org/officeDocument/2006/relationships/slide" Target="/ppt/slides/slide3.xml" Id="R44b4ce55b5264440" /><Relationship Type="http://schemas.openxmlformats.org/officeDocument/2006/relationships/slide" Target="/ppt/slides/slide4.xml" Id="Re7a7bfedf0784349" /><Relationship Type="http://schemas.openxmlformats.org/officeDocument/2006/relationships/slide" Target="/ppt/slides/slide5.xml" Id="Re29fb0b412614d40" /><Relationship Type="http://schemas.openxmlformats.org/officeDocument/2006/relationships/slide" Target="/ppt/slides/slide6.xml" Id="R76a5c03ff7b74b04" /><Relationship Type="http://schemas.openxmlformats.org/officeDocument/2006/relationships/slide" Target="/ppt/slides/slide7.xml" Id="R2b4c3e507972454c" /><Relationship Type="http://schemas.openxmlformats.org/officeDocument/2006/relationships/slide" Target="/ppt/slides/slide8.xml" Id="R6f6b60c153964d80" /><Relationship Type="http://schemas.openxmlformats.org/officeDocument/2006/relationships/slide" Target="/ppt/slides/slide9.xml" Id="R6961545e462f40d4" /><Relationship Type="http://schemas.openxmlformats.org/officeDocument/2006/relationships/slide" Target="/ppt/slides/slide10.xml" Id="Recf23ab030c945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6de79e1cf14b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d02aa7f8864225" /><Relationship Type="http://schemas.openxmlformats.org/officeDocument/2006/relationships/notesMaster" Target="/ppt/notesMasters/notesMaster1.xml" Id="R328e7053e5d94f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96906240ea4e9d" /><Relationship Type="http://schemas.openxmlformats.org/officeDocument/2006/relationships/notesMaster" Target="/ppt/notesMasters/notesMaster1.xml" Id="R88f9dec5ebb14f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2f0031551948df" /><Relationship Type="http://schemas.openxmlformats.org/officeDocument/2006/relationships/notesMaster" Target="/ppt/notesMasters/notesMaster1.xml" Id="R9de382a0d98747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a7b25b50604b94" /><Relationship Type="http://schemas.openxmlformats.org/officeDocument/2006/relationships/notesMaster" Target="/ppt/notesMasters/notesMaster1.xml" Id="Rab2454507ff34d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3828a223e14067" /><Relationship Type="http://schemas.openxmlformats.org/officeDocument/2006/relationships/notesMaster" Target="/ppt/notesMasters/notesMaster1.xml" Id="R080e2de665c741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f228f2cf5e4980" /><Relationship Type="http://schemas.openxmlformats.org/officeDocument/2006/relationships/notesMaster" Target="/ppt/notesMasters/notesMaster1.xml" Id="R8c849f0238a641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2248a40baf4531" /><Relationship Type="http://schemas.openxmlformats.org/officeDocument/2006/relationships/notesMaster" Target="/ppt/notesMasters/notesMaster1.xml" Id="R1df71f84d8424a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70939dfaa94601" /><Relationship Type="http://schemas.openxmlformats.org/officeDocument/2006/relationships/notesMaster" Target="/ppt/notesMasters/notesMaster1.xml" Id="R77a15acf86bb47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258f81d8cc45e1" /><Relationship Type="http://schemas.openxmlformats.org/officeDocument/2006/relationships/notesMaster" Target="/ppt/notesMasters/notesMaster1.xml" Id="R50823d2079a540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c0e70a5ee74909" /><Relationship Type="http://schemas.openxmlformats.org/officeDocument/2006/relationships/notesMaster" Target="/ppt/notesMasters/notesMaster1.xml" Id="R15f898881f2345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Начать с границы темы: работа не про полный автопилот, а про слой надежности восприятия ADAS.</a:t>
            </a:r>
          </a:p>
          <a:p xmlns:a="http://schemas.openxmlformats.org/drawingml/2006/main">
            <a:r>
              <a:t>Сказать, что итогом является воспроизводимый прототип, обученный на реальных KITTI-аннотациях.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 цену ошибки: false negative означает, что сцена опасна по разметке, но модель не выделила ее.</a:t>
            </a:r>
          </a:p>
          <a:p xmlns:a="http://schemas.openxmlformats.org/drawingml/2006/main">
            <a:r>
              <a:t>Подчеркнуть, что recall выбран важной метрикой не случайно.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Сказать, что работа осознанно не претендует на управление автомобилем.</a:t>
            </a:r>
          </a:p>
          <a:p xmlns:a="http://schemas.openxmlformats.org/drawingml/2006/main">
            <a:r>
              <a:t>Цель проверяется через код, данные и метрики, а не только через литературный обзор.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Указать источники: Heidecker по corner cases, Bijelic по погоде, Huang по sensor fusion, BEVFusion и Kumar как пример деградации.</a:t>
            </a:r>
          </a:p>
          <a:p xmlns:a="http://schemas.openxmlformats.org/drawingml/2006/main">
            <a:r>
              <a:t>Отделить чужие опубликованные числа от собственных метрик KITTI.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Пояснить, что признаки считаются из класса объекта, расстояния, lateral position, occlusion и truncation.</a:t>
            </a:r>
          </a:p>
          <a:p xmlns:a="http://schemas.openxmlformats.org/drawingml/2006/main">
            <a:r>
              <a:t>Порог выбирается на validation split, test split остается для финальной оценки.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Развести текущий воспроизводимый эксперимент и будущий более тяжелый raw sensor pipeline.</a:t>
            </a:r>
          </a:p>
          <a:p xmlns:a="http://schemas.openxmlformats.org/drawingml/2006/main">
            <a:r>
              <a:t>GPU RX7700XT можно назвать только как ресурс будущего этапа. Текущие метрики получены на табличной модели и не зависят от GPU.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Честно проговорить, что целевая метка derived, потому что KITTI не размечает ADAS criticality.</a:t>
            </a:r>
          </a:p>
          <a:p xmlns:a="http://schemas.openxmlformats.org/drawingml/2006/main">
            <a:r>
              <a:t>Это реальные аннотации дорожных сцен KITTI. Целевая метка получена фиксированным правилом из наблюдаемых признаков.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Пройти по основным числам. Подчеркнуть, что proposed выше baseline по recall и F1 на test split.</a:t>
            </a:r>
          </a:p>
          <a:p xmlns:a="http://schemas.openxmlformats.org/drawingml/2006/main">
            <a:r>
              <a:t>Матрица ошибок показывает 509 TP и 34 FN.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Сказать, что ошибки не скрыты: они сохранены в results/error_cases.csv.</a:t>
            </a:r>
          </a:p>
          <a:p xmlns:a="http://schemas.openxmlformats.org/drawingml/2006/main">
            <a:r>
              <a:t>Ограничение radar важно, поэтому результат не называется промышленной мультимодальной валидацией.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Закрыть доклад по задачам: методика, реализация, реальные данные, метрики, ошибки, ограничения.</a:t>
            </a:r>
          </a:p>
          <a:p xmlns:a="http://schemas.openxmlformats.org/drawingml/2006/main">
            <a:r>
              <a:t>Финальная фраза: работа дает проверяемую основу для дальнейшей промышленной валидации, но не заменяет ее.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6c325447343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37d64157bf443b" /><Relationship Type="http://schemas.openxmlformats.org/officeDocument/2006/relationships/slideLayout" Target="/ppt/slideLayouts/slideLayout1.xml" Id="Rdd8679c48a4c47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8679c48a4c47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77fc142854dde" /><Relationship Type="http://schemas.openxmlformats.org/officeDocument/2006/relationships/notesSlide" Target="/ppt/notesSlides/notesSlide1.xml" Id="Rb483fab070f94d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015d0c80446b4" /><Relationship Type="http://schemas.openxmlformats.org/officeDocument/2006/relationships/notesSlide" Target="/ppt/notesSlides/notesSlide2.xml" Id="R92a585866d2542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6538e89b2427e" /><Relationship Type="http://schemas.openxmlformats.org/officeDocument/2006/relationships/notesSlide" Target="/ppt/notesSlides/notesSlide3.xml" Id="R270c48b9ef6c4a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42043c863447f" /><Relationship Type="http://schemas.openxmlformats.org/officeDocument/2006/relationships/image" Target="/ppt/media/image.png" Id="Rfbe2f453be6d4464" /><Relationship Type="http://schemas.openxmlformats.org/officeDocument/2006/relationships/notesSlide" Target="/ppt/notesSlides/notesSlide4.xml" Id="R2f356ae132384d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96b3b8888451d" /><Relationship Type="http://schemas.openxmlformats.org/officeDocument/2006/relationships/notesSlide" Target="/ppt/notesSlides/notesSlide5.xml" Id="R1aeeb5e4c8ef4e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f76fb01b8451a" /><Relationship Type="http://schemas.openxmlformats.org/officeDocument/2006/relationships/notesSlide" Target="/ppt/notesSlides/notesSlide6.xml" Id="R943f038b16e74e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6c56af0f749bc" /><Relationship Type="http://schemas.openxmlformats.org/officeDocument/2006/relationships/notesSlide" Target="/ppt/notesSlides/notesSlide7.xml" Id="Rad02aeb79efa45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721be3c56427f" /><Relationship Type="http://schemas.openxmlformats.org/officeDocument/2006/relationships/image" Target="/ppt/media/image2.png" Id="Rdf62138392b241e9" /><Relationship Type="http://schemas.openxmlformats.org/officeDocument/2006/relationships/image" Target="/ppt/media/image3.png" Id="Rca6019f1e38a4f0c" /><Relationship Type="http://schemas.openxmlformats.org/officeDocument/2006/relationships/notesSlide" Target="/ppt/notesSlides/notesSlide8.xml" Id="R825394e6490e42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76f8590454c92" /><Relationship Type="http://schemas.openxmlformats.org/officeDocument/2006/relationships/image" Target="/ppt/media/image4.png" Id="Rcbf91f35b7df4675" /><Relationship Type="http://schemas.openxmlformats.org/officeDocument/2006/relationships/image" Target="/ppt/media/image5.png" Id="Re29b1a244d074dac" /><Relationship Type="http://schemas.openxmlformats.org/officeDocument/2006/relationships/notesSlide" Target="/ppt/notesSlides/notesSlide9.xml" Id="R16aba8ae67fc40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9cd94f4cf4617" /><Relationship Type="http://schemas.openxmlformats.org/officeDocument/2006/relationships/notesSlide" Target="/ppt/notesSlides/notesSlide10.xml" Id="R89c555d090024d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9E9FF5-D025-4640-8BE8-E7550C81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1582400" cy="6172200"/>
          </a:xfrm>
          <a:prstGeom xmlns:a="http://schemas.openxmlformats.org/drawingml/2006/main" prst="roundRect">
            <a:avLst>
              <a:gd name="adj" fmla="val 4321"/>
            </a:avLst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E8951-F8A6-42EA-B2CE-DBE21B40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000250" cy="2381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3F49D4"/>
          </a:solidFill>
          <a:ln xmlns:a="http://schemas.openxmlformats.org/drawingml/2006/main" w="9525">
            <a:solidFill>
              <a:srgbClr val="4F58D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59129-16DB-4518-B7D6-5E29DE40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14550"/>
            <a:ext cx="1162050" cy="876300"/>
          </a:xfrm>
          <a:prstGeom xmlns:a="http://schemas.openxmlformats.org/drawingml/2006/main" prst="roundRect">
            <a:avLst>
              <a:gd name="adj" fmla="val 2391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265A3-849A-4B0B-8927-8B773CD3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876300" cy="55245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ТГУ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AD7E5-6E4C-4665-AA46-AA325DB1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862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Томский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государственный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университет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0FA08-6DE5-48F5-8C10-FDA18195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0050"/>
            <a:ext cx="876300" cy="552450"/>
          </a:xfrm>
          <a:prstGeom xmlns:a="http://schemas.openxmlformats.org/drawingml/2006/main" prst="roundRect">
            <a:avLst>
              <a:gd name="adj" fmla="val 1034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A504E-92C8-465C-9236-E4606582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733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Разработка методов обнаружения и обработки редких и критических сценариев в мультимодальном восприятии систем 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EAF21-2820-4DF6-A1D2-ECF3645D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BEAFE"/>
                </a:solidFill>
              </a:defRPr>
            </a:pPr>
            <a:r>
              <a:rPr sz="1800" b="0">
                <a:solidFill>
                  <a:srgbClr val="DBEAFE"/>
                </a:solidFill>
              </a:rPr>
              <a:t>для повышения безопасности в сложных погодных и дорожных условиях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9A8DB-FC5F-47A5-AE7B-9273D623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Марьяновский Владислав Андреевич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Группа 292405-1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09.04.03 Прикладная информатика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B7559-86EF-4C95-AFDF-684D9B95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НИ ТГУ · Институт дистанционного образования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Профиль: компьютерное зрение и нейронные сети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Томск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CF0A8-1B46-496E-9B5A-91935D20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BEAFE"/>
                </a:solidFill>
              </a:defRPr>
            </a:pPr>
            <a:r>
              <a:rPr sz="975" b="0">
                <a:solidFill>
                  <a:srgbClr val="DBEAFE"/>
                </a:solidFill>
              </a:rPr>
              <a:t>ADAS ScenarioGuard · ВКР ·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447FA-AC45-4C56-9AF8-6AAE54FB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</a:defRPr>
            </a:pPr>
            <a:r>
              <a:rPr sz="975" b="0">
                <a:solidFill>
                  <a:srgbClr val="DBEAFE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90466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471A24-FBC7-4EF5-85A8-7B6FE07D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F6EEF-6B21-451B-A79F-58C444A2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AFAE2-BA4A-4039-B840-5581A2C8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9C9F4-6C21-4B38-A5CE-8A27C64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AF526-93C5-4C22-82B7-DF243CB0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Ошибка восприятия опасна именно в редких сценах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343BC-EFE9-48FF-A562-7EB35A98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20CF0-391F-438D-B567-DC5CE746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002C6-326E-4D60-82B0-DE367750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1925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Средняя точность скрывает поведение модели в тумане, ночью, при окклюзии и усечении объекта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798C4-D86A-438F-9ACA-E80E4D91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8EC4B-2CAD-41BF-900B-7B68C6CB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Для ADAS пропуск критической сцены опаснее лишней тревоги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D54FB-7FD6-4B61-97C5-58D669B1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30B6"/>
                </a:solidFill>
              </a:defRPr>
            </a:pPr>
            <a:r>
              <a:rPr sz="18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E9F27-8ABD-462D-BC5A-59234FDA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607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Нужен слой, который оценивает надежность восприятия и риск сцены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F6B97-6408-4CE7-8C98-4119C997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F9731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FNR primary model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0.063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62344-4424-42A7-89B9-60269D6C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FN на test split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34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2E5B8-E7DF-43A3-979A-162F66F4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Recall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0.937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8CCCB-7AD4-4F81-BD49-D22E8B0C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71C02-A629-412E-99D0-1E47797D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9243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C47C82-DE8A-4EC2-830A-6370987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66002-650B-4172-93FC-2C9CC11E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7A522-FACC-41F5-AE4D-9DF8EC26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EF8EB-647D-4E3F-AA7A-1FC3A322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81343-E18B-4F5E-9A63-6ACBC05D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Объект, предмет и цель задают узкую инженерную границу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99AF2-0332-4B1E-859A-207BA68B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19AB2-0B03-4982-B327-7156F869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Объект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мультимодальное восприятие 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40653-D5BD-4969-BC48-8FAA0269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Предмет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редкие и критические сценарии, uncertainty,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3CC25E-97F5-4F03-A291-778D9F25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Цель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методика оценки critical scene и проверка на реальных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9D939-0A4B-4CDC-AC8D-35F6EFC3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77623-B5F8-44C9-A7E4-8477A711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Разработаны признаки качества наблюдения и risk prior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88ECC-F2FB-4567-AF77-F16E6900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4C5D9-6282-4178-9773-AD243D43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Обучены baseline, proposed и ablation модели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0EB9A-84C0-4AE5-BB40-2BF7B72F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8983D-1C64-4E4B-BE00-BCD41414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33950"/>
            <a:ext cx="864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Собран воспроизводимый pipeline с результатами и графиками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9733D-B4FB-4DCB-BA55-F373B598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AF857-8ABF-4709-B13D-B356D2BF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0351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6EEF89-8C13-42B1-8C73-F2171B60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D2FAA-CF75-412B-9868-7EE4E6B8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7B916-D31C-4880-AB47-0CB69631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68271-49A4-41E1-8146-03F61F2E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E5DCA-A6D4-4FC6-9A70-9F2D9D57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Литература показывает, что деградация сенсоров измерима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7D214-CB76-45E1-AB21-2C1CDDC5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2f453be6d4464"/>
          <a:stretch xmlns:a="http://schemas.openxmlformats.org/drawingml/2006/main"/>
        </p:blipFill>
        <p:spPr>
          <a:xfrm xmlns:a="http://schemas.openxmlformats.org/drawingml/2006/main">
            <a:off x="666750" y="1524709"/>
            <a:ext cx="5810250" cy="39038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C60A9-CAAD-4FCA-B8D9-C875C9FC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547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По данным Kumar et al., 2025. Не является собственным экспериментом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4DF52-9C53-4B30-8CD8-AAF9E833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D7F36-DDB1-485B-84EE-9AEBC811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Corner cases требуют отдельного анализа вне средней точности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7E821-ADC3-4DA1-8103-BC11C6C6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A5D7D-A86D-4071-91BE-35717D60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Плохая погода влияет на сенсоры по-разному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035E2-2A99-472D-B474-D0F40915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13E4A-2FFB-4040-9DF4-BD7C6EDB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Fusion устойчивее camera-only, но LiDAR degradation все равно заметна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033B9-2B63-4B7B-80C5-9831CE79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730B6"/>
                </a:solidFill>
              </a:defRPr>
            </a:pPr>
            <a:r>
              <a:rPr sz="157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4595F-7746-45B4-A24C-9C48E563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График справа не является собственным экспериментом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F92AA-5CD5-47D1-A0C2-99DDF9CC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6F7E6-8D6C-462E-BD37-D6BE9E2E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1010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403CAF-462D-4256-A372-0FB229DF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4DD4C-61A8-486F-81D6-6E449C67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4124A-5EBE-49B3-A0A0-59BFB39E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C8ED6-584B-4388-8446-63C366AF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F49D9-3599-4B50-86A3-0EFF6535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Методика связывает наблюдение, надежность и риск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53C24-E185-4BCF-B1C1-536F8C5F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2103F-7F44-40DF-B09A-B42E668F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952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Входные наблюдения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class, bbox, 3D position,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occlusion, truncation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E85BC-8B32-4583-AF6C-5379DB6A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CC24C-4F3C-4D88-8327-79372E23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811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Признаки качества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camera proxy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geometry proxy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7C58B-49CC-483E-8943-A2110A3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24C01-3D23-4F90-99BF-25E6C10F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811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Reliability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качество наблюдения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как вход модели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DAF3C-9C00-43FA-B1F8-8784273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43A38-BEE2-40A3-98D2-A691EE4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166687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Uncertainty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0,55 camera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0,45 geometry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6AF66-F374-4CF2-8E50-87B7D057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7832C-53A8-4A64-A0AE-EE57DB55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81150"/>
            <a:ext cx="1571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Risk score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class, distance,</a:t>
            </a:r>
          </a:p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lateral, occlusion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88C96E-4475-4A7F-9CD5-D5D26044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4095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Фиксированное правило critical_scene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уязвимый участник впереди, близкий транспорт, сильная окклюзия или truncation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6D0152-1980-4F64-917F-3B98F4DE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33750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Logistic regression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baseline, proposed, ablation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порог выбирается на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8CEAC-0496-411F-A145-2A73EF64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23336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Итог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critical scene или OK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ошибки сохраняются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70A7D-4752-4072-8436-21E18FB1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33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1D4A0-7957-477D-8D1F-78EF93A8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6A107-126F-4BA9-B129-461E9FBE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9587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Обучение и метрики строятся на реальных аннотациях KITTI. JSON demo не влияет на test split.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58C82-E64E-4DE2-9C62-485ECE6D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DE78ED-1E94-443D-A773-288A1D40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48855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F98668-5168-47BA-8CE2-5684E3FF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C9A90-C752-43EF-BB8A-77CE2D13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0834B-CE24-48D1-8709-1F0AC652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27AC2-B251-4628-8826-38212BFC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32E08-2859-4504-B083-B0B7025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Архитектура разделяет подготовку, обучение и отчетность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04E02-862A-47A6-A8C9-FBE3C609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D8B9C-DBE9-45BF-8AE3-F4CFBD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1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prepare_data.py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KITTI label_2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4F943-8092-4DBD-B354-94BDED12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C3E6E-B2B8-45CF-8F0F-875D6DE8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2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scenario table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features +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67761-E2B2-4EDB-AD11-481317A3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CC317-A3FE-4E86-9DA9-44FB6CA3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3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train.py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model weights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C9A04-7028-48D5-AB70-5772679A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37998-CE00-43A2-B128-40BA7225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4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evaluate.py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metrics + errors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3450FF-A48D-4ED2-82F6-68323C3E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8573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34155"/>
                </a:solidFill>
              </a:defRPr>
            </a:pPr>
            <a:r>
              <a:rPr sz="2100" b="1">
                <a:solidFill>
                  <a:srgbClr val="33415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30576-F018-430F-856B-55C6BEB4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476375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5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results / figures</a:t>
            </a:r>
          </a:p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JSON, PNG, 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2AE36-F37E-4C52-9233-9D46879C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2905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Документы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ВКР, приложение, презентация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берут числа из results/metrics.json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3517A-4A30-475E-9604-FDC82CAF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05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Проверки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style, consistency, pytest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отдельно фиксируют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1716F-22A7-4ADA-9FC9-F3B5BE03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29000"/>
            <a:ext cx="2905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Граница эксперимента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текущая модель scenario-level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raw sensor pipeline вынесен дальше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5102E-7377-4494-AB20-214F375D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197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Архитектура оставляет проверяемый след: от исходной разметки до финальных PDF и графиков.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9E50C-2078-44D7-A471-1D2310C2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EC88A-33D6-4E52-A86C-7A613C69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4898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4CC19B-C902-4B5C-9116-1DE414B6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1661F-B308-4E18-9AF4-06135E0E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6854C-C1DC-4376-A6A5-9C4A8D4F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A0BBF-4757-4B0A-A166-EED9CC34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818D83-3346-4772-93D8-96AF5752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Эксперимент обучен на реальных аннотациях KITTI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C1365-00FD-4C5D-8509-4190755C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38926-9E62-45DB-B43E-84F5E064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Сцен всего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7481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EF802-7245-4C27-89B6-9CD6F42C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Train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4488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7BC41-A210-4CCD-9E62-C44E04A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Validation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1496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00C0C-E3CE-42AB-88B2-9DBE5675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Test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1497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A3D73-877A-48B0-8195-D1313CC8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3B5B6-A269-4533-9AB3-80430EAA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KITTI не содержит готовую метку critical_scene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B8D23-93CB-42B4-A7EC-C066DCA0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AB3F8-6F81-4518-BA32-A9356285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Метка получена фиксированным правилом из реальных class, distance, occlusion и truncation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2DCAA-29D5-4385-8D21-3F09DEB6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7E53C-CEA2-4158-B903-703E85D9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883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Обучены три logistic regression модели на NumPy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3F8A5-DAD9-4FB2-B30B-FCDB6304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C6D97-9292-4CAC-BA43-1878664B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902893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EB358-1F74-4F4C-AD1C-6FC4D764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9040D-5E5A-4D97-A966-377FD171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3B3D0-0E0F-45B8-A4A6-E9524D44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F820B-2190-4856-AD1B-C889D961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6EA04-BB58-4A2A-B253-6557D9B0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Proposed model снижает пропуски критических сцен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8D708-28E4-4786-A8A2-AD8359F3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2138392b241e9"/>
          <a:stretch xmlns:a="http://schemas.openxmlformats.org/drawingml/2006/main"/>
        </p:blipFill>
        <p:spPr>
          <a:xfrm xmlns:a="http://schemas.openxmlformats.org/drawingml/2006/main">
            <a:off x="571500" y="1598477"/>
            <a:ext cx="4953000" cy="2994296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019f1e38a4f0c"/>
          <a:stretch xmlns:a="http://schemas.openxmlformats.org/drawingml/2006/main"/>
        </p:blipFill>
        <p:spPr>
          <a:xfrm xmlns:a="http://schemas.openxmlformats.org/drawingml/2006/main">
            <a:off x="6191250" y="1379493"/>
            <a:ext cx="4095750" cy="343226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89335-81BC-43C7-8626-B8B1B7D1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Primary: precision 0.885, recall 0.937, F1 0.911, ROC AUC 0.981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DCEAC-A1EF-4303-8F04-C9F8694C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50857-7320-4F74-85FA-5518EC4D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95449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AC0B2A-F00F-420E-B42A-AF411391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CD395-4F7A-4D21-B716-585267FB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00BAE-3312-447C-B6CD-D260D13B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F8371-390C-4AD2-91A5-FCF5B0EA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EF048-E878-4A8E-B3A5-CAA44D21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Близкие и частично видимые объекты объясняют ошибки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047A3-8193-409C-996B-81804951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91f35b7df4675"/>
          <a:stretch xmlns:a="http://schemas.openxmlformats.org/drawingml/2006/main"/>
        </p:blipFill>
        <p:spPr>
          <a:xfrm xmlns:a="http://schemas.openxmlformats.org/drawingml/2006/main">
            <a:off x="666750" y="1516171"/>
            <a:ext cx="5143500" cy="3158908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b1a244d074dac"/>
          <a:stretch xmlns:a="http://schemas.openxmlformats.org/drawingml/2006/main"/>
        </p:blipFill>
        <p:spPr>
          <a:xfrm xmlns:a="http://schemas.openxmlformats.org/drawingml/2006/main">
            <a:off x="6286500" y="1530601"/>
            <a:ext cx="4953000" cy="313004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8C63D-0525-477E-AEE5-2606AD0C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82E91-CE02-47D2-9A17-334A4E39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863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FP: сцена похожа на опасную из-за близкого объекта или высокого risk prior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976F9-BC47-4677-9690-9A72BFE2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EA530-CAB5-49A1-8C11-0B351E0D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292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FN: score ниже порога при derived critical label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391E4A-0DE6-4D0F-BC41-0CA2D6AA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721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30B6"/>
                </a:solidFill>
              </a:defRPr>
            </a:pPr>
            <a:r>
              <a:rPr sz="1500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EC7AA-752B-4A96-B10A-AA45706A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972175"/>
            <a:ext cx="902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Главное ограничение: KITTI не содержит radar и готовую ADAS critical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DA729-01E9-4BCA-96C6-310F7DE7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7ACC9-B9B2-4ACA-A1A8-BF0AF824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304713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A01E50-18A9-4457-B007-8122BDC2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A575D-BAD1-467F-A1C9-BF096CE3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0B6"/>
          </a:solidFill>
          <a:ln xmlns:a="http://schemas.openxmlformats.org/drawingml/2006/main" w="0">
            <a:solidFill>
              <a:srgbClr val="2730B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D8A5E-C8E5-4EBC-9120-05CF6F20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30B6"/>
                </a:solidFill>
              </a:defRPr>
            </a:pPr>
            <a:r>
              <a:rPr sz="975" b="1">
                <a:solidFill>
                  <a:srgbClr val="2730B6"/>
                </a:solidFill>
              </a:rPr>
              <a:t>НИ ТГУ · ИДО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D3436-AB90-403D-BE07-F48BFF7B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00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D7361-AB41-4128-85B2-C6BC80CA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F172A"/>
                </a:solidFill>
              </a:defRPr>
            </a:pPr>
            <a:r>
              <a:rPr sz="2625" b="1">
                <a:solidFill>
                  <a:srgbClr val="0F172A"/>
                </a:solidFill>
              </a:rPr>
              <a:t>Итог: воспроизводимый слой оценки критичности ADAS-сцен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7ADAF-485A-4AE4-9974-08BB678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0600"/>
            <a:ext cx="609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2CF"/>
          </a:solidFill>
          <a:ln xmlns:a="http://schemas.openxmlformats.org/drawingml/2006/main" w="0">
            <a:solidFill>
              <a:srgbClr val="36D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70258-5208-4EE5-B8C6-18130665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Разработано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scenario-level методика риска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878D6-E5E6-4C70-AAA2-62DE72D7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Реализовано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код, обучение, метрики, графики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2D86D-7B9E-44B8-952E-F43A660F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71625"/>
            <a:ext cx="2952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EA58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Проверено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KITTI test split и unit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7F567-AB6A-4E00-A44E-482ACA92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9F228-C7A0-4359-9411-F71395B5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6195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Прототип пригоден как исследовательский модуль тестирования 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CF343-BD9F-4F3C-BE93-EC2C8516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767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65983-7FBA-474A-B6C6-F05DAEC6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0767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Не является сертифицированной системой безопасности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166FCC-1FBC-49D0-9F10-92793672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339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30B6"/>
                </a:solidFill>
              </a:defRPr>
            </a:pPr>
            <a:r>
              <a:rPr sz="1725" b="1">
                <a:solidFill>
                  <a:srgbClr val="2730B6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97FE3-E830-4792-ACCE-81D74F63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533900"/>
            <a:ext cx="874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Дальше: raw image/LiDAR/radar pipeline, nuScenes, CARLA, стресс-тесты, сертификация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4145D-6018-41AF-99E1-F0AA166D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ADAS ScenarioGuard · ВКР ·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85475-8040-4926-B5E1-C976C1A1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2730B6"/>
                </a:solidFill>
              </a:defRPr>
            </a:pPr>
            <a:r>
              <a:rPr sz="975" b="0">
                <a:solidFill>
                  <a:srgbClr val="2730B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8610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2026-07-07T14:20:04.0590000Z</dcterms:created>
  <dcterms:modified xsi:type="dcterms:W3CDTF">2026-07-07T14:20:04.0590000Z</dcterms:modified>
</coreProperties>
</file>